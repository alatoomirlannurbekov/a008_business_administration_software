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y="5143500" cx="9144000"/>
  <p:notesSz cx="6858000" cy="9144000"/>
  <p:embeddedFontLst>
    <p:embeddedFont>
      <p:font typeface="DM Sans Medium"/>
      <p:regular r:id="rId45"/>
      <p:bold r:id="rId46"/>
      <p:italic r:id="rId47"/>
      <p:boldItalic r:id="rId48"/>
    </p:embeddedFont>
    <p:embeddedFont>
      <p:font typeface="Caveat"/>
      <p:regular r:id="rId49"/>
      <p:bold r:id="rId50"/>
    </p:embeddedFont>
    <p:embeddedFont>
      <p:font typeface="Montserrat"/>
      <p:regular r:id="rId51"/>
      <p:bold r:id="rId52"/>
      <p:italic r:id="rId53"/>
      <p:boldItalic r:id="rId54"/>
    </p:embeddedFont>
    <p:embeddedFont>
      <p:font typeface="Merriweather"/>
      <p:regular r:id="rId55"/>
      <p:bold r:id="rId56"/>
      <p:italic r:id="rId57"/>
      <p:boldItalic r:id="rId58"/>
    </p:embeddedFont>
    <p:embeddedFont>
      <p:font typeface="DM Sans"/>
      <p:regular r:id="rId59"/>
      <p:bold r:id="rId60"/>
      <p:italic r:id="rId61"/>
      <p:boldItalic r:id="rId62"/>
    </p:embeddedFont>
    <p:embeddedFont>
      <p:font typeface="Open Sans Light"/>
      <p:regular r:id="rId63"/>
      <p:bold r:id="rId64"/>
      <p:italic r:id="rId65"/>
      <p:boldItalic r:id="rId66"/>
    </p:embeddedFont>
    <p:embeddedFont>
      <p:font typeface="Open Sans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font" Target="fonts/DMSansMedium-bold.fntdata"/><Relationship Id="rId45" Type="http://schemas.openxmlformats.org/officeDocument/2006/relationships/font" Target="fonts/DMSans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DMSansMedium-boldItalic.fntdata"/><Relationship Id="rId47" Type="http://schemas.openxmlformats.org/officeDocument/2006/relationships/font" Target="fonts/DMSansMedium-italic.fntdata"/><Relationship Id="rId49" Type="http://schemas.openxmlformats.org/officeDocument/2006/relationships/font" Target="fonts/Cavea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0" Type="http://schemas.openxmlformats.org/officeDocument/2006/relationships/font" Target="fonts/OpenSans-bold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DMSans-boldItalic.fntdata"/><Relationship Id="rId61" Type="http://schemas.openxmlformats.org/officeDocument/2006/relationships/font" Target="fonts/DMSans-italic.fntdata"/><Relationship Id="rId20" Type="http://schemas.openxmlformats.org/officeDocument/2006/relationships/slide" Target="slides/slide14.xml"/><Relationship Id="rId64" Type="http://schemas.openxmlformats.org/officeDocument/2006/relationships/font" Target="fonts/OpenSansLight-bold.fntdata"/><Relationship Id="rId63" Type="http://schemas.openxmlformats.org/officeDocument/2006/relationships/font" Target="fonts/OpenSansLight-regular.fntdata"/><Relationship Id="rId22" Type="http://schemas.openxmlformats.org/officeDocument/2006/relationships/slide" Target="slides/slide16.xml"/><Relationship Id="rId66" Type="http://schemas.openxmlformats.org/officeDocument/2006/relationships/font" Target="fonts/OpenSansLight-boldItalic.fntdata"/><Relationship Id="rId21" Type="http://schemas.openxmlformats.org/officeDocument/2006/relationships/slide" Target="slides/slide15.xml"/><Relationship Id="rId65" Type="http://schemas.openxmlformats.org/officeDocument/2006/relationships/font" Target="fonts/OpenSansLight-italic.fntdata"/><Relationship Id="rId24" Type="http://schemas.openxmlformats.org/officeDocument/2006/relationships/slide" Target="slides/slide18.xml"/><Relationship Id="rId68" Type="http://schemas.openxmlformats.org/officeDocument/2006/relationships/font" Target="fonts/OpenSans-bold.fntdata"/><Relationship Id="rId23" Type="http://schemas.openxmlformats.org/officeDocument/2006/relationships/slide" Target="slides/slide17.xml"/><Relationship Id="rId67" Type="http://schemas.openxmlformats.org/officeDocument/2006/relationships/font" Target="fonts/OpenSans-regular.fntdata"/><Relationship Id="rId60" Type="http://schemas.openxmlformats.org/officeDocument/2006/relationships/font" Target="fonts/DMSans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pen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Montserrat-regular.fntdata"/><Relationship Id="rId50" Type="http://schemas.openxmlformats.org/officeDocument/2006/relationships/font" Target="fonts/Caveat-bold.fntdata"/><Relationship Id="rId53" Type="http://schemas.openxmlformats.org/officeDocument/2006/relationships/font" Target="fonts/Montserrat-italic.fntdata"/><Relationship Id="rId52" Type="http://schemas.openxmlformats.org/officeDocument/2006/relationships/font" Target="fonts/Montserrat-bold.fntdata"/><Relationship Id="rId11" Type="http://schemas.openxmlformats.org/officeDocument/2006/relationships/slide" Target="slides/slide5.xml"/><Relationship Id="rId55" Type="http://schemas.openxmlformats.org/officeDocument/2006/relationships/font" Target="fonts/Merriweather-regular.fntdata"/><Relationship Id="rId10" Type="http://schemas.openxmlformats.org/officeDocument/2006/relationships/slide" Target="slides/slide4.xml"/><Relationship Id="rId54" Type="http://schemas.openxmlformats.org/officeDocument/2006/relationships/font" Target="fonts/Montserrat-boldItalic.fntdata"/><Relationship Id="rId13" Type="http://schemas.openxmlformats.org/officeDocument/2006/relationships/slide" Target="slides/slide7.xml"/><Relationship Id="rId57" Type="http://schemas.openxmlformats.org/officeDocument/2006/relationships/font" Target="fonts/Merriweather-italic.fntdata"/><Relationship Id="rId12" Type="http://schemas.openxmlformats.org/officeDocument/2006/relationships/slide" Target="slides/slide6.xml"/><Relationship Id="rId56" Type="http://schemas.openxmlformats.org/officeDocument/2006/relationships/font" Target="fonts/Merriweather-bold.fntdata"/><Relationship Id="rId15" Type="http://schemas.openxmlformats.org/officeDocument/2006/relationships/slide" Target="slides/slide9.xml"/><Relationship Id="rId59" Type="http://schemas.openxmlformats.org/officeDocument/2006/relationships/font" Target="fonts/DMSans-regular.fntdata"/><Relationship Id="rId14" Type="http://schemas.openxmlformats.org/officeDocument/2006/relationships/slide" Target="slides/slide8.xml"/><Relationship Id="rId58" Type="http://schemas.openxmlformats.org/officeDocument/2006/relationships/font" Target="fonts/Merriweather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9476a149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9476a14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e11693f5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be11693f5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6d352fc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c6d352fc0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6d352fdb7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c6d352fdb7_0_2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6d352fdb7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c6d352fdb7_0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c6d352fdb7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c6d352fdb7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c6d352fdb7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c6d352fdb7_0_1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6d352fdb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c6d352fdb7_0_1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6d352fdb7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c6d352fdb7_0_1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c6d352fdb7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c6d352fdb7_0_1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c6d352fdb7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c6d352fdb7_0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c6d352fdb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c6d352fdb7_0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6d352fdb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c6d352fdb7_0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c6d352fdb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c6d352fdb7_0_1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6d352fdb7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g3c6d352fdb7_0_1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c6d352fdb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c6d352fdb7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6d352fdb7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3c6d352fdb7_0_1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c6d352fdb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c6d352fdb7_0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c6d352fdb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c6d352fdb7_0_1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c6d352fdb7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c6d352fdb7_0_1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c6d352fdb7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c6d352fdb7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c6d352fdb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c6d352fdb7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6d352fdb7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c6d352fdb7_0_3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6d352fdb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c6d352fdb7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c6d352fdb7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g3c6d352fdb7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6d352fdb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3c6d352fdb7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c6d352fdb7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c6d352fdb7_0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6d352fdb7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g3c6d352fdb7_0_3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c6d352fdb7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c6d352fdb7_0_3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c6d352fdb7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g3c6d352fdb7_0_3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c6d352fdb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3c6d352fdb7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c6d352fdb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c6d352fdb7_0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c6d352fdb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g3c6d352fdb7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c6d352fdb7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g3c6d352fdb7_0_3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6d352fdb7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c6d352fdb7_0_4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c6d352fdb7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g3c6d352fdb7_0_6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6d352fdb7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g3c6d352fdb7_0_6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be11693f55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g3be11693f55_0_4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ctrTitle"/>
          </p:nvPr>
        </p:nvSpPr>
        <p:spPr>
          <a:xfrm>
            <a:off x="284400" y="2325500"/>
            <a:ext cx="8575200" cy="11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latin typeface="Verdana"/>
                <a:ea typeface="Verdana"/>
                <a:cs typeface="Verdana"/>
                <a:sym typeface="Verdana"/>
              </a:rPr>
              <a:t>BUSINESS ADMINISTRATION </a:t>
            </a:r>
            <a:endParaRPr sz="39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SOFTWARE</a:t>
            </a:r>
            <a:endParaRPr sz="3800">
              <a:solidFill>
                <a:srgbClr val="9900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3" name="Google Shape;263;p44" title="College_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47238" y="304225"/>
            <a:ext cx="1249524" cy="124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4"/>
          <p:cNvSpPr txBox="1"/>
          <p:nvPr/>
        </p:nvSpPr>
        <p:spPr>
          <a:xfrm>
            <a:off x="2514600" y="1613596"/>
            <a:ext cx="4114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0B981"/>
                </a:solidFill>
                <a:latin typeface="Open Sans"/>
                <a:ea typeface="Open Sans"/>
                <a:cs typeface="Open Sans"/>
                <a:sym typeface="Open Sans"/>
              </a:rPr>
              <a:t>ALA-TOO INTERNATIONAL UNIVERSITY</a:t>
            </a:r>
            <a:endParaRPr/>
          </a:p>
        </p:txBody>
      </p:sp>
      <p:cxnSp>
        <p:nvCxnSpPr>
          <p:cNvPr id="265" name="Google Shape;265;p44"/>
          <p:cNvCxnSpPr/>
          <p:nvPr/>
        </p:nvCxnSpPr>
        <p:spPr>
          <a:xfrm flipH="1" rot="10800000">
            <a:off x="2336050" y="2115500"/>
            <a:ext cx="4612200" cy="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44"/>
          <p:cNvCxnSpPr/>
          <p:nvPr/>
        </p:nvCxnSpPr>
        <p:spPr>
          <a:xfrm>
            <a:off x="2994450" y="3630105"/>
            <a:ext cx="3155100" cy="8100"/>
          </a:xfrm>
          <a:prstGeom prst="straightConnector1">
            <a:avLst/>
          </a:prstGeom>
          <a:noFill/>
          <a:ln cap="flat" cmpd="sng" w="38100">
            <a:solidFill>
              <a:srgbClr val="A700F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44"/>
          <p:cNvSpPr txBox="1"/>
          <p:nvPr/>
        </p:nvSpPr>
        <p:spPr>
          <a:xfrm>
            <a:off x="3175300" y="3925408"/>
            <a:ext cx="2933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Spring Semeste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</a:t>
            </a:r>
            <a:r>
              <a:rPr b="0" i="0" lang="en" sz="1800" u="none" cap="none" strike="noStrike">
                <a:solidFill>
                  <a:srgbClr val="94A3B8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2025-2026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/>
        </p:nvSpPr>
        <p:spPr>
          <a:xfrm>
            <a:off x="155100" y="1577950"/>
            <a:ext cx="8833800" cy="26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If you’re not paying attention to your customers,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someone else is.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38100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— </a:t>
            </a: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Jeff Bezos</a:t>
            </a:r>
            <a:endParaRPr b="1" i="1" sz="35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3" name="Google Shape;273;p45"/>
          <p:cNvSpPr txBox="1"/>
          <p:nvPr/>
        </p:nvSpPr>
        <p:spPr>
          <a:xfrm>
            <a:off x="388950" y="1039150"/>
            <a:ext cx="8366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457200" lvl="0" marL="3200400" marR="0" rtl="0" algn="l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35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***</a:t>
            </a:r>
            <a:endParaRPr sz="2000">
              <a:solidFill>
                <a:srgbClr val="CBD5E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6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MATTERS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79" name="Google Shape;279;p46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46"/>
          <p:cNvSpPr txBox="1"/>
          <p:nvPr/>
        </p:nvSpPr>
        <p:spPr>
          <a:xfrm>
            <a:off x="579750" y="3055825"/>
            <a:ext cx="7984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Modern companies do not fail because they cannot produce products.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They fail because they lose customers, misunderstand demand, or cannot scale customer relationships. CRM systems exist to solve this problem.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281" name="Google Shape;28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050" y="1016250"/>
            <a:ext cx="2949900" cy="1893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7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BEFORE CRM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HOW CUSTOMER DATA WAS MANAGED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87" name="Google Shape;287;p47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47"/>
          <p:cNvSpPr txBox="1"/>
          <p:nvPr/>
        </p:nvSpPr>
        <p:spPr>
          <a:xfrm>
            <a:off x="526550" y="3277875"/>
            <a:ext cx="79845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Before CRM systems, customer information was scattered across emails, spreadsheets, notebooks, personal contacts, and individual employee knowledge. Customer relationships lived in people’s heads, not in systems.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89" name="Google Shape;28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875" y="985937"/>
            <a:ext cx="2614243" cy="2228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8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PROBLEM WITH THE OLD WAY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IT BREAKS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295" name="Google Shape;295;p48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48"/>
          <p:cNvSpPr txBox="1"/>
          <p:nvPr/>
        </p:nvSpPr>
        <p:spPr>
          <a:xfrm>
            <a:off x="579750" y="1223950"/>
            <a:ext cx="7984500" cy="32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When customer data is informal (t</a:t>
            </a:r>
            <a:r>
              <a:rPr lang="en" sz="1900">
                <a:solidFill>
                  <a:schemeClr val="lt1"/>
                </a:solidFill>
              </a:rPr>
              <a:t>his approach does not scale well</a:t>
            </a:r>
            <a:r>
              <a:rPr lang="en" sz="1900">
                <a:solidFill>
                  <a:schemeClr val="lt1"/>
                </a:solidFill>
              </a:rPr>
              <a:t>):</a:t>
            </a:r>
            <a:endParaRPr sz="1900">
              <a:solidFill>
                <a:schemeClr val="lt1"/>
              </a:solidFill>
            </a:endParaRPr>
          </a:p>
          <a:p>
            <a:pPr indent="-330200" lvl="0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➢"/>
            </a:pPr>
            <a:r>
              <a:rPr lang="en" sz="1900">
                <a:solidFill>
                  <a:schemeClr val="lt1"/>
                </a:solidFill>
              </a:rPr>
              <a:t>Salespeople leave → customer history is LOST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30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➢"/>
            </a:pPr>
            <a:r>
              <a:rPr lang="en" sz="1900">
                <a:solidFill>
                  <a:schemeClr val="lt1"/>
                </a:solidFill>
              </a:rPr>
              <a:t>Customers are contacted inconsistently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30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➢"/>
            </a:pPr>
            <a:r>
              <a:rPr lang="en" sz="1900">
                <a:solidFill>
                  <a:schemeClr val="lt1"/>
                </a:solidFill>
              </a:rPr>
              <a:t>Management CANNOT forecast revenue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3020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➢"/>
            </a:pPr>
            <a:r>
              <a:rPr lang="en" sz="1900">
                <a:solidFill>
                  <a:schemeClr val="lt1"/>
                </a:solidFill>
              </a:rPr>
              <a:t>Decisions are based on intuition, not data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9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REAL-LIFE ANALOGY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AS A MEMORY SYSTEM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02" name="Google Shape;302;p49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49"/>
          <p:cNvSpPr txBox="1"/>
          <p:nvPr/>
        </p:nvSpPr>
        <p:spPr>
          <a:xfrm>
            <a:off x="526525" y="2906025"/>
            <a:ext cx="79845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CRM is like a shared organizational memory.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 Without it, each employee remembers customers differently. But with CRM system the company remembers customers consistently, even when employees change or departments restructure.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304" name="Google Shape;30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988" y="957524"/>
            <a:ext cx="2598025" cy="19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0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CUSTOMER RELATIONSHIP MANAGEMENT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PRECISE DEFINITION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10" name="Google Shape;310;p50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50"/>
          <p:cNvSpPr txBox="1"/>
          <p:nvPr/>
        </p:nvSpPr>
        <p:spPr>
          <a:xfrm>
            <a:off x="517675" y="3144525"/>
            <a:ext cx="7984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Customer Relationship Management (CRM) is a software system that centrally stores customer data and manages all interactions, sales activities, and communication across the customer lifecycle.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12" name="Google Shape;312;p50"/>
          <p:cNvPicPr preferRelativeResize="0"/>
          <p:nvPr/>
        </p:nvPicPr>
        <p:blipFill rotWithShape="1">
          <a:blip r:embed="rId3">
            <a:alphaModFix/>
          </a:blip>
          <a:srcRect b="10286" l="0" r="0" t="9101"/>
          <a:stretch/>
        </p:blipFill>
        <p:spPr>
          <a:xfrm>
            <a:off x="3181651" y="987250"/>
            <a:ext cx="2780700" cy="224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1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CRM ACTUALLY STORES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CORE DATA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18" name="Google Shape;318;p51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51"/>
          <p:cNvSpPr txBox="1"/>
          <p:nvPr/>
        </p:nvSpPr>
        <p:spPr>
          <a:xfrm>
            <a:off x="579750" y="1276800"/>
            <a:ext cx="7984500" cy="3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CRM systems store (t</a:t>
            </a:r>
            <a:r>
              <a:rPr lang="en" sz="1900">
                <a:solidFill>
                  <a:schemeClr val="lt1"/>
                </a:solidFill>
              </a:rPr>
              <a:t>his data becomes the basis for decisions</a:t>
            </a:r>
            <a:r>
              <a:rPr lang="en" sz="1900">
                <a:solidFill>
                  <a:schemeClr val="lt1"/>
                </a:solidFill>
              </a:rPr>
              <a:t>):</a:t>
            </a:r>
            <a:endParaRPr sz="1900">
              <a:solidFill>
                <a:schemeClr val="lt1"/>
              </a:solidFill>
            </a:endParaRPr>
          </a:p>
          <a:p>
            <a:pPr indent="-31115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Customer profiles (who they are)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Interaction history (what happened)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Sales status (what stage they are in)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Communication records (emails, calls, meetings)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AND BUSINESS VALUE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DATA MATTERS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25" name="Google Shape;325;p52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" name="Google Shape;326;p52"/>
          <p:cNvSpPr txBox="1"/>
          <p:nvPr/>
        </p:nvSpPr>
        <p:spPr>
          <a:xfrm>
            <a:off x="685163" y="2993747"/>
            <a:ext cx="7984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Customer data is not administrative information.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It directly determines revenue forecasting, marketing effectiveness, sales productivity, and customer retention.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327" name="Google Shape;32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9800" y="1007375"/>
            <a:ext cx="1995225" cy="199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3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SALES WITHOUT CRM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IT FAILS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33" name="Google Shape;333;p53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53"/>
          <p:cNvSpPr txBox="1"/>
          <p:nvPr/>
        </p:nvSpPr>
        <p:spPr>
          <a:xfrm>
            <a:off x="579750" y="1082050"/>
            <a:ext cx="7984500" cy="3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 without CRM is acceptable for small teams, not for growing organizations. </a:t>
            </a:r>
            <a:r>
              <a:rPr lang="en" sz="1900">
                <a:solidFill>
                  <a:schemeClr val="lt1"/>
                </a:solidFill>
              </a:rPr>
              <a:t>Without CRM:</a:t>
            </a:r>
            <a:endParaRPr sz="1900">
              <a:solidFill>
                <a:schemeClr val="lt1"/>
              </a:solidFill>
            </a:endParaRPr>
          </a:p>
          <a:p>
            <a:pPr indent="-311150" lvl="0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Sales pipelines are informal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Forecasts are guesses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Managers rely on verbal updates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Revenue becomes unpredictable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4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SALES WITH CRM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STRUCTURED PIPELINE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0" name="Google Shape;340;p54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54"/>
          <p:cNvSpPr txBox="1"/>
          <p:nvPr/>
        </p:nvSpPr>
        <p:spPr>
          <a:xfrm>
            <a:off x="579750" y="2545900"/>
            <a:ext cx="7984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CRM systems enforce sales pipelines with defined stages (lead, opportunity, proposal, closed). Each deal progresses through measurable steps, enabling tracking and forecasting.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42" name="Google Shape;342;p54"/>
          <p:cNvPicPr preferRelativeResize="0"/>
          <p:nvPr/>
        </p:nvPicPr>
        <p:blipFill rotWithShape="1">
          <a:blip r:embed="rId3">
            <a:alphaModFix/>
          </a:blip>
          <a:srcRect b="11726" l="18936" r="18668" t="12371"/>
          <a:stretch/>
        </p:blipFill>
        <p:spPr>
          <a:xfrm>
            <a:off x="3454612" y="1010950"/>
            <a:ext cx="2234774" cy="144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5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SALESFORCE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 EXAMPLE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48" name="Google Shape;348;p55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9" name="Google Shape;349;p55"/>
          <p:cNvSpPr txBox="1"/>
          <p:nvPr/>
        </p:nvSpPr>
        <p:spPr>
          <a:xfrm>
            <a:off x="526525" y="2784575"/>
            <a:ext cx="7984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Salesforce was founded specifically to solve the problem of managing customer relationships at scale. Today, it is the world’s largest CRM provider.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50" name="Google Shape;35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6300" y="1074197"/>
            <a:ext cx="2291393" cy="160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6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SALESFORCE AT SCALE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 DATA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56" name="Google Shape;356;p56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7" name="Google Shape;357;p56"/>
          <p:cNvSpPr txBox="1"/>
          <p:nvPr/>
        </p:nvSpPr>
        <p:spPr>
          <a:xfrm>
            <a:off x="579750" y="3224300"/>
            <a:ext cx="7984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Salesforce serves 150,000+ organizations globally and generates over $34 billion in annual revenue, proving the economic importance of structured customer management.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58" name="Google Shape;35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6733" y="963512"/>
            <a:ext cx="3750525" cy="22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7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AMAZON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 EXAMPLE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64" name="Google Shape;364;p57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57"/>
          <p:cNvSpPr txBox="1"/>
          <p:nvPr/>
        </p:nvSpPr>
        <p:spPr>
          <a:xfrm>
            <a:off x="579750" y="2624900"/>
            <a:ext cx="7984500" cy="15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(CRM at EXTREME SCALE)</a:t>
            </a: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Amazon tracks customer purchases, browsing behavior, reviews, returns, and support interactions. This CRM-driven data enables personalized recommendations that generate 35%+ of Amazon’s revenue.</a:t>
            </a:r>
            <a:br>
              <a:rPr lang="en" sz="1900">
                <a:solidFill>
                  <a:schemeClr val="lt1"/>
                </a:solidFill>
              </a:rPr>
            </a:br>
            <a:endParaRPr>
              <a:solidFill>
                <a:schemeClr val="lt1"/>
              </a:solidFill>
            </a:endParaRPr>
          </a:p>
        </p:txBody>
      </p:sp>
      <p:pic>
        <p:nvPicPr>
          <p:cNvPr id="366" name="Google Shape;36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1388" y="1203924"/>
            <a:ext cx="3781228" cy="113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8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AS A DIGITAL SALES ASSISTANT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ANALOGY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72" name="Google Shape;372;p58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3" name="Google Shape;373;p58"/>
          <p:cNvSpPr txBox="1"/>
          <p:nvPr/>
        </p:nvSpPr>
        <p:spPr>
          <a:xfrm>
            <a:off x="718050" y="1126400"/>
            <a:ext cx="7984500" cy="36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Humans forget. Systems do not. </a:t>
            </a:r>
            <a:r>
              <a:rPr lang="en" sz="1900">
                <a:solidFill>
                  <a:schemeClr val="lt1"/>
                </a:solidFill>
              </a:rPr>
              <a:t>CRM acts like a digital assistant that never forgets:</a:t>
            </a:r>
            <a:endParaRPr sz="1900">
              <a:solidFill>
                <a:schemeClr val="lt1"/>
              </a:solidFill>
            </a:endParaRPr>
          </a:p>
          <a:p>
            <a:pPr indent="-317500" lvl="0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Who the customer is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750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What they bought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750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What problems they had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750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What they might need next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9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VS ERP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CLEAR BOUNDARY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79" name="Google Shape;379;p59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p59"/>
          <p:cNvSpPr txBox="1"/>
          <p:nvPr/>
        </p:nvSpPr>
        <p:spPr>
          <a:xfrm>
            <a:off x="579750" y="1416600"/>
            <a:ext cx="79845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CRM manages customers and revenue generation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CRM answers: Who is buying?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ERP manages operations and execution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ERP answers: How do we deliver?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0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CRM–ERP INTEGRATION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BOTH ARE REQUIRED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86" name="Google Shape;386;p60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7" name="Google Shape;387;p60"/>
          <p:cNvSpPr txBox="1"/>
          <p:nvPr/>
        </p:nvSpPr>
        <p:spPr>
          <a:xfrm>
            <a:off x="718050" y="1117525"/>
            <a:ext cx="7984500" cy="34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Without ERP integration, CRM becomes isolated and incomplete. </a:t>
            </a:r>
            <a:r>
              <a:rPr lang="en" sz="1900">
                <a:solidFill>
                  <a:schemeClr val="lt1"/>
                </a:solidFill>
              </a:rPr>
              <a:t>A sale recorded in CRM must trigger:</a:t>
            </a:r>
            <a:endParaRPr sz="1900">
              <a:solidFill>
                <a:schemeClr val="lt1"/>
              </a:solidFill>
            </a:endParaRPr>
          </a:p>
          <a:p>
            <a:pPr indent="-317500" lvl="0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Inventory checks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75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Invoicing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75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Shipping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750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Financial reporting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61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MICROSOFT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 EXAMPLE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393" name="Google Shape;393;p61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61"/>
          <p:cNvSpPr txBox="1"/>
          <p:nvPr/>
        </p:nvSpPr>
        <p:spPr>
          <a:xfrm>
            <a:off x="579750" y="2524750"/>
            <a:ext cx="7984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Microsoft uses Dynamics CRM integrated with Dynamics ERP to manage enterprise customers, linking sales activity directly to billing, contracts, and service delivery. (Integrated systems)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95" name="Google Shape;39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5575" y="1057830"/>
            <a:ext cx="4492848" cy="146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2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DATA QUALITY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HIDDEN RISK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1" name="Google Shape;401;p62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62"/>
          <p:cNvSpPr txBox="1"/>
          <p:nvPr/>
        </p:nvSpPr>
        <p:spPr>
          <a:xfrm>
            <a:off x="579750" y="3094975"/>
            <a:ext cx="7984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CRM systems fail NOT because of technology, but because of poor data quality: duplicates, outdated records, missing interactions, and inconsistent usage.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03" name="Google Shape;40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6141" y="1019820"/>
            <a:ext cx="2091726" cy="193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3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COSTS MONEY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 FAILURE EXAMPLE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09" name="Google Shape;409;p63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" name="Google Shape;410;p63"/>
          <p:cNvSpPr txBox="1"/>
          <p:nvPr/>
        </p:nvSpPr>
        <p:spPr>
          <a:xfrm>
            <a:off x="579750" y="2527650"/>
            <a:ext cx="7984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IBM studies show that poor data quality costs organizations $3 - 5 trillion annually worldwide, including lost sales, failed campaigns, and bad decisions much of it CRM-related.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11" name="Google Shape;411;p63"/>
          <p:cNvPicPr preferRelativeResize="0"/>
          <p:nvPr/>
        </p:nvPicPr>
        <p:blipFill rotWithShape="1">
          <a:blip r:embed="rId3">
            <a:alphaModFix/>
          </a:blip>
          <a:srcRect b="29973" l="0" r="0" t="29646"/>
          <a:stretch/>
        </p:blipFill>
        <p:spPr>
          <a:xfrm>
            <a:off x="3001688" y="1090775"/>
            <a:ext cx="3140625" cy="126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4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AND IT SPECIALISTS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 ROLE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17" name="Google Shape;417;p64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64"/>
          <p:cNvSpPr txBox="1"/>
          <p:nvPr/>
        </p:nvSpPr>
        <p:spPr>
          <a:xfrm>
            <a:off x="579750" y="1498850"/>
            <a:ext cx="7984500" cy="28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This is systems engineering, not UI work. </a:t>
            </a:r>
            <a:r>
              <a:rPr lang="en" sz="1900">
                <a:solidFill>
                  <a:schemeClr val="lt1"/>
                </a:solidFill>
              </a:rPr>
              <a:t>IT specialists:</a:t>
            </a:r>
            <a:endParaRPr sz="1900">
              <a:solidFill>
                <a:schemeClr val="lt1"/>
              </a:solidFill>
            </a:endParaRPr>
          </a:p>
          <a:p>
            <a:pPr indent="-311150" lvl="0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Configure CRM workflows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Integrate CRM with ERP and analytics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Control access and data integrity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Ensure reporting accuracy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5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FOR IT CAREERS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YOU SHOULD CARE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24" name="Google Shape;424;p65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5" name="Google Shape;425;p65"/>
          <p:cNvSpPr txBox="1"/>
          <p:nvPr/>
        </p:nvSpPr>
        <p:spPr>
          <a:xfrm>
            <a:off x="579750" y="1250550"/>
            <a:ext cx="7984500" cy="28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Few systems influence money as directly as CRM. </a:t>
            </a:r>
            <a:r>
              <a:rPr lang="en" sz="1900">
                <a:solidFill>
                  <a:schemeClr val="lt1"/>
                </a:solidFill>
              </a:rPr>
              <a:t>Understanding CRM allows IT professionals to:</a:t>
            </a:r>
            <a:endParaRPr sz="1900">
              <a:solidFill>
                <a:schemeClr val="lt1"/>
              </a:solidFill>
            </a:endParaRPr>
          </a:p>
          <a:p>
            <a:pPr indent="-311150" lvl="0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Work with sales and marketing teams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Support revenue-critical systems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Build integrations that directly impact profit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6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PIPELINE DATA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DEFINITION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1" name="Google Shape;431;p66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66"/>
          <p:cNvSpPr txBox="1"/>
          <p:nvPr/>
        </p:nvSpPr>
        <p:spPr>
          <a:xfrm>
            <a:off x="150750" y="1081675"/>
            <a:ext cx="8841600" cy="29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</a:rPr>
              <a:t>CRM pipeline data represents how potential customers move through defined sales stages, from first contact to closed deal.Each stage reflects a business decision point and is recorded automatically in the CRM system as sales activities occur. Typical pipeline stages include:</a:t>
            </a:r>
            <a:endParaRPr sz="1600">
              <a:solidFill>
                <a:schemeClr val="lt1"/>
              </a:solidFill>
            </a:endParaRPr>
          </a:p>
          <a:p>
            <a:pPr indent="-336550" lvl="0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800">
                <a:solidFill>
                  <a:schemeClr val="lt1"/>
                </a:solidFill>
              </a:rPr>
              <a:t>Lead</a:t>
            </a:r>
            <a:endParaRPr sz="1800">
              <a:solidFill>
                <a:schemeClr val="lt1"/>
              </a:solidFill>
            </a:endParaRPr>
          </a:p>
          <a:p>
            <a:pPr indent="-3365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800">
                <a:solidFill>
                  <a:schemeClr val="lt1"/>
                </a:solidFill>
              </a:rPr>
              <a:t>Qualified opportunity</a:t>
            </a:r>
            <a:endParaRPr sz="1800">
              <a:solidFill>
                <a:schemeClr val="lt1"/>
              </a:solidFill>
            </a:endParaRPr>
          </a:p>
          <a:p>
            <a:pPr indent="-3365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800">
                <a:solidFill>
                  <a:schemeClr val="lt1"/>
                </a:solidFill>
              </a:rPr>
              <a:t>Proposal</a:t>
            </a:r>
            <a:endParaRPr sz="1800">
              <a:solidFill>
                <a:schemeClr val="lt1"/>
              </a:solidFill>
            </a:endParaRPr>
          </a:p>
          <a:p>
            <a:pPr indent="-3365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800">
                <a:solidFill>
                  <a:schemeClr val="lt1"/>
                </a:solidFill>
              </a:rPr>
              <a:t>Negotiation</a:t>
            </a:r>
            <a:endParaRPr sz="1800">
              <a:solidFill>
                <a:schemeClr val="lt1"/>
              </a:solidFill>
            </a:endParaRPr>
          </a:p>
          <a:p>
            <a:pPr indent="-336550" lvl="0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➢"/>
            </a:pPr>
            <a:r>
              <a:rPr lang="en" sz="1800">
                <a:solidFill>
                  <a:schemeClr val="lt1"/>
                </a:solidFill>
              </a:rPr>
              <a:t>Closed (won or lost)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</a:rPr>
              <a:t>At every stage, the CRM stores structured data such as deal value, probability, owner, and status.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7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ACTIVITY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PIPELINE CALCULATION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38" name="Google Shape;438;p67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9" name="Google Shape;439;p67"/>
          <p:cNvSpPr txBox="1"/>
          <p:nvPr/>
        </p:nvSpPr>
        <p:spPr>
          <a:xfrm>
            <a:off x="579750" y="3774150"/>
            <a:ext cx="7984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Use CRM pipeline data to calculate expected revenue and demonstrate how customer information supports measurable business performance.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440" name="Google Shape;44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7050" y="953175"/>
            <a:ext cx="2949900" cy="1654715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67"/>
          <p:cNvSpPr txBox="1"/>
          <p:nvPr/>
        </p:nvSpPr>
        <p:spPr>
          <a:xfrm>
            <a:off x="197375" y="2639025"/>
            <a:ext cx="88416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following activity uses simplified CRM pipeline logic to calculate expected revenue. The goal is to show how structured customer data becomes a concrete financial metric used in real companies.</a:t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8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SCENARIO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PIPELINE DATA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47" name="Google Shape;447;p68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8" name="Google Shape;448;p68"/>
          <p:cNvSpPr txBox="1"/>
          <p:nvPr/>
        </p:nvSpPr>
        <p:spPr>
          <a:xfrm>
            <a:off x="579750" y="1053350"/>
            <a:ext cx="79845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</a:rPr>
              <a:t>200 leads</a:t>
            </a:r>
            <a:br>
              <a:rPr b="1" lang="en" sz="1900">
                <a:solidFill>
                  <a:schemeClr val="lt1"/>
                </a:solidFill>
              </a:rPr>
            </a:br>
            <a:r>
              <a:rPr lang="en" sz="1300">
                <a:solidFill>
                  <a:schemeClr val="lt1"/>
                </a:solidFill>
              </a:rPr>
              <a:t>Potential customers who have shown initial interest but have not yet been qualified or contacted in depth.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</a:rPr>
              <a:t>30% convert to opportunities</a:t>
            </a:r>
            <a:br>
              <a:rPr b="1" lang="en" sz="1900">
                <a:solidFill>
                  <a:schemeClr val="lt1"/>
                </a:solidFill>
              </a:rPr>
            </a:br>
            <a:r>
              <a:rPr lang="en" sz="1300">
                <a:solidFill>
                  <a:schemeClr val="lt1"/>
                </a:solidFill>
              </a:rPr>
              <a:t>The proportion of leads that become serious sales opportunities after qualification by the sales team.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</a:rPr>
              <a:t>20% close rate</a:t>
            </a:r>
            <a:br>
              <a:rPr b="1" lang="en" sz="1900">
                <a:solidFill>
                  <a:schemeClr val="lt1"/>
                </a:solidFill>
              </a:rPr>
            </a:br>
            <a:r>
              <a:rPr lang="en" sz="1300">
                <a:solidFill>
                  <a:schemeClr val="lt1"/>
                </a:solidFill>
              </a:rPr>
              <a:t>The percentage of sales opportunities that result in a successful sale.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400">
                <a:solidFill>
                  <a:schemeClr val="lt1"/>
                </a:solidFill>
              </a:rPr>
              <a:t>Average deal value: $2,000</a:t>
            </a:r>
            <a:endParaRPr b="1" sz="24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</a:rPr>
              <a:t>The typical revenue generated from one successfully closed deal.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9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TASK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CLASSWORK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54" name="Google Shape;454;p69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5" name="Google Shape;455;p69"/>
          <p:cNvSpPr txBox="1"/>
          <p:nvPr/>
        </p:nvSpPr>
        <p:spPr>
          <a:xfrm>
            <a:off x="2001900" y="1418575"/>
            <a:ext cx="5140200" cy="29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Calculate:</a:t>
            </a:r>
            <a:endParaRPr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- </a:t>
            </a:r>
            <a:r>
              <a:rPr lang="en" sz="1900">
                <a:solidFill>
                  <a:schemeClr val="lt1"/>
                </a:solidFill>
              </a:rPr>
              <a:t>1 - Number of closed deals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- 2 -  Expected revenue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- 3 - Which CRM data fields are critical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0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CLASSWORK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61" name="Google Shape;461;p70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70"/>
          <p:cNvSpPr txBox="1"/>
          <p:nvPr/>
        </p:nvSpPr>
        <p:spPr>
          <a:xfrm>
            <a:off x="244350" y="1584750"/>
            <a:ext cx="8655300" cy="3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Step 000 : Identify opportunities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FFFF00"/>
                </a:solidFill>
              </a:rPr>
              <a:t>Formula: Total leads × conversion rate</a:t>
            </a:r>
            <a:r>
              <a:rPr lang="en" sz="1900">
                <a:solidFill>
                  <a:schemeClr val="lt1"/>
                </a:solidFill>
              </a:rPr>
              <a:t>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Calculation: 200 leads × 30% = 60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Opportunities = 60 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1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CLASSWORK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68" name="Google Shape;468;p71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9" name="Google Shape;469;p71"/>
          <p:cNvSpPr txBox="1"/>
          <p:nvPr/>
        </p:nvSpPr>
        <p:spPr>
          <a:xfrm>
            <a:off x="244350" y="1540750"/>
            <a:ext cx="8655300" cy="3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Step 001 : Determine closed deals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FFFF00"/>
                </a:solidFill>
              </a:rPr>
              <a:t>Formula: Opportunities × close rate </a:t>
            </a:r>
            <a:endParaRPr b="1" sz="2400">
              <a:solidFill>
                <a:srgbClr val="FF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Calculation: 60 opportunities × 20% = 12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Closed deals = 12</a:t>
            </a:r>
            <a:r>
              <a:rPr lang="en" sz="1900">
                <a:solidFill>
                  <a:schemeClr val="lt1"/>
                </a:solidFill>
              </a:rPr>
              <a:t>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2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SOLUTION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CLASSWORK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75" name="Google Shape;475;p72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72"/>
          <p:cNvSpPr txBox="1"/>
          <p:nvPr/>
        </p:nvSpPr>
        <p:spPr>
          <a:xfrm>
            <a:off x="244350" y="1540750"/>
            <a:ext cx="8655300" cy="3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Step 002 : Calculate expected revenue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FFFF00"/>
                </a:solidFill>
              </a:rPr>
              <a:t>Formula: closed deals × average deal value </a:t>
            </a:r>
            <a:endParaRPr b="1" sz="2400">
              <a:solidFill>
                <a:srgbClr val="FFFF00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Calculation: 12 deals × $2,000 = $24,000 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br>
              <a:rPr lang="en" sz="1900">
                <a:solidFill>
                  <a:schemeClr val="lt1"/>
                </a:solidFill>
              </a:rPr>
            </a:br>
            <a:r>
              <a:rPr b="1" lang="en" sz="1900">
                <a:solidFill>
                  <a:schemeClr val="lt1"/>
                </a:solidFill>
              </a:rPr>
              <a:t>Expected revenue = $24,000 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73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CORRECT ANSWER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VALIDATION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82" name="Google Shape;482;p73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73"/>
          <p:cNvSpPr txBox="1"/>
          <p:nvPr/>
        </p:nvSpPr>
        <p:spPr>
          <a:xfrm>
            <a:off x="579750" y="1214625"/>
            <a:ext cx="7984500" cy="30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1. Number of closed deals: 12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2. Expected revenue: $24,000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3. Critical CRM data fields: </a:t>
            </a:r>
            <a:endParaRPr sz="19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</a:rPr>
              <a:t>Lead status: to track which leads are qualified. </a:t>
            </a:r>
            <a:endParaRPr sz="16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</a:rPr>
              <a:t>Deal probability: to understand the likelihood of closing at each stage. </a:t>
            </a:r>
            <a:endParaRPr sz="16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</a:rPr>
              <a:t>Deal value: to calculate the potential financial impact. </a:t>
            </a:r>
            <a:endParaRPr sz="16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Activity history: to ensure consistent communication and prevent loss of data.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74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IF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DATA IS WRONG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89" name="Google Shape;489;p74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0" name="Google Shape;490;p74"/>
          <p:cNvSpPr txBox="1"/>
          <p:nvPr/>
        </p:nvSpPr>
        <p:spPr>
          <a:xfrm>
            <a:off x="579750" y="2279250"/>
            <a:ext cx="7984500" cy="9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Imagine a CRM showing strong customer growth, but half the records are duplicates. Management increases marketing spend, expecting growth but real demand does not exist.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491" name="Google Shape;49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6070" y="991550"/>
            <a:ext cx="1331875" cy="13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5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REAL CONSEQUENCE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THIS HAPPENS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497" name="Google Shape;497;p75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75"/>
          <p:cNvSpPr txBox="1"/>
          <p:nvPr/>
        </p:nvSpPr>
        <p:spPr>
          <a:xfrm>
            <a:off x="579750" y="1481150"/>
            <a:ext cx="7984500" cy="29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system worked but the data did not. </a:t>
            </a:r>
            <a:r>
              <a:rPr lang="en" sz="1900">
                <a:solidFill>
                  <a:schemeClr val="lt1"/>
                </a:solidFill>
              </a:rPr>
              <a:t>Companies using Salesforce and similar platforms frequently report that inaccurate CRM data leads to:</a:t>
            </a:r>
            <a:endParaRPr sz="1900">
              <a:solidFill>
                <a:schemeClr val="lt1"/>
              </a:solidFill>
            </a:endParaRPr>
          </a:p>
          <a:p>
            <a:pPr indent="-311150" lvl="0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Incorrect sales forecasts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Wasted marketing budgets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115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➢"/>
            </a:pPr>
            <a:r>
              <a:rPr lang="en" sz="1900">
                <a:solidFill>
                  <a:schemeClr val="lt1"/>
                </a:solidFill>
              </a:rPr>
              <a:t>Loss of customer trust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6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CRM MAINTENANCE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ONGOING RESPONSIBILITY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04" name="Google Shape;504;p76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5" name="Google Shape;505;p76"/>
          <p:cNvSpPr txBox="1"/>
          <p:nvPr/>
        </p:nvSpPr>
        <p:spPr>
          <a:xfrm>
            <a:off x="641825" y="1383100"/>
            <a:ext cx="7984500" cy="3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CRM is not “set and forget” it</a:t>
            </a:r>
            <a:r>
              <a:rPr lang="en" sz="1900">
                <a:solidFill>
                  <a:schemeClr val="lt1"/>
                </a:solidFill>
              </a:rPr>
              <a:t> requires continuous effort:</a:t>
            </a:r>
            <a:endParaRPr sz="1900">
              <a:solidFill>
                <a:schemeClr val="lt1"/>
              </a:solidFill>
            </a:endParaRPr>
          </a:p>
          <a:p>
            <a:pPr indent="-317500" lvl="0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Data governance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750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User discipline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750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Integration monitoring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  <a:p>
            <a:pPr indent="-317500" lvl="0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➢"/>
            </a:pPr>
            <a:r>
              <a:rPr lang="en" sz="1900">
                <a:solidFill>
                  <a:schemeClr val="lt1"/>
                </a:solidFill>
              </a:rPr>
              <a:t>Workflow refinement</a:t>
            </a:r>
            <a:br>
              <a:rPr lang="en" sz="1900">
                <a:solidFill>
                  <a:schemeClr val="lt1"/>
                </a:solidFill>
              </a:rPr>
            </a:b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77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 TAKEAWAY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 CRM REALLY IS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1" name="Google Shape;511;p77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2" name="Google Shape;512;p77"/>
          <p:cNvSpPr txBox="1"/>
          <p:nvPr/>
        </p:nvSpPr>
        <p:spPr>
          <a:xfrm>
            <a:off x="579750" y="2855200"/>
            <a:ext cx="7984500" cy="13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CRM systems transform customer relationships from personal memory into organizational intelligence. Without CRM, customer management does not scale. With CRM, revenue becomes measurable and manageable.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513" name="Google Shape;51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3275" y="957750"/>
            <a:ext cx="1897450" cy="189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78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LEAKY FUNNEL (REVENUE PREDICTOR)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PRACTICAL P000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19" name="Google Shape;519;p78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78"/>
          <p:cNvSpPr txBox="1"/>
          <p:nvPr/>
        </p:nvSpPr>
        <p:spPr>
          <a:xfrm>
            <a:off x="579750" y="1210575"/>
            <a:ext cx="7984500" cy="26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You have been hired as a developer for "AlaToo </a:t>
            </a:r>
            <a:r>
              <a:rPr lang="en" sz="1900">
                <a:solidFill>
                  <a:schemeClr val="lt1"/>
                </a:solidFill>
              </a:rPr>
              <a:t>industries</a:t>
            </a:r>
            <a:r>
              <a:rPr lang="en" sz="1900">
                <a:solidFill>
                  <a:schemeClr val="lt1"/>
                </a:solidFill>
              </a:rPr>
              <a:t>", the sales manager is tired of doing manual calculations in Excel. They need create a script that can predict monthly revenue based on different "Lead quality" scenarios.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The company is worried about a "Leaky Funnel" where leads drop out of the system because they aren't contacted fast enough.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9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GOAL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PRACTICAL P000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26" name="Google Shape;526;p79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79"/>
          <p:cNvSpPr txBox="1"/>
          <p:nvPr/>
        </p:nvSpPr>
        <p:spPr>
          <a:xfrm>
            <a:off x="579750" y="1210575"/>
            <a:ext cx="7984500" cy="29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Write a program (Python or Java) that: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000 - Asks the user for the number of initial Leads.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001 - Calculates how many become Opportunities (30% conversion).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002 - Calculates how many Close (20% close rate).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003 - If the number of leads is over 500, the system becomes "overwhelmed," and the close rate drops from 20% to 10% due to poor customer service.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lt1"/>
                </a:solidFill>
              </a:rPr>
              <a:t>004 - Outputs the Total Expected Revenue (using $2,000 per deal).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0"/>
          <p:cNvSpPr txBox="1"/>
          <p:nvPr/>
        </p:nvSpPr>
        <p:spPr>
          <a:xfrm>
            <a:off x="441450" y="279475"/>
            <a:ext cx="82611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EXPECTED OUTPUT</a:t>
            </a: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PRACTICAL P000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33" name="Google Shape;533;p80"/>
          <p:cNvCxnSpPr/>
          <p:nvPr/>
        </p:nvCxnSpPr>
        <p:spPr>
          <a:xfrm>
            <a:off x="3097050" y="92205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34" name="Google Shape;534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3988" y="1038900"/>
            <a:ext cx="5736025" cy="352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35000">
              <a:srgbClr val="003863"/>
            </a:gs>
            <a:gs pos="78000">
              <a:srgbClr val="0E1C27"/>
            </a:gs>
            <a:gs pos="100000">
              <a:schemeClr val="dk2"/>
            </a:gs>
          </a:gsLst>
          <a:lin ang="5400012" scaled="0"/>
        </a:gra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81"/>
          <p:cNvSpPr txBox="1"/>
          <p:nvPr/>
        </p:nvSpPr>
        <p:spPr>
          <a:xfrm>
            <a:off x="441450" y="279475"/>
            <a:ext cx="8261100" cy="38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NEXT WEEK PREVIEW</a:t>
            </a:r>
            <a:br>
              <a:rPr b="1" lang="en" sz="2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WHAT’S COMING</a:t>
            </a:r>
            <a:endParaRPr b="1"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lt1"/>
                </a:solidFill>
              </a:rPr>
              <a:t>Analytics and dashboards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br>
              <a:rPr lang="en" sz="1900">
                <a:solidFill>
                  <a:schemeClr val="lt1"/>
                </a:solidFill>
              </a:rPr>
            </a:br>
            <a:r>
              <a:rPr lang="en" sz="1900">
                <a:solidFill>
                  <a:schemeClr val="lt1"/>
                </a:solidFill>
              </a:rPr>
              <a:t>How is data from ERP and CRM systems transformed into KPIs, reports, and dashboards used by managers to make decisions?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45720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</p:txBody>
      </p:sp>
      <p:cxnSp>
        <p:nvCxnSpPr>
          <p:cNvPr id="540" name="Google Shape;540;p81"/>
          <p:cNvCxnSpPr/>
          <p:nvPr/>
        </p:nvCxnSpPr>
        <p:spPr>
          <a:xfrm>
            <a:off x="3097050" y="1072800"/>
            <a:ext cx="2949900" cy="0"/>
          </a:xfrm>
          <a:prstGeom prst="straightConnector1">
            <a:avLst/>
          </a:prstGeom>
          <a:noFill/>
          <a:ln cap="flat" cmpd="sng" w="762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