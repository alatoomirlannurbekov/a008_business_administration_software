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DM Sans Medium"/>
      <p:regular r:id="rId45"/>
      <p:bold r:id="rId46"/>
      <p:italic r:id="rId47"/>
      <p:boldItalic r:id="rId48"/>
    </p:embeddedFont>
    <p:embeddedFont>
      <p:font typeface="Caveat"/>
      <p:regular r:id="rId49"/>
      <p:bold r:id="rId50"/>
    </p:embeddedFont>
    <p:embeddedFont>
      <p:font typeface="Montserrat"/>
      <p:regular r:id="rId51"/>
      <p:bold r:id="rId52"/>
      <p:italic r:id="rId53"/>
      <p:boldItalic r:id="rId54"/>
    </p:embeddedFont>
    <p:embeddedFont>
      <p:font typeface="Merriweather"/>
      <p:regular r:id="rId55"/>
      <p:bold r:id="rId56"/>
      <p:italic r:id="rId57"/>
      <p:boldItalic r:id="rId58"/>
    </p:embeddedFont>
    <p:embeddedFont>
      <p:font typeface="DM Sans"/>
      <p:regular r:id="rId59"/>
      <p:bold r:id="rId60"/>
      <p:italic r:id="rId61"/>
      <p:boldItalic r:id="rId62"/>
    </p:embeddedFont>
    <p:embeddedFont>
      <p:font typeface="Open Sans Light"/>
      <p:regular r:id="rId63"/>
      <p:bold r:id="rId64"/>
      <p:italic r:id="rId65"/>
      <p:boldItalic r:id="rId66"/>
    </p:embeddedFont>
    <p:embeddedFont>
      <p:font typeface="Open Sans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DMSansMedium-bold.fntdata"/><Relationship Id="rId45" Type="http://schemas.openxmlformats.org/officeDocument/2006/relationships/font" Target="fonts/DMSans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DMSansMedium-boldItalic.fntdata"/><Relationship Id="rId47" Type="http://schemas.openxmlformats.org/officeDocument/2006/relationships/font" Target="fonts/DMSansMedium-italic.fntdata"/><Relationship Id="rId49" Type="http://schemas.openxmlformats.org/officeDocument/2006/relationships/font" Target="fonts/Cavea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schemas.openxmlformats.org/officeDocument/2006/relationships/font" Target="fonts/OpenSans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DMSans-boldItalic.fntdata"/><Relationship Id="rId61" Type="http://schemas.openxmlformats.org/officeDocument/2006/relationships/font" Target="fonts/DMSans-italic.fntdata"/><Relationship Id="rId20" Type="http://schemas.openxmlformats.org/officeDocument/2006/relationships/slide" Target="slides/slide14.xml"/><Relationship Id="rId64" Type="http://schemas.openxmlformats.org/officeDocument/2006/relationships/font" Target="fonts/OpenSansLight-bold.fntdata"/><Relationship Id="rId63" Type="http://schemas.openxmlformats.org/officeDocument/2006/relationships/font" Target="fonts/OpenSansLight-regular.fntdata"/><Relationship Id="rId22" Type="http://schemas.openxmlformats.org/officeDocument/2006/relationships/slide" Target="slides/slide16.xml"/><Relationship Id="rId66" Type="http://schemas.openxmlformats.org/officeDocument/2006/relationships/font" Target="fonts/OpenSansLight-boldItalic.fntdata"/><Relationship Id="rId21" Type="http://schemas.openxmlformats.org/officeDocument/2006/relationships/slide" Target="slides/slide15.xml"/><Relationship Id="rId65" Type="http://schemas.openxmlformats.org/officeDocument/2006/relationships/font" Target="fonts/OpenSansLight-italic.fntdata"/><Relationship Id="rId24" Type="http://schemas.openxmlformats.org/officeDocument/2006/relationships/slide" Target="slides/slide18.xml"/><Relationship Id="rId68" Type="http://schemas.openxmlformats.org/officeDocument/2006/relationships/font" Target="fonts/OpenSans-bold.fntdata"/><Relationship Id="rId23" Type="http://schemas.openxmlformats.org/officeDocument/2006/relationships/slide" Target="slides/slide17.xml"/><Relationship Id="rId67" Type="http://schemas.openxmlformats.org/officeDocument/2006/relationships/font" Target="fonts/OpenSans-regular.fntdata"/><Relationship Id="rId60" Type="http://schemas.openxmlformats.org/officeDocument/2006/relationships/font" Target="fonts/DMSans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-regular.fntdata"/><Relationship Id="rId50" Type="http://schemas.openxmlformats.org/officeDocument/2006/relationships/font" Target="fonts/Caveat-bold.fntdata"/><Relationship Id="rId53" Type="http://schemas.openxmlformats.org/officeDocument/2006/relationships/font" Target="fonts/Montserrat-italic.fntdata"/><Relationship Id="rId52" Type="http://schemas.openxmlformats.org/officeDocument/2006/relationships/font" Target="fonts/Montserrat-bold.fntdata"/><Relationship Id="rId11" Type="http://schemas.openxmlformats.org/officeDocument/2006/relationships/slide" Target="slides/slide5.xml"/><Relationship Id="rId55" Type="http://schemas.openxmlformats.org/officeDocument/2006/relationships/font" Target="fonts/Merriweather-regular.fntdata"/><Relationship Id="rId10" Type="http://schemas.openxmlformats.org/officeDocument/2006/relationships/slide" Target="slides/slide4.xml"/><Relationship Id="rId54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57" Type="http://schemas.openxmlformats.org/officeDocument/2006/relationships/font" Target="fonts/Merriweather-italic.fntdata"/><Relationship Id="rId12" Type="http://schemas.openxmlformats.org/officeDocument/2006/relationships/slide" Target="slides/slide6.xml"/><Relationship Id="rId56" Type="http://schemas.openxmlformats.org/officeDocument/2006/relationships/font" Target="fonts/Merriweather-bold.fntdata"/><Relationship Id="rId15" Type="http://schemas.openxmlformats.org/officeDocument/2006/relationships/slide" Target="slides/slide9.xml"/><Relationship Id="rId59" Type="http://schemas.openxmlformats.org/officeDocument/2006/relationships/font" Target="fonts/DMSans-regular.fntdata"/><Relationship Id="rId14" Type="http://schemas.openxmlformats.org/officeDocument/2006/relationships/slide" Target="slides/slide8.xml"/><Relationship Id="rId58" Type="http://schemas.openxmlformats.org/officeDocument/2006/relationships/font" Target="fonts/Merriweather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476a14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9476a14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e11693f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e11693f5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4f0db700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d4f0db7004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851fa07c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851fa07c0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851fa07c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d851fa07c0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8816f08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d8816f080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8816f08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d8816f080f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851fa07c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d851fa07c0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5b51027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d5b510277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8bec2c5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d8bec2c59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8bec2c59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d8bec2c59d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8bec2c59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d8bec2c59d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8bec2c59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d8bec2c59d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8bec2c59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d8bec2c59d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8bec2c59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d8bec2c59d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d8bec2c59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d8bec2c59d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8bec2c59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d8bec2c59d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8bec2c59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d8bec2c59d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8bec2c59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d8bec2c59d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8bec2c59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d8bec2c59d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8bec2c59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d8bec2c59d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8bec2c59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d8bec2c59d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8bec2c59d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d8bec2c59d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8bec2c59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d8bec2c59d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8bec2c59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d8bec2c59d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8bec2c59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d8bec2c59d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8bec2c59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d8bec2c59d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8bec2c59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d8bec2c59d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8bec2c59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d8bec2c59d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8bec2c59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d8bec2c59d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d8bec2c59d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d8bec2c59d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8bec2c59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d8bec2c59d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8bec2c59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d8bec2c59d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d8bec2c59d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d8bec2c59d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8bec2c59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d8bec2c59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8bec2c59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d8bec2c59d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8bec2c59d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d8bec2c59d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be11693f5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be11693f55_0_4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284400" y="2325500"/>
            <a:ext cx="8575200" cy="11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BUSINESS ADMINISTRATION 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SOFTWARE</a:t>
            </a:r>
            <a:endParaRPr sz="3800">
              <a:solidFill>
                <a:srgbClr val="9900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3" name="Google Shape;263;p44" title="College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238" y="304225"/>
            <a:ext cx="1249524" cy="124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/>
        </p:nvSpPr>
        <p:spPr>
          <a:xfrm>
            <a:off x="2514600" y="1613596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ALA-TOO INTERNATIONAL UNIVERSITY</a:t>
            </a:r>
            <a:endParaRPr/>
          </a:p>
        </p:txBody>
      </p:sp>
      <p:cxnSp>
        <p:nvCxnSpPr>
          <p:cNvPr id="265" name="Google Shape;265;p44"/>
          <p:cNvCxnSpPr/>
          <p:nvPr/>
        </p:nvCxnSpPr>
        <p:spPr>
          <a:xfrm flipH="1" rot="10800000">
            <a:off x="2336050" y="2115500"/>
            <a:ext cx="46122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4"/>
          <p:cNvCxnSpPr/>
          <p:nvPr/>
        </p:nvCxnSpPr>
        <p:spPr>
          <a:xfrm>
            <a:off x="2994450" y="3630105"/>
            <a:ext cx="3155100" cy="8100"/>
          </a:xfrm>
          <a:prstGeom prst="straightConnector1">
            <a:avLst/>
          </a:prstGeom>
          <a:noFill/>
          <a:ln cap="flat" cmpd="sng" w="38100">
            <a:solidFill>
              <a:srgbClr val="A700F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44"/>
          <p:cNvSpPr txBox="1"/>
          <p:nvPr/>
        </p:nvSpPr>
        <p:spPr>
          <a:xfrm>
            <a:off x="3175300" y="3925408"/>
            <a:ext cx="29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Spring Semeste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/>
        </p:nvSpPr>
        <p:spPr>
          <a:xfrm>
            <a:off x="197375" y="1644300"/>
            <a:ext cx="8833800" cy="18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Conceptual integrity is central to product quality. 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3810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— </a:t>
            </a: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Frederick P. Brooks Jr. 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388950" y="1090200"/>
            <a:ext cx="836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6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***</a:t>
            </a:r>
            <a:endParaRPr sz="36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GENERAL PURPOSE MODULE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9" name="Google Shape;279;p46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0" name="Google Shape;280;p46"/>
          <p:cNvPicPr preferRelativeResize="0"/>
          <p:nvPr/>
        </p:nvPicPr>
        <p:blipFill rotWithShape="1">
          <a:blip r:embed="rId3">
            <a:alphaModFix/>
          </a:blip>
          <a:srcRect b="0" l="0" r="33823" t="0"/>
          <a:stretch/>
        </p:blipFill>
        <p:spPr>
          <a:xfrm>
            <a:off x="197375" y="1734100"/>
            <a:ext cx="2715975" cy="203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6"/>
          <p:cNvSpPr/>
          <p:nvPr/>
        </p:nvSpPr>
        <p:spPr>
          <a:xfrm>
            <a:off x="3168775" y="2308638"/>
            <a:ext cx="4974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E0E3"/>
          </a:solidFill>
          <a:ln cap="flat" cmpd="sng" w="9525">
            <a:solidFill>
              <a:srgbClr val="1212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0B981"/>
              </a:solidFill>
              <a:highlight>
                <a:srgbClr val="10B98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2" name="Google Shape;28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6576" y="1523225"/>
            <a:ext cx="5179900" cy="245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GENERAL PURPOSE MODULE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88" name="Google Shape;288;p47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9" name="Google Shape;28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3675"/>
            <a:ext cx="8839200" cy="4029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GENERAL PURPOSE MODULE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5" name="Google Shape;295;p48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6" name="Google Shape;29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75" y="863075"/>
            <a:ext cx="8032043" cy="418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8"/>
          <p:cNvSpPr txBox="1"/>
          <p:nvPr/>
        </p:nvSpPr>
        <p:spPr>
          <a:xfrm>
            <a:off x="3509275" y="3071975"/>
            <a:ext cx="528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Message on launch</a:t>
            </a:r>
            <a:endParaRPr b="1" sz="1500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OBJECT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MODULE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3" name="Google Shape;303;p49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4" name="Google Shape;30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150" y="833100"/>
            <a:ext cx="5215374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0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OBJECT MODULE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0" name="Google Shape;310;p50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1" name="Google Shape;31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75" y="983263"/>
            <a:ext cx="9007051" cy="317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0"/>
          <p:cNvSpPr txBox="1"/>
          <p:nvPr/>
        </p:nvSpPr>
        <p:spPr>
          <a:xfrm>
            <a:off x="152400" y="4290550"/>
            <a:ext cx="8839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The procedure </a:t>
            </a:r>
            <a:r>
              <a:rPr lang="en" sz="1600">
                <a:solidFill>
                  <a:schemeClr val="lt1"/>
                </a:solidFill>
              </a:rPr>
              <a:t>which</a:t>
            </a:r>
            <a:r>
              <a:rPr lang="en" sz="1600">
                <a:solidFill>
                  <a:schemeClr val="lt1"/>
                </a:solidFill>
              </a:rPr>
              <a:t> get </a:t>
            </a:r>
            <a:r>
              <a:rPr lang="en" sz="1600">
                <a:solidFill>
                  <a:schemeClr val="lt1"/>
                </a:solidFill>
              </a:rPr>
              <a:t>executed</a:t>
            </a:r>
            <a:r>
              <a:rPr lang="en" sz="1600">
                <a:solidFill>
                  <a:schemeClr val="lt1"/>
                </a:solidFill>
              </a:rPr>
              <a:t> when posting a document , adding records to specified register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/>
        </p:nvSpPr>
        <p:spPr>
          <a:xfrm>
            <a:off x="441450" y="101575"/>
            <a:ext cx="826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TWO MAIN IDEAS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8" name="Google Shape;318;p51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51"/>
          <p:cNvSpPr txBox="1"/>
          <p:nvPr/>
        </p:nvSpPr>
        <p:spPr>
          <a:xfrm>
            <a:off x="558750" y="989375"/>
            <a:ext cx="80265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GENERAL </a:t>
            </a:r>
            <a:r>
              <a:rPr b="1" lang="en" sz="1900">
                <a:solidFill>
                  <a:schemeClr val="lt1"/>
                </a:solidFill>
              </a:rPr>
              <a:t>PURPOSE</a:t>
            </a:r>
            <a:r>
              <a:rPr b="1" lang="en" sz="1900">
                <a:solidFill>
                  <a:schemeClr val="lt1"/>
                </a:solidFill>
              </a:rPr>
              <a:t> MODULE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b="1" lang="en" sz="1900">
                <a:solidFill>
                  <a:schemeClr val="lt1"/>
                </a:solidFill>
              </a:rPr>
              <a:t>Frequently used procedures </a:t>
            </a:r>
            <a:r>
              <a:rPr b="1" lang="en" sz="1900">
                <a:solidFill>
                  <a:schemeClr val="lt1"/>
                </a:solidFill>
              </a:rPr>
              <a:t>and</a:t>
            </a:r>
            <a:r>
              <a:rPr b="1" lang="en" sz="1900">
                <a:solidFill>
                  <a:schemeClr val="lt1"/>
                </a:solidFill>
              </a:rPr>
              <a:t> functions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b="1" lang="en" sz="1900">
                <a:solidFill>
                  <a:schemeClr val="lt1"/>
                </a:solidFill>
              </a:rPr>
              <a:t>General-purpose source code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OBJECT MODULE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b="1" lang="en" sz="1900">
                <a:solidFill>
                  <a:schemeClr val="lt1"/>
                </a:solidFill>
              </a:rPr>
              <a:t>Contains code specific for the object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Examples: catalog and document</a:t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COMMENTS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5" name="Google Shape;325;p52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6" name="Google Shape;32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313" y="1578575"/>
            <a:ext cx="7887375" cy="22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3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32" name="Google Shape;332;p53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3" name="Google Shape;33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213" y="866450"/>
            <a:ext cx="5951582" cy="418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4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39" name="Google Shape;339;p54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0" name="Google Shape;34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200" y="824750"/>
            <a:ext cx="7141588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5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6" name="Google Shape;346;p55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7" name="Google Shape;34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963" y="833075"/>
            <a:ext cx="8034065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6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3" name="Google Shape;353;p56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4" name="Google Shape;35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6275"/>
            <a:ext cx="8839198" cy="4113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7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0" name="Google Shape;360;p57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1" name="Google Shape;36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6275"/>
            <a:ext cx="8839198" cy="4113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8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7" name="Google Shape;367;p58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8" name="Google Shape;36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8075"/>
            <a:ext cx="8839200" cy="4007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9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4" name="Google Shape;374;p59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5" name="Google Shape;37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913" y="786275"/>
            <a:ext cx="7384182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0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1" name="Google Shape;381;p60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2" name="Google Shape;38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413" y="849750"/>
            <a:ext cx="7773179" cy="418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1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(ITEM)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8" name="Google Shape;388;p61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9" name="Google Shape;38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288" y="874775"/>
            <a:ext cx="5939433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(ITEM)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95" name="Google Shape;395;p62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6" name="Google Shape;39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063" y="841425"/>
            <a:ext cx="6073875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3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PREDEFINED ELEMENTS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2" name="Google Shape;402;p63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3" name="Google Shape;40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313" y="866425"/>
            <a:ext cx="6065386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4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PREDEFINED ELEMENTS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9" name="Google Shape;409;p64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0" name="Google Shape;41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400" y="858100"/>
            <a:ext cx="7517193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5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6" name="Google Shape;416;p65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7" name="Google Shape;41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488" y="786275"/>
            <a:ext cx="7381016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6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23" name="Google Shape;423;p66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4" name="Google Shape;42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63" y="841425"/>
            <a:ext cx="7590476" cy="418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7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HIERARCHY (FOLDER)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0" name="Google Shape;430;p67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31" name="Google Shape;43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950" y="841425"/>
            <a:ext cx="7408105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8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PREDEFINED ELEMENTS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7" name="Google Shape;437;p68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38" name="Google Shape;43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775" y="821011"/>
            <a:ext cx="7028455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9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PREDEFINED ELEMENTS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4" name="Google Shape;444;p69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5" name="Google Shape;44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650" y="866425"/>
            <a:ext cx="6680694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0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PREDEFINED ELEMENTS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51" name="Google Shape;451;p70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2" name="Google Shape;45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0925"/>
            <a:ext cx="8839202" cy="3321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1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DELETING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ELEMENTS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8" name="Google Shape;458;p71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9" name="Google Shape;45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25" y="786275"/>
            <a:ext cx="7872358" cy="418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2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DELETING ELEMENTS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5" name="Google Shape;465;p72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6" name="Google Shape;46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988" y="827950"/>
            <a:ext cx="7694022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3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TABULAR SECTION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2" name="Google Shape;472;p73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3" name="Google Shape;47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125" y="786275"/>
            <a:ext cx="4522896" cy="418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4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TABULAR SECTION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9" name="Google Shape;479;p74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0" name="Google Shape;48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000" y="819625"/>
            <a:ext cx="5630995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5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TABULAR SECTION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86" name="Google Shape;486;p75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7" name="Google Shape;48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300" y="786275"/>
            <a:ext cx="4568226" cy="418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6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TABULAR SECTION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93" name="Google Shape;493;p76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4" name="Google Shape;49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675" y="833075"/>
            <a:ext cx="4240642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7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TABULAR SECTION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0" name="Google Shape;500;p77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1" name="Google Shape;50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325" y="824750"/>
            <a:ext cx="4919340" cy="418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8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TABULAR SECTION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7" name="Google Shape;507;p78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8" name="Google Shape;50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538" y="846000"/>
            <a:ext cx="7433613" cy="418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9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TABULAR SECTION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4" name="Google Shape;514;p79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5" name="Google Shape;51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100" y="841425"/>
            <a:ext cx="7132432" cy="418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0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TABULAR SECTION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21" name="Google Shape;521;p80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2" name="Google Shape;52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138" y="899775"/>
            <a:ext cx="5621719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1"/>
          <p:cNvSpPr txBox="1"/>
          <p:nvPr/>
        </p:nvSpPr>
        <p:spPr>
          <a:xfrm>
            <a:off x="441450" y="196450"/>
            <a:ext cx="8261100" cy="3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NEXT WEEK PREVIEW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WHAT’S COMING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3800">
                <a:solidFill>
                  <a:schemeClr val="lt1"/>
                </a:solidFill>
              </a:rPr>
              <a:t>MORE 1C LABS</a:t>
            </a:r>
            <a:endParaRPr b="1" sz="3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28" name="Google Shape;528;p81"/>
          <p:cNvCxnSpPr/>
          <p:nvPr/>
        </p:nvCxnSpPr>
        <p:spPr>
          <a:xfrm>
            <a:off x="3097050" y="8175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