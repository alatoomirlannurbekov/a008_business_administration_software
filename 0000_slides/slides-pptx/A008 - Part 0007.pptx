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DM Sans Medium"/>
      <p:regular r:id="rId38"/>
      <p:bold r:id="rId39"/>
      <p:italic r:id="rId40"/>
      <p:boldItalic r:id="rId41"/>
    </p:embeddedFont>
    <p:embeddedFont>
      <p:font typeface="Caveat"/>
      <p:regular r:id="rId42"/>
      <p:bold r:id="rId43"/>
    </p:embeddedFont>
    <p:embeddedFont>
      <p:font typeface="Montserrat"/>
      <p:regular r:id="rId44"/>
      <p:bold r:id="rId45"/>
      <p:italic r:id="rId46"/>
      <p:boldItalic r:id="rId47"/>
    </p:embeddedFont>
    <p:embeddedFont>
      <p:font typeface="Merriweather"/>
      <p:regular r:id="rId48"/>
      <p:bold r:id="rId49"/>
      <p:italic r:id="rId50"/>
      <p:boldItalic r:id="rId51"/>
    </p:embeddedFont>
    <p:embeddedFont>
      <p:font typeface="DM Sans"/>
      <p:regular r:id="rId52"/>
      <p:bold r:id="rId53"/>
      <p:italic r:id="rId54"/>
      <p:boldItalic r:id="rId55"/>
    </p:embeddedFont>
    <p:embeddedFont>
      <p:font typeface="Open Sans Light"/>
      <p:regular r:id="rId56"/>
      <p:bold r:id="rId57"/>
      <p:italic r:id="rId58"/>
      <p:boldItalic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Medium-italic.fntdata"/><Relationship Id="rId42" Type="http://schemas.openxmlformats.org/officeDocument/2006/relationships/font" Target="fonts/Caveat-regular.fntdata"/><Relationship Id="rId41" Type="http://schemas.openxmlformats.org/officeDocument/2006/relationships/font" Target="fonts/DMSansMedium-boldItalic.fntdata"/><Relationship Id="rId44" Type="http://schemas.openxmlformats.org/officeDocument/2006/relationships/font" Target="fonts/Montserrat-regular.fntdata"/><Relationship Id="rId43" Type="http://schemas.openxmlformats.org/officeDocument/2006/relationships/font" Target="fonts/Caveat-bold.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erriweather-regular.fntdata"/><Relationship Id="rId47" Type="http://schemas.openxmlformats.org/officeDocument/2006/relationships/font" Target="fonts/Montserrat-boldItalic.fntdata"/><Relationship Id="rId49" Type="http://schemas.openxmlformats.org/officeDocument/2006/relationships/font" Target="fonts/Merriweather-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DMSansMedium-bold.fntdata"/><Relationship Id="rId38" Type="http://schemas.openxmlformats.org/officeDocument/2006/relationships/font" Target="fonts/DMSansMedium-regular.fntdata"/><Relationship Id="rId62" Type="http://schemas.openxmlformats.org/officeDocument/2006/relationships/font" Target="fonts/OpenSans-italic.fntdata"/><Relationship Id="rId61" Type="http://schemas.openxmlformats.org/officeDocument/2006/relationships/font" Target="fonts/OpenSans-bold.fntdata"/><Relationship Id="rId20" Type="http://schemas.openxmlformats.org/officeDocument/2006/relationships/slide" Target="slides/slide14.xml"/><Relationship Id="rId63"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boldItalic.fntdata"/><Relationship Id="rId50" Type="http://schemas.openxmlformats.org/officeDocument/2006/relationships/font" Target="fonts/Merriweather-italic.fntdata"/><Relationship Id="rId53" Type="http://schemas.openxmlformats.org/officeDocument/2006/relationships/font" Target="fonts/DMSans-bold.fntdata"/><Relationship Id="rId52" Type="http://schemas.openxmlformats.org/officeDocument/2006/relationships/font" Target="fonts/DMSans-regular.fntdata"/><Relationship Id="rId11" Type="http://schemas.openxmlformats.org/officeDocument/2006/relationships/slide" Target="slides/slide5.xml"/><Relationship Id="rId55" Type="http://schemas.openxmlformats.org/officeDocument/2006/relationships/font" Target="fonts/DMSans-boldItalic.fntdata"/><Relationship Id="rId10" Type="http://schemas.openxmlformats.org/officeDocument/2006/relationships/slide" Target="slides/slide4.xml"/><Relationship Id="rId54" Type="http://schemas.openxmlformats.org/officeDocument/2006/relationships/font" Target="fonts/DMSans-italic.fntdata"/><Relationship Id="rId13" Type="http://schemas.openxmlformats.org/officeDocument/2006/relationships/slide" Target="slides/slide7.xml"/><Relationship Id="rId57" Type="http://schemas.openxmlformats.org/officeDocument/2006/relationships/font" Target="fonts/OpenSansLight-bold.fntdata"/><Relationship Id="rId12" Type="http://schemas.openxmlformats.org/officeDocument/2006/relationships/slide" Target="slides/slide6.xml"/><Relationship Id="rId56" Type="http://schemas.openxmlformats.org/officeDocument/2006/relationships/font" Target="fonts/OpenSansLight-regular.fntdata"/><Relationship Id="rId15" Type="http://schemas.openxmlformats.org/officeDocument/2006/relationships/slide" Target="slides/slide9.xml"/><Relationship Id="rId59" Type="http://schemas.openxmlformats.org/officeDocument/2006/relationships/font" Target="fonts/OpenSansLight-boldItalic.fntdata"/><Relationship Id="rId14" Type="http://schemas.openxmlformats.org/officeDocument/2006/relationships/slide" Target="slides/slide8.xml"/><Relationship Id="rId58" Type="http://schemas.openxmlformats.org/officeDocument/2006/relationships/font" Target="fonts/OpenSansLigh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9476a149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9476a149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e11693f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be11693f5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2ab5490f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d2ab5490fd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2ab5490f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d2ab5490fd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2ab5490f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d2ab5490fd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2ab5490f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d2ab5490fd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2e27f69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d2e27f696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2e27f696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d2e27f696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2e83f28b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2e83f28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2e83f28b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2e83f28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2e83f28b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d2e83f28b1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2e83f28b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d2e83f28b1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2e83f28b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d2e83f28b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2e83f28b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d2e83f28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3a05b9bf8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d3a05b9bf8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3a05b9bf8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d3a05b9bf8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3a05b9bf8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d3a05b9bf8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3a05b9bf8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d3a05b9bf8_1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3a05b9bf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d3a05b9bf8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3a05b9bf8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d3a05b9bf8_1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d3a05b9bf8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d3a05b9bf8_1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3a05b9bf8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d3a05b9bf8_1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3a05b9bf8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d3a05b9bf8_1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3a05b9bf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d3a05b9bf8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3a05b9bf8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d3a05b9bf8_1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6d352fc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c6d352fc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3a05b9bf8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d3a05b9bf8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3a05b9bf8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d3a05b9bf8_1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3a05b9bf8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d3a05b9bf8_1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3a05b9bf8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d3a05b9bf8_1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3a05b9bf8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3d3a05b9bf8_1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61" name="Shape 261"/>
        <p:cNvGrpSpPr/>
        <p:nvPr/>
      </p:nvGrpSpPr>
      <p:grpSpPr>
        <a:xfrm>
          <a:off x="0" y="0"/>
          <a:ext cx="0" cy="0"/>
          <a:chOff x="0" y="0"/>
          <a:chExt cx="0" cy="0"/>
        </a:xfrm>
      </p:grpSpPr>
      <p:sp>
        <p:nvSpPr>
          <p:cNvPr id="262" name="Google Shape;262;p44"/>
          <p:cNvSpPr txBox="1"/>
          <p:nvPr>
            <p:ph type="ctrTitle"/>
          </p:nvPr>
        </p:nvSpPr>
        <p:spPr>
          <a:xfrm>
            <a:off x="284400" y="2325500"/>
            <a:ext cx="8575200" cy="114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latin typeface="Verdana"/>
                <a:ea typeface="Verdana"/>
                <a:cs typeface="Verdana"/>
                <a:sym typeface="Verdana"/>
              </a:rPr>
              <a:t>BUSINESS ADMINISTRATION </a:t>
            </a:r>
            <a:endParaRPr sz="3900">
              <a:latin typeface="Verdana"/>
              <a:ea typeface="Verdana"/>
              <a:cs typeface="Verdana"/>
              <a:sym typeface="Verdana"/>
            </a:endParaRPr>
          </a:p>
          <a:p>
            <a:pPr indent="0" lvl="0" marL="0" rtl="0" algn="ctr">
              <a:spcBef>
                <a:spcPts val="0"/>
              </a:spcBef>
              <a:spcAft>
                <a:spcPts val="0"/>
              </a:spcAft>
              <a:buNone/>
            </a:pPr>
            <a:r>
              <a:rPr lang="en" sz="3800">
                <a:solidFill>
                  <a:srgbClr val="9900FF"/>
                </a:solidFill>
                <a:latin typeface="Verdana"/>
                <a:ea typeface="Verdana"/>
                <a:cs typeface="Verdana"/>
                <a:sym typeface="Verdana"/>
              </a:rPr>
              <a:t>SOFTWARE</a:t>
            </a:r>
            <a:endParaRPr sz="3800">
              <a:solidFill>
                <a:srgbClr val="9900FF"/>
              </a:solidFill>
              <a:latin typeface="Verdana"/>
              <a:ea typeface="Verdana"/>
              <a:cs typeface="Verdana"/>
              <a:sym typeface="Verdana"/>
            </a:endParaRPr>
          </a:p>
        </p:txBody>
      </p:sp>
      <p:pic>
        <p:nvPicPr>
          <p:cNvPr id="263" name="Google Shape;263;p44" title="College_logo.png"/>
          <p:cNvPicPr preferRelativeResize="0"/>
          <p:nvPr/>
        </p:nvPicPr>
        <p:blipFill rotWithShape="1">
          <a:blip r:embed="rId3">
            <a:alphaModFix/>
          </a:blip>
          <a:srcRect b="0" l="0" r="0" t="0"/>
          <a:stretch/>
        </p:blipFill>
        <p:spPr>
          <a:xfrm>
            <a:off x="3947238" y="304225"/>
            <a:ext cx="1249524" cy="1249524"/>
          </a:xfrm>
          <a:prstGeom prst="rect">
            <a:avLst/>
          </a:prstGeom>
          <a:noFill/>
          <a:ln>
            <a:noFill/>
          </a:ln>
        </p:spPr>
      </p:pic>
      <p:sp>
        <p:nvSpPr>
          <p:cNvPr id="264" name="Google Shape;264;p44"/>
          <p:cNvSpPr txBox="1"/>
          <p:nvPr/>
        </p:nvSpPr>
        <p:spPr>
          <a:xfrm>
            <a:off x="2514600" y="1613596"/>
            <a:ext cx="41148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10B981"/>
                </a:solidFill>
                <a:latin typeface="Open Sans"/>
                <a:ea typeface="Open Sans"/>
                <a:cs typeface="Open Sans"/>
                <a:sym typeface="Open Sans"/>
              </a:rPr>
              <a:t>ALA-TOO INTERNATIONAL UNIVERSITY</a:t>
            </a:r>
            <a:endParaRPr/>
          </a:p>
        </p:txBody>
      </p:sp>
      <p:cxnSp>
        <p:nvCxnSpPr>
          <p:cNvPr id="265" name="Google Shape;265;p44"/>
          <p:cNvCxnSpPr/>
          <p:nvPr/>
        </p:nvCxnSpPr>
        <p:spPr>
          <a:xfrm flipH="1" rot="10800000">
            <a:off x="2336050" y="2115500"/>
            <a:ext cx="4612200" cy="300"/>
          </a:xfrm>
          <a:prstGeom prst="straightConnector1">
            <a:avLst/>
          </a:prstGeom>
          <a:noFill/>
          <a:ln cap="flat" cmpd="sng" w="38100">
            <a:solidFill>
              <a:schemeClr val="lt1"/>
            </a:solidFill>
            <a:prstDash val="solid"/>
            <a:round/>
            <a:headEnd len="med" w="med" type="none"/>
            <a:tailEnd len="med" w="med" type="none"/>
          </a:ln>
        </p:spPr>
      </p:cxnSp>
      <p:cxnSp>
        <p:nvCxnSpPr>
          <p:cNvPr id="266" name="Google Shape;266;p44"/>
          <p:cNvCxnSpPr/>
          <p:nvPr/>
        </p:nvCxnSpPr>
        <p:spPr>
          <a:xfrm>
            <a:off x="2994450" y="3630105"/>
            <a:ext cx="3155100" cy="8100"/>
          </a:xfrm>
          <a:prstGeom prst="straightConnector1">
            <a:avLst/>
          </a:prstGeom>
          <a:noFill/>
          <a:ln cap="flat" cmpd="sng" w="38100">
            <a:solidFill>
              <a:srgbClr val="A700FC"/>
            </a:solidFill>
            <a:prstDash val="solid"/>
            <a:round/>
            <a:headEnd len="med" w="med" type="none"/>
            <a:tailEnd len="med" w="med" type="none"/>
          </a:ln>
        </p:spPr>
      </p:cxnSp>
      <p:sp>
        <p:nvSpPr>
          <p:cNvPr id="267" name="Google Shape;267;p44"/>
          <p:cNvSpPr txBox="1"/>
          <p:nvPr/>
        </p:nvSpPr>
        <p:spPr>
          <a:xfrm>
            <a:off x="3175300" y="3925408"/>
            <a:ext cx="29337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 sz="1800" u="none" cap="none" strike="noStrike">
                <a:solidFill>
                  <a:srgbClr val="94A3B8"/>
                </a:solidFill>
                <a:latin typeface="Open Sans Light"/>
                <a:ea typeface="Open Sans Light"/>
                <a:cs typeface="Open Sans Light"/>
                <a:sym typeface="Open Sans Light"/>
              </a:rPr>
              <a:t>Spring Semeste</a:t>
            </a:r>
            <a:r>
              <a:rPr b="0" i="0" lang="en" sz="1800" u="none" cap="none" strike="noStrike">
                <a:solidFill>
                  <a:srgbClr val="94A3B8"/>
                </a:solidFill>
                <a:latin typeface="Open Sans Light"/>
                <a:ea typeface="Open Sans Light"/>
                <a:cs typeface="Open Sans Light"/>
                <a:sym typeface="Open Sans Light"/>
              </a:rPr>
              <a:t>r</a:t>
            </a:r>
            <a:r>
              <a:rPr b="0" i="0" lang="en" sz="1800" u="none" cap="none" strike="noStrike">
                <a:solidFill>
                  <a:srgbClr val="94A3B8"/>
                </a:solidFill>
                <a:latin typeface="Open Sans Light"/>
                <a:ea typeface="Open Sans Light"/>
                <a:cs typeface="Open Sans Light"/>
                <a:sym typeface="Open Sans Light"/>
              </a:rPr>
              <a:t> 2025-2026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71" name="Shape 271"/>
        <p:cNvGrpSpPr/>
        <p:nvPr/>
      </p:nvGrpSpPr>
      <p:grpSpPr>
        <a:xfrm>
          <a:off x="0" y="0"/>
          <a:ext cx="0" cy="0"/>
          <a:chOff x="0" y="0"/>
          <a:chExt cx="0" cy="0"/>
        </a:xfrm>
      </p:grpSpPr>
      <p:sp>
        <p:nvSpPr>
          <p:cNvPr id="272" name="Google Shape;272;p45"/>
          <p:cNvSpPr txBox="1"/>
          <p:nvPr/>
        </p:nvSpPr>
        <p:spPr>
          <a:xfrm>
            <a:off x="197375" y="1577950"/>
            <a:ext cx="8833800" cy="1854900"/>
          </a:xfrm>
          <a:prstGeom prst="rect">
            <a:avLst/>
          </a:prstGeom>
          <a:noFill/>
          <a:ln>
            <a:noFill/>
          </a:ln>
        </p:spPr>
        <p:txBody>
          <a:bodyPr anchorCtr="0" anchor="t" bIns="0" lIns="0" spcFirstLastPara="1" rIns="0" wrap="square" tIns="0">
            <a:spAutoFit/>
          </a:bodyPr>
          <a:lstStyle/>
          <a:p>
            <a:pPr indent="0" lvl="0" marL="0" marR="381000" rtl="0" algn="ctr">
              <a:lnSpc>
                <a:spcPct val="115000"/>
              </a:lnSpc>
              <a:spcBef>
                <a:spcPts val="1200"/>
              </a:spcBef>
              <a:spcAft>
                <a:spcPts val="0"/>
              </a:spcAft>
              <a:buSzPts val="1100"/>
              <a:buNone/>
            </a:pPr>
            <a:r>
              <a:rPr b="1" i="1" lang="en" sz="3500">
                <a:solidFill>
                  <a:schemeClr val="lt1"/>
                </a:solidFill>
                <a:latin typeface="Caveat"/>
                <a:ea typeface="Caveat"/>
                <a:cs typeface="Caveat"/>
                <a:sym typeface="Caveat"/>
              </a:rPr>
              <a:t>Mistakes are the portals of discovery</a:t>
            </a:r>
            <a:endParaRPr b="1" i="1" sz="3500">
              <a:solidFill>
                <a:schemeClr val="lt1"/>
              </a:solidFill>
              <a:latin typeface="Caveat"/>
              <a:ea typeface="Caveat"/>
              <a:cs typeface="Caveat"/>
              <a:sym typeface="Caveat"/>
            </a:endParaRPr>
          </a:p>
          <a:p>
            <a:pPr indent="0" lvl="0" marL="0" marR="381000" rtl="0" algn="r">
              <a:lnSpc>
                <a:spcPct val="115000"/>
              </a:lnSpc>
              <a:spcBef>
                <a:spcPts val="1200"/>
              </a:spcBef>
              <a:spcAft>
                <a:spcPts val="0"/>
              </a:spcAft>
              <a:buSzPts val="1100"/>
              <a:buNone/>
            </a:pPr>
            <a:r>
              <a:rPr b="1" i="1" lang="en" sz="3500">
                <a:solidFill>
                  <a:schemeClr val="lt1"/>
                </a:solidFill>
                <a:latin typeface="Caveat"/>
                <a:ea typeface="Caveat"/>
                <a:cs typeface="Caveat"/>
                <a:sym typeface="Caveat"/>
              </a:rPr>
              <a:t>— </a:t>
            </a:r>
            <a:r>
              <a:rPr b="1" i="1" lang="en" sz="3500">
                <a:solidFill>
                  <a:schemeClr val="lt1"/>
                </a:solidFill>
                <a:latin typeface="Caveat"/>
                <a:ea typeface="Caveat"/>
                <a:cs typeface="Caveat"/>
                <a:sym typeface="Caveat"/>
              </a:rPr>
              <a:t>James Joyce</a:t>
            </a:r>
            <a:endParaRPr b="1" i="1" sz="3500">
              <a:solidFill>
                <a:schemeClr val="lt1"/>
              </a:solidFill>
              <a:latin typeface="Caveat"/>
              <a:ea typeface="Caveat"/>
              <a:cs typeface="Caveat"/>
              <a:sym typeface="Caveat"/>
            </a:endParaRPr>
          </a:p>
          <a:p>
            <a:pPr indent="0" lvl="0" marL="0" marR="0" rtl="0" algn="ctr">
              <a:lnSpc>
                <a:spcPct val="159952"/>
              </a:lnSpc>
              <a:spcBef>
                <a:spcPts val="1200"/>
              </a:spcBef>
              <a:spcAft>
                <a:spcPts val="0"/>
              </a:spcAft>
              <a:buNone/>
            </a:pPr>
            <a:r>
              <a:t/>
            </a:r>
            <a:endParaRPr sz="2000">
              <a:solidFill>
                <a:srgbClr val="CBD5E1"/>
              </a:solidFill>
              <a:latin typeface="Open Sans"/>
              <a:ea typeface="Open Sans"/>
              <a:cs typeface="Open Sans"/>
              <a:sym typeface="Open Sans"/>
            </a:endParaRPr>
          </a:p>
        </p:txBody>
      </p:sp>
      <p:sp>
        <p:nvSpPr>
          <p:cNvPr id="273" name="Google Shape;273;p45"/>
          <p:cNvSpPr txBox="1"/>
          <p:nvPr/>
        </p:nvSpPr>
        <p:spPr>
          <a:xfrm>
            <a:off x="580525" y="1039150"/>
            <a:ext cx="8366100" cy="538800"/>
          </a:xfrm>
          <a:prstGeom prst="rect">
            <a:avLst/>
          </a:prstGeom>
          <a:noFill/>
          <a:ln>
            <a:noFill/>
          </a:ln>
        </p:spPr>
        <p:txBody>
          <a:bodyPr anchorCtr="0" anchor="t" bIns="0" lIns="0" spcFirstLastPara="1" rIns="0" wrap="square" tIns="0">
            <a:spAutoFit/>
          </a:bodyPr>
          <a:lstStyle/>
          <a:p>
            <a:pPr indent="457200" lvl="0" marL="3200400" marR="0" rtl="0" algn="l">
              <a:lnSpc>
                <a:spcPct val="159952"/>
              </a:lnSpc>
              <a:spcBef>
                <a:spcPts val="0"/>
              </a:spcBef>
              <a:spcAft>
                <a:spcPts val="0"/>
              </a:spcAft>
              <a:buNone/>
            </a:pPr>
            <a:r>
              <a:rPr b="1" i="1" lang="en" sz="3500">
                <a:solidFill>
                  <a:schemeClr val="lt1"/>
                </a:solidFill>
                <a:latin typeface="Caveat"/>
                <a:ea typeface="Caveat"/>
                <a:cs typeface="Caveat"/>
                <a:sym typeface="Caveat"/>
              </a:rPr>
              <a:t>***</a:t>
            </a:r>
            <a:endParaRPr sz="2000">
              <a:solidFill>
                <a:srgbClr val="CBD5E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77" name="Shape 277"/>
        <p:cNvGrpSpPr/>
        <p:nvPr/>
      </p:nvGrpSpPr>
      <p:grpSpPr>
        <a:xfrm>
          <a:off x="0" y="0"/>
          <a:ext cx="0" cy="0"/>
          <a:chOff x="0" y="0"/>
          <a:chExt cx="0" cy="0"/>
        </a:xfrm>
      </p:grpSpPr>
      <p:sp>
        <p:nvSpPr>
          <p:cNvPr id="278" name="Google Shape;278;p46"/>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279" name="Google Shape;279;p46"/>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280" name="Google Shape;280;p46"/>
          <p:cNvPicPr preferRelativeResize="0"/>
          <p:nvPr/>
        </p:nvPicPr>
        <p:blipFill>
          <a:blip r:embed="rId3">
            <a:alphaModFix/>
          </a:blip>
          <a:stretch>
            <a:fillRect/>
          </a:stretch>
        </p:blipFill>
        <p:spPr>
          <a:xfrm>
            <a:off x="441450" y="1517975"/>
            <a:ext cx="8261101" cy="210756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84" name="Shape 284"/>
        <p:cNvGrpSpPr/>
        <p:nvPr/>
      </p:nvGrpSpPr>
      <p:grpSpPr>
        <a:xfrm>
          <a:off x="0" y="0"/>
          <a:ext cx="0" cy="0"/>
          <a:chOff x="0" y="0"/>
          <a:chExt cx="0" cy="0"/>
        </a:xfrm>
      </p:grpSpPr>
      <p:sp>
        <p:nvSpPr>
          <p:cNvPr id="285" name="Google Shape;285;p47"/>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EARLY WARNING SIGNAL</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“SALES CYCLE LENGTH INCREASING” IS CORRECT</a:t>
            </a:r>
            <a:endParaRPr sz="1900">
              <a:solidFill>
                <a:schemeClr val="lt1"/>
              </a:solidFill>
            </a:endParaRPr>
          </a:p>
        </p:txBody>
      </p:sp>
      <p:cxnSp>
        <p:nvCxnSpPr>
          <p:cNvPr id="286" name="Google Shape;286;p47"/>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287" name="Google Shape;287;p47"/>
          <p:cNvSpPr txBox="1"/>
          <p:nvPr/>
        </p:nvSpPr>
        <p:spPr>
          <a:xfrm>
            <a:off x="518100" y="886400"/>
            <a:ext cx="81078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If deal time grows from 10 days to 20 days, the business should treat it as a warning sign and investigate immediately.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business wants to react before revenue falls, so it must watch a signal that shows trouble early. Sales cycle length increasing is useful because it means deals are taking longer to close. This can show that customers are hesitating, approvals are slower, or the sales process is becoming weaker. This is important because it gives managers time to act before the fall in revenue appears in the reports.</a:t>
            </a:r>
            <a:br>
              <a:rPr lang="en" sz="1900">
                <a:solidFill>
                  <a:schemeClr val="lt1"/>
                </a:solidFill>
              </a:rPr>
            </a:br>
            <a:br>
              <a:rPr lang="en" sz="1900">
                <a:solidFill>
                  <a:schemeClr val="lt1"/>
                </a:solidFill>
              </a:rPr>
            </a:br>
            <a:r>
              <a:rPr lang="en" sz="1900">
                <a:solidFill>
                  <a:schemeClr val="lt1"/>
                </a:solidFill>
              </a:rPr>
              <a:t>Sales cycle length increasing is the best answer because it helps the business see danger early and respond before revenue drops</a:t>
            </a:r>
            <a:endParaRPr sz="19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91" name="Shape 291"/>
        <p:cNvGrpSpPr/>
        <p:nvPr/>
      </p:nvGrpSpPr>
      <p:grpSpPr>
        <a:xfrm>
          <a:off x="0" y="0"/>
          <a:ext cx="0" cy="0"/>
          <a:chOff x="0" y="0"/>
          <a:chExt cx="0" cy="0"/>
        </a:xfrm>
      </p:grpSpPr>
      <p:sp>
        <p:nvSpPr>
          <p:cNvPr id="292" name="Google Shape;292;p48"/>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EARLY WARNING SIGNAL</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“SALES CYCLE LENGTH INCREASING” IS CORRECT</a:t>
            </a:r>
            <a:endParaRPr sz="1900">
              <a:solidFill>
                <a:schemeClr val="lt1"/>
              </a:solidFill>
            </a:endParaRPr>
          </a:p>
        </p:txBody>
      </p:sp>
      <p:cxnSp>
        <p:nvCxnSpPr>
          <p:cNvPr id="293" name="Google Shape;293;p48"/>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294" name="Google Shape;294;p48"/>
          <p:cNvSpPr txBox="1"/>
          <p:nvPr/>
        </p:nvSpPr>
        <p:spPr>
          <a:xfrm>
            <a:off x="347275" y="1405950"/>
            <a:ext cx="8599500" cy="2982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other options are weaker because they show results after the problem already happened:</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Customer churn already confirmed → the customer is already lost</a:t>
            </a:r>
            <a:endParaRPr sz="1900">
              <a:solidFill>
                <a:schemeClr val="lt1"/>
              </a:solidFill>
            </a:endParaRPr>
          </a:p>
          <a:p>
            <a:pPr indent="0" lvl="0" marL="457200" rtl="0" algn="l">
              <a:lnSpc>
                <a:spcPct val="115000"/>
              </a:lnSpc>
              <a:spcBef>
                <a:spcPts val="0"/>
              </a:spcBef>
              <a:spcAft>
                <a:spcPts val="0"/>
              </a:spcAft>
              <a:buNone/>
            </a:pPr>
            <a:r>
              <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Profit already reported → this is a late result</a:t>
            </a:r>
            <a:endParaRPr sz="1900">
              <a:solidFill>
                <a:schemeClr val="lt1"/>
              </a:solidFill>
            </a:endParaRPr>
          </a:p>
          <a:p>
            <a:pPr indent="0" lvl="0" marL="457200" rtl="0" algn="l">
              <a:lnSpc>
                <a:spcPct val="115000"/>
              </a:lnSpc>
              <a:spcBef>
                <a:spcPts val="0"/>
              </a:spcBef>
              <a:spcAft>
                <a:spcPts val="0"/>
              </a:spcAft>
              <a:buNone/>
            </a:pPr>
            <a:r>
              <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Revenue already booked → this shows past performance, not future risk</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98" name="Shape 298"/>
        <p:cNvGrpSpPr/>
        <p:nvPr/>
      </p:nvGrpSpPr>
      <p:grpSpPr>
        <a:xfrm>
          <a:off x="0" y="0"/>
          <a:ext cx="0" cy="0"/>
          <a:chOff x="0" y="0"/>
          <a:chExt cx="0" cy="0"/>
        </a:xfrm>
      </p:grpSpPr>
      <p:sp>
        <p:nvSpPr>
          <p:cNvPr id="299" name="Google Shape;299;p49"/>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300" name="Google Shape;300;p49"/>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301" name="Google Shape;301;p49"/>
          <p:cNvPicPr preferRelativeResize="0"/>
          <p:nvPr/>
        </p:nvPicPr>
        <p:blipFill>
          <a:blip r:embed="rId3">
            <a:alphaModFix/>
          </a:blip>
          <a:stretch>
            <a:fillRect/>
          </a:stretch>
        </p:blipFill>
        <p:spPr>
          <a:xfrm>
            <a:off x="273138" y="1225750"/>
            <a:ext cx="8597725" cy="2476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05" name="Shape 305"/>
        <p:cNvGrpSpPr/>
        <p:nvPr/>
      </p:nvGrpSpPr>
      <p:grpSpPr>
        <a:xfrm>
          <a:off x="0" y="0"/>
          <a:ext cx="0" cy="0"/>
          <a:chOff x="0" y="0"/>
          <a:chExt cx="0" cy="0"/>
        </a:xfrm>
      </p:grpSpPr>
      <p:sp>
        <p:nvSpPr>
          <p:cNvPr id="306" name="Google Shape;306;p50"/>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PLATFORM VS CONFIGURATION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ENGINE VS BUSINESS APP</a:t>
            </a:r>
            <a:endParaRPr sz="1900">
              <a:solidFill>
                <a:schemeClr val="lt1"/>
              </a:solidFill>
            </a:endParaRPr>
          </a:p>
        </p:txBody>
      </p:sp>
      <p:cxnSp>
        <p:nvCxnSpPr>
          <p:cNvPr id="307" name="Google Shape;307;p50"/>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08" name="Google Shape;308;p50"/>
          <p:cNvSpPr txBox="1"/>
          <p:nvPr/>
        </p:nvSpPr>
        <p:spPr>
          <a:xfrm>
            <a:off x="518100" y="1211250"/>
            <a:ext cx="8107800" cy="2982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In 1C the platform is the technical foundation. It is the system that lets developers develop, debug and run 1C applications. The official 1C documentation describes the platform as the environment that contains everything needed to create and run applications. The configuration is the actual business application built on that platform. In 1C’s own materials, a configuration is described as a finished application that contains the objects, rules, and code needed for business work such as accounting, ERP, sales, inventory or HR.</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12" name="Shape 312"/>
        <p:cNvGrpSpPr/>
        <p:nvPr/>
      </p:nvGrpSpPr>
      <p:grpSpPr>
        <a:xfrm>
          <a:off x="0" y="0"/>
          <a:ext cx="0" cy="0"/>
          <a:chOff x="0" y="0"/>
          <a:chExt cx="0" cy="0"/>
        </a:xfrm>
      </p:grpSpPr>
      <p:sp>
        <p:nvSpPr>
          <p:cNvPr id="313" name="Google Shape;313;p51"/>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a:t>
            </a:r>
            <a:r>
              <a:rPr b="1" lang="en" sz="2400">
                <a:solidFill>
                  <a:schemeClr val="lt1"/>
                </a:solidFill>
                <a:latin typeface="Montserrat"/>
                <a:ea typeface="Montserrat"/>
                <a:cs typeface="Montserrat"/>
                <a:sym typeface="Montserrat"/>
              </a:rPr>
              <a:t>CHOSEN </a:t>
            </a:r>
            <a:r>
              <a:rPr b="1" lang="en" sz="2400">
                <a:solidFill>
                  <a:schemeClr val="lt1"/>
                </a:solidFill>
                <a:latin typeface="Montserrat"/>
                <a:ea typeface="Montserrat"/>
                <a:cs typeface="Montserrat"/>
                <a:sym typeface="Montserrat"/>
              </a:rPr>
              <a:t>OPTION IS CORRECT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REAL TECHNICAL DIFFERENCE</a:t>
            </a:r>
            <a:endParaRPr sz="1900">
              <a:solidFill>
                <a:schemeClr val="lt1"/>
              </a:solidFill>
            </a:endParaRPr>
          </a:p>
        </p:txBody>
      </p:sp>
      <p:cxnSp>
        <p:nvCxnSpPr>
          <p:cNvPr id="314" name="Google Shape;314;p51"/>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15" name="Google Shape;315;p51"/>
          <p:cNvSpPr txBox="1"/>
          <p:nvPr/>
        </p:nvSpPr>
        <p:spPr>
          <a:xfrm>
            <a:off x="347275" y="1405950"/>
            <a:ext cx="8599500" cy="36558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Platform = engine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Configuration = business solution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Platform is the engine, configuration is the business application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is correct because it matches the official structure of 1C. The platform is the universal runtime and development base, while the configuration is the applied solution created for a business purpose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19" name="Shape 319"/>
        <p:cNvGrpSpPr/>
        <p:nvPr/>
      </p:nvGrpSpPr>
      <p:grpSpPr>
        <a:xfrm>
          <a:off x="0" y="0"/>
          <a:ext cx="0" cy="0"/>
          <a:chOff x="0" y="0"/>
          <a:chExt cx="0" cy="0"/>
        </a:xfrm>
      </p:grpSpPr>
      <p:sp>
        <p:nvSpPr>
          <p:cNvPr id="320" name="Google Shape;320;p52"/>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THE OTHER OPTIONS ARE WRONG</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INVALID CHOICES EXPLAINED</a:t>
            </a:r>
            <a:endParaRPr sz="1900">
              <a:solidFill>
                <a:schemeClr val="lt1"/>
              </a:solidFill>
            </a:endParaRPr>
          </a:p>
        </p:txBody>
      </p:sp>
      <p:cxnSp>
        <p:nvCxnSpPr>
          <p:cNvPr id="321" name="Google Shape;321;p52"/>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22" name="Google Shape;322;p52"/>
          <p:cNvSpPr txBox="1"/>
          <p:nvPr/>
        </p:nvSpPr>
        <p:spPr>
          <a:xfrm>
            <a:off x="347125" y="1701125"/>
            <a:ext cx="8599500" cy="231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b. Platform stores reports, configuration stores users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is not the real difference. The platform is not just a place for reports, and the configuration is not just a place for users. A configuration defines data, data processing, forms, printouts, and business logic. It is much broader than “users,” while the platform provides the technological support for all of this.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26" name="Shape 326"/>
        <p:cNvGrpSpPr/>
        <p:nvPr/>
      </p:nvGrpSpPr>
      <p:grpSpPr>
        <a:xfrm>
          <a:off x="0" y="0"/>
          <a:ext cx="0" cy="0"/>
          <a:chOff x="0" y="0"/>
          <a:chExt cx="0" cy="0"/>
        </a:xfrm>
      </p:grpSpPr>
      <p:sp>
        <p:nvSpPr>
          <p:cNvPr id="327" name="Google Shape;327;p53"/>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THE OTHER OPTIONS ARE WRONG</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INVALID CHOICES EXPLAINED</a:t>
            </a:r>
            <a:endParaRPr sz="1900">
              <a:solidFill>
                <a:schemeClr val="lt1"/>
              </a:solidFill>
            </a:endParaRPr>
          </a:p>
        </p:txBody>
      </p:sp>
      <p:cxnSp>
        <p:nvCxnSpPr>
          <p:cNvPr id="328" name="Google Shape;328;p53"/>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29" name="Google Shape;329;p53"/>
          <p:cNvSpPr txBox="1"/>
          <p:nvPr/>
        </p:nvSpPr>
        <p:spPr>
          <a:xfrm>
            <a:off x="347125" y="1611925"/>
            <a:ext cx="8599500" cy="2646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c. Platform is for accountants, configuration is for managers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is wrong because platform and configuration are not divided by job role. The platform is the technical environment, and the configuration is the application logic. Both can be used by many different business roles depending on the solution.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33" name="Shape 333"/>
        <p:cNvGrpSpPr/>
        <p:nvPr/>
      </p:nvGrpSpPr>
      <p:grpSpPr>
        <a:xfrm>
          <a:off x="0" y="0"/>
          <a:ext cx="0" cy="0"/>
          <a:chOff x="0" y="0"/>
          <a:chExt cx="0" cy="0"/>
        </a:xfrm>
      </p:grpSpPr>
      <p:sp>
        <p:nvSpPr>
          <p:cNvPr id="334" name="Google Shape;334;p54"/>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THE OTHER OPTIONS ARE WRONG</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INVALID CHOICES EXPLAINED</a:t>
            </a:r>
            <a:endParaRPr sz="1900">
              <a:solidFill>
                <a:schemeClr val="lt1"/>
              </a:solidFill>
            </a:endParaRPr>
          </a:p>
        </p:txBody>
      </p:sp>
      <p:cxnSp>
        <p:nvCxnSpPr>
          <p:cNvPr id="335" name="Google Shape;335;p54"/>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36" name="Google Shape;336;p54"/>
          <p:cNvSpPr txBox="1"/>
          <p:nvPr/>
        </p:nvSpPr>
        <p:spPr>
          <a:xfrm>
            <a:off x="347125" y="1493000"/>
            <a:ext cx="8599500" cy="2646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d. Platform handles forms, configuration handles servers only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is also wrong. The configuration is not “servers only.” In 1C, configuration includes business objects such as catalogs, documents, registers, forms, and processing logic. The platform supports and runs these elements, but the configuration defines the business structure itself.</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40" name="Shape 340"/>
        <p:cNvGrpSpPr/>
        <p:nvPr/>
      </p:nvGrpSpPr>
      <p:grpSpPr>
        <a:xfrm>
          <a:off x="0" y="0"/>
          <a:ext cx="0" cy="0"/>
          <a:chOff x="0" y="0"/>
          <a:chExt cx="0" cy="0"/>
        </a:xfrm>
      </p:grpSpPr>
      <p:sp>
        <p:nvSpPr>
          <p:cNvPr id="341" name="Google Shape;341;p55"/>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ANALOGY</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CAR AND DRIVER PURPOSE</a:t>
            </a:r>
            <a:endParaRPr sz="1900">
              <a:solidFill>
                <a:schemeClr val="lt1"/>
              </a:solidFill>
            </a:endParaRPr>
          </a:p>
        </p:txBody>
      </p:sp>
      <p:cxnSp>
        <p:nvCxnSpPr>
          <p:cNvPr id="342" name="Google Shape;342;p55"/>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43" name="Google Shape;343;p55"/>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Platform = the car engine, frame, and core system</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Configuration = the specific car built for a purpose, like taxi, ambulance, or delivery van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engine makes the vehicle work.</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final design decides what job it performs.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In the same way, the platform makes 1C run, while the configuration decides what business task it solves. This matches 1C’s explanation that the platform provides the environment and the configuration defines the application behavior and data structure</a:t>
            </a:r>
            <a:endParaRPr sz="19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47" name="Shape 347"/>
        <p:cNvGrpSpPr/>
        <p:nvPr/>
      </p:nvGrpSpPr>
      <p:grpSpPr>
        <a:xfrm>
          <a:off x="0" y="0"/>
          <a:ext cx="0" cy="0"/>
          <a:chOff x="0" y="0"/>
          <a:chExt cx="0" cy="0"/>
        </a:xfrm>
      </p:grpSpPr>
      <p:sp>
        <p:nvSpPr>
          <p:cNvPr id="348" name="Google Shape;348;p56"/>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349" name="Google Shape;349;p56"/>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350" name="Google Shape;350;p56"/>
          <p:cNvPicPr preferRelativeResize="0"/>
          <p:nvPr/>
        </p:nvPicPr>
        <p:blipFill>
          <a:blip r:embed="rId3">
            <a:alphaModFix/>
          </a:blip>
          <a:stretch>
            <a:fillRect/>
          </a:stretch>
        </p:blipFill>
        <p:spPr>
          <a:xfrm>
            <a:off x="590538" y="1495725"/>
            <a:ext cx="7962924" cy="2152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54" name="Shape 354"/>
        <p:cNvGrpSpPr/>
        <p:nvPr/>
      </p:nvGrpSpPr>
      <p:grpSpPr>
        <a:xfrm>
          <a:off x="0" y="0"/>
          <a:ext cx="0" cy="0"/>
          <a:chOff x="0" y="0"/>
          <a:chExt cx="0" cy="0"/>
        </a:xfrm>
      </p:grpSpPr>
      <p:sp>
        <p:nvSpPr>
          <p:cNvPr id="355" name="Google Shape;355;p57"/>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SHIPMENT RESULT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“STOCK IS 0 AND REVENUE IS $400” IS CORRECT</a:t>
            </a:r>
            <a:endParaRPr sz="1900">
              <a:solidFill>
                <a:schemeClr val="lt1"/>
              </a:solidFill>
            </a:endParaRPr>
          </a:p>
        </p:txBody>
      </p:sp>
      <p:cxnSp>
        <p:nvCxnSpPr>
          <p:cNvPr id="356" name="Google Shape;356;p57"/>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57" name="Google Shape;357;p57"/>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customer orders 5 units at $80 per unit.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inventory available is also 5 units.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means the business has exactly enough stock to fulfill the order completely.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After shipment, two things must happen in the system:</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First, inventory must decrease because the physical goods left the warehouse.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company had 5 units and shipped 5 units, so the remaining stock becomes: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5 - 5 = 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61" name="Shape 361"/>
        <p:cNvGrpSpPr/>
        <p:nvPr/>
      </p:nvGrpSpPr>
      <p:grpSpPr>
        <a:xfrm>
          <a:off x="0" y="0"/>
          <a:ext cx="0" cy="0"/>
          <a:chOff x="0" y="0"/>
          <a:chExt cx="0" cy="0"/>
        </a:xfrm>
      </p:grpSpPr>
      <p:sp>
        <p:nvSpPr>
          <p:cNvPr id="362" name="Google Shape;362;p58"/>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SHIPMENT RESULT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“STOCK IS 0 AND REVENUE IS $400” IS CORRECT</a:t>
            </a:r>
            <a:endParaRPr sz="1900">
              <a:solidFill>
                <a:schemeClr val="lt1"/>
              </a:solidFill>
            </a:endParaRPr>
          </a:p>
        </p:txBody>
      </p:sp>
      <p:cxnSp>
        <p:nvCxnSpPr>
          <p:cNvPr id="363" name="Google Shape;363;p58"/>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64" name="Google Shape;364;p58"/>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Second, revenue must reflect the value of what was sold.</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customer bought 5 units, and each unit costs $80, so total revenue is: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5 × 80 = $400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So the correct result is: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Stock is 0 and revenue is $400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answer is correct because it updates both sides properly: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physical side of the business: stock goes down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financial side of the business: revenue goes up</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 is exactly how a business syste</a:t>
            </a:r>
            <a:r>
              <a:rPr lang="en" sz="1900">
                <a:solidFill>
                  <a:schemeClr val="lt1"/>
                </a:solidFill>
              </a:rPr>
              <a:t>m</a:t>
            </a:r>
            <a:r>
              <a:rPr lang="en" sz="1900">
                <a:solidFill>
                  <a:schemeClr val="lt1"/>
                </a:solidFill>
              </a:rPr>
              <a:t> should behave after a completed shipment.</a:t>
            </a:r>
            <a:endParaRPr sz="19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68" name="Shape 368"/>
        <p:cNvGrpSpPr/>
        <p:nvPr/>
      </p:nvGrpSpPr>
      <p:grpSpPr>
        <a:xfrm>
          <a:off x="0" y="0"/>
          <a:ext cx="0" cy="0"/>
          <a:chOff x="0" y="0"/>
          <a:chExt cx="0" cy="0"/>
        </a:xfrm>
      </p:grpSpPr>
      <p:sp>
        <p:nvSpPr>
          <p:cNvPr id="369" name="Google Shape;369;p59"/>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SHIPMENT RESULT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THIS MATTERS IN BUSINESS</a:t>
            </a:r>
            <a:endParaRPr sz="1900">
              <a:solidFill>
                <a:schemeClr val="lt1"/>
              </a:solidFill>
            </a:endParaRPr>
          </a:p>
        </p:txBody>
      </p:sp>
      <p:cxnSp>
        <p:nvCxnSpPr>
          <p:cNvPr id="370" name="Google Shape;370;p59"/>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71" name="Google Shape;371;p59"/>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question is not really about arithmetic. It is about understanding how a business transaction affects different parts of the system at the same time.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One customer shipment creates multiple business effects:</a:t>
            </a:r>
            <a:endParaRPr sz="1900">
              <a:solidFill>
                <a:schemeClr val="lt1"/>
              </a:solidFill>
            </a:endParaRPr>
          </a:p>
          <a:p>
            <a:pPr indent="-349250" lvl="0" marL="1371600" rtl="0" algn="l">
              <a:lnSpc>
                <a:spcPct val="115000"/>
              </a:lnSpc>
              <a:spcBef>
                <a:spcPts val="0"/>
              </a:spcBef>
              <a:spcAft>
                <a:spcPts val="0"/>
              </a:spcAft>
              <a:buClr>
                <a:schemeClr val="lt1"/>
              </a:buClr>
              <a:buSzPts val="1900"/>
              <a:buChar char="●"/>
            </a:pPr>
            <a:r>
              <a:rPr lang="en" sz="1900">
                <a:solidFill>
                  <a:schemeClr val="lt1"/>
                </a:solidFill>
              </a:rPr>
              <a:t>inventory is reduced</a:t>
            </a:r>
            <a:endParaRPr sz="1900">
              <a:solidFill>
                <a:schemeClr val="lt1"/>
              </a:solidFill>
            </a:endParaRPr>
          </a:p>
          <a:p>
            <a:pPr indent="-349250" lvl="0" marL="1371600" rtl="0" algn="l">
              <a:lnSpc>
                <a:spcPct val="115000"/>
              </a:lnSpc>
              <a:spcBef>
                <a:spcPts val="0"/>
              </a:spcBef>
              <a:spcAft>
                <a:spcPts val="0"/>
              </a:spcAft>
              <a:buClr>
                <a:schemeClr val="lt1"/>
              </a:buClr>
              <a:buSzPts val="1900"/>
              <a:buChar char="●"/>
            </a:pPr>
            <a:r>
              <a:rPr lang="en" sz="1900">
                <a:solidFill>
                  <a:schemeClr val="lt1"/>
                </a:solidFill>
              </a:rPr>
              <a:t>the sale value is recorded</a:t>
            </a:r>
            <a:endParaRPr sz="1900">
              <a:solidFill>
                <a:schemeClr val="lt1"/>
              </a:solidFill>
            </a:endParaRPr>
          </a:p>
          <a:p>
            <a:pPr indent="-349250" lvl="0" marL="1371600" rtl="0" algn="l">
              <a:lnSpc>
                <a:spcPct val="115000"/>
              </a:lnSpc>
              <a:spcBef>
                <a:spcPts val="0"/>
              </a:spcBef>
              <a:spcAft>
                <a:spcPts val="0"/>
              </a:spcAft>
              <a:buClr>
                <a:schemeClr val="lt1"/>
              </a:buClr>
              <a:buSzPts val="1900"/>
              <a:buChar char="●"/>
            </a:pPr>
            <a:r>
              <a:rPr lang="en" sz="1900">
                <a:solidFill>
                  <a:schemeClr val="lt1"/>
                </a:solidFill>
              </a:rPr>
              <a:t>the transaction becomes part of operational and financial reporting</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good business software system must update these connected results correctly. If even one part is wrong, the company may get false stock data, false sales figures, or bad management decisions. That is why this answer is important: it shows correct thinking across both inventory control and sales accounting.</a:t>
            </a:r>
            <a:endParaRPr sz="19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75" name="Shape 375"/>
        <p:cNvGrpSpPr/>
        <p:nvPr/>
      </p:nvGrpSpPr>
      <p:grpSpPr>
        <a:xfrm>
          <a:off x="0" y="0"/>
          <a:ext cx="0" cy="0"/>
          <a:chOff x="0" y="0"/>
          <a:chExt cx="0" cy="0"/>
        </a:xfrm>
      </p:grpSpPr>
      <p:sp>
        <p:nvSpPr>
          <p:cNvPr id="376" name="Google Shape;376;p60"/>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SHIPMENT RESULT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ANALOGY</a:t>
            </a:r>
            <a:endParaRPr sz="1900">
              <a:solidFill>
                <a:schemeClr val="lt1"/>
              </a:solidFill>
            </a:endParaRPr>
          </a:p>
        </p:txBody>
      </p:sp>
      <p:cxnSp>
        <p:nvCxnSpPr>
          <p:cNvPr id="377" name="Google Shape;377;p60"/>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78" name="Google Shape;378;p60"/>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Imagine a small electronics shop has 5 keyboards on the shelf. Each keyboard costs $80. A customer comes in and buys all 5 keyboards. What happens next?</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the shelf becomes empty</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the shop earns $400</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the system should now show 0 keyboards left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I</a:t>
            </a:r>
            <a:r>
              <a:rPr lang="en" sz="1900">
                <a:solidFill>
                  <a:schemeClr val="lt1"/>
                </a:solidFill>
              </a:rPr>
              <a:t>t would make no sense to say:</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the shop still has 5 keyboards, or</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the shop earned $800, or</a:t>
            </a:r>
            <a:endParaRPr sz="1900">
              <a:solidFill>
                <a:schemeClr val="lt1"/>
              </a:solidFill>
            </a:endParaRPr>
          </a:p>
          <a:p>
            <a:pPr indent="-349250" lvl="0" marL="457200" rtl="0" algn="l">
              <a:lnSpc>
                <a:spcPct val="115000"/>
              </a:lnSpc>
              <a:spcBef>
                <a:spcPts val="0"/>
              </a:spcBef>
              <a:spcAft>
                <a:spcPts val="0"/>
              </a:spcAft>
              <a:buClr>
                <a:schemeClr val="lt1"/>
              </a:buClr>
              <a:buSzPts val="1900"/>
              <a:buChar char="●"/>
            </a:pPr>
            <a:r>
              <a:rPr lang="en" sz="1900">
                <a:solidFill>
                  <a:schemeClr val="lt1"/>
                </a:solidFill>
              </a:rPr>
              <a:t>only part of the stock was removed</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sale must match reality.So this question is really.</a:t>
            </a:r>
            <a:endParaRPr sz="19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82" name="Shape 382"/>
        <p:cNvGrpSpPr/>
        <p:nvPr/>
      </p:nvGrpSpPr>
      <p:grpSpPr>
        <a:xfrm>
          <a:off x="0" y="0"/>
          <a:ext cx="0" cy="0"/>
          <a:chOff x="0" y="0"/>
          <a:chExt cx="0" cy="0"/>
        </a:xfrm>
      </p:grpSpPr>
      <p:sp>
        <p:nvSpPr>
          <p:cNvPr id="383" name="Google Shape;383;p61"/>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384" name="Google Shape;384;p61"/>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385" name="Google Shape;385;p61"/>
          <p:cNvPicPr preferRelativeResize="0"/>
          <p:nvPr/>
        </p:nvPicPr>
        <p:blipFill>
          <a:blip r:embed="rId3">
            <a:alphaModFix/>
          </a:blip>
          <a:stretch>
            <a:fillRect/>
          </a:stretch>
        </p:blipFill>
        <p:spPr>
          <a:xfrm>
            <a:off x="135525" y="1461799"/>
            <a:ext cx="8872949" cy="2102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89" name="Shape 389"/>
        <p:cNvGrpSpPr/>
        <p:nvPr/>
      </p:nvGrpSpPr>
      <p:grpSpPr>
        <a:xfrm>
          <a:off x="0" y="0"/>
          <a:ext cx="0" cy="0"/>
          <a:chOff x="0" y="0"/>
          <a:chExt cx="0" cy="0"/>
        </a:xfrm>
      </p:grpSpPr>
      <p:sp>
        <p:nvSpPr>
          <p:cNvPr id="390" name="Google Shape;390;p62"/>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CONFLICTING BUSINESS TRUTH</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THIS IS THE CORRECT ANSWER</a:t>
            </a:r>
            <a:endParaRPr sz="1900">
              <a:solidFill>
                <a:schemeClr val="lt1"/>
              </a:solidFill>
            </a:endParaRPr>
          </a:p>
        </p:txBody>
      </p:sp>
      <p:cxnSp>
        <p:nvCxnSpPr>
          <p:cNvPr id="391" name="Google Shape;391;p62"/>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92" name="Google Shape;392;p62"/>
          <p:cNvSpPr txBox="1"/>
          <p:nvPr/>
        </p:nvSpPr>
        <p:spPr>
          <a:xfrm>
            <a:off x="347125" y="870800"/>
            <a:ext cx="8599500" cy="365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Sales records revenue when a deal is marked won. Accounting records revenue when an invoice is issued. At first this may look like a small difference in timing. In reality, it creates a much bigger management problem. The problem is that the company now has two different answers to the same question: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“When should this revenue be treated as real?”</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Sales says one thing.</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Accounting says another.</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This means the business no longer has one shared truth. Instead, it has competing versions of reality depending on which department or system a manager looks at. That is why the best answer is "conflicting business truth"</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96" name="Shape 396"/>
        <p:cNvGrpSpPr/>
        <p:nvPr/>
      </p:nvGrpSpPr>
      <p:grpSpPr>
        <a:xfrm>
          <a:off x="0" y="0"/>
          <a:ext cx="0" cy="0"/>
          <a:chOff x="0" y="0"/>
          <a:chExt cx="0" cy="0"/>
        </a:xfrm>
      </p:grpSpPr>
      <p:sp>
        <p:nvSpPr>
          <p:cNvPr id="397" name="Google Shape;397;p63"/>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CONFLICTING BUSINESS TRUTH</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WHAT MAKES THIS DANGEROUS</a:t>
            </a:r>
            <a:endParaRPr sz="1900">
              <a:solidFill>
                <a:schemeClr val="lt1"/>
              </a:solidFill>
            </a:endParaRPr>
          </a:p>
        </p:txBody>
      </p:sp>
      <p:cxnSp>
        <p:nvCxnSpPr>
          <p:cNvPr id="398" name="Google Shape;398;p63"/>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399" name="Google Shape;399;p63"/>
          <p:cNvSpPr txBox="1"/>
          <p:nvPr/>
        </p:nvSpPr>
        <p:spPr>
          <a:xfrm>
            <a:off x="347125" y="870800"/>
            <a:ext cx="8599500" cy="365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One department says : “The deal is real when the customer agrees.”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Another department says : “No, the deal becomes real only when the invoice is issued.”</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Both are talking about the same sale, but they are not using the same business rule. So the company has not just a reporting difference. It has a definition problem. And when a company has different definitions for the same event, managers start seeing different versions of the business. That is exactly what is meant by conflicting business truth.</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03" name="Shape 403"/>
        <p:cNvGrpSpPr/>
        <p:nvPr/>
      </p:nvGrpSpPr>
      <p:grpSpPr>
        <a:xfrm>
          <a:off x="0" y="0"/>
          <a:ext cx="0" cy="0"/>
          <a:chOff x="0" y="0"/>
          <a:chExt cx="0" cy="0"/>
        </a:xfrm>
      </p:grpSpPr>
      <p:sp>
        <p:nvSpPr>
          <p:cNvPr id="404" name="Google Shape;404;p64"/>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405" name="Google Shape;405;p64"/>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406" name="Google Shape;406;p64"/>
          <p:cNvPicPr preferRelativeResize="0"/>
          <p:nvPr/>
        </p:nvPicPr>
        <p:blipFill>
          <a:blip r:embed="rId3">
            <a:alphaModFix/>
          </a:blip>
          <a:stretch>
            <a:fillRect/>
          </a:stretch>
        </p:blipFill>
        <p:spPr>
          <a:xfrm>
            <a:off x="96100" y="1614663"/>
            <a:ext cx="8951800" cy="1914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10" name="Shape 410"/>
        <p:cNvGrpSpPr/>
        <p:nvPr/>
      </p:nvGrpSpPr>
      <p:grpSpPr>
        <a:xfrm>
          <a:off x="0" y="0"/>
          <a:ext cx="0" cy="0"/>
          <a:chOff x="0" y="0"/>
          <a:chExt cx="0" cy="0"/>
        </a:xfrm>
      </p:grpSpPr>
      <p:sp>
        <p:nvSpPr>
          <p:cNvPr id="411" name="Google Shape;411;p65"/>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TREND DIRECTION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“THE DIRECTION IS WORSENING” IS CORRECT</a:t>
            </a:r>
            <a:endParaRPr sz="1900">
              <a:solidFill>
                <a:schemeClr val="lt1"/>
              </a:solidFill>
            </a:endParaRPr>
          </a:p>
        </p:txBody>
      </p:sp>
      <p:cxnSp>
        <p:nvCxnSpPr>
          <p:cNvPr id="412" name="Google Shape;412;p65"/>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13" name="Google Shape;413;p65"/>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revenue values are:</a:t>
            </a:r>
            <a:endParaRPr sz="1900">
              <a:solidFill>
                <a:schemeClr val="lt1"/>
              </a:solidFill>
            </a:endParaRPr>
          </a:p>
          <a:p>
            <a:pPr indent="-349250" lvl="0" marL="3657600" rtl="0" algn="l">
              <a:lnSpc>
                <a:spcPct val="115000"/>
              </a:lnSpc>
              <a:spcBef>
                <a:spcPts val="0"/>
              </a:spcBef>
              <a:spcAft>
                <a:spcPts val="0"/>
              </a:spcAft>
              <a:buClr>
                <a:schemeClr val="lt1"/>
              </a:buClr>
              <a:buSzPts val="1900"/>
              <a:buChar char="●"/>
            </a:pPr>
            <a:r>
              <a:rPr lang="en" sz="1900">
                <a:solidFill>
                  <a:schemeClr val="lt1"/>
                </a:solidFill>
              </a:rPr>
              <a:t>Month 1 = 1.2M</a:t>
            </a:r>
            <a:endParaRPr sz="1900">
              <a:solidFill>
                <a:schemeClr val="lt1"/>
              </a:solidFill>
            </a:endParaRPr>
          </a:p>
          <a:p>
            <a:pPr indent="-349250" lvl="0" marL="3657600" rtl="0" algn="l">
              <a:lnSpc>
                <a:spcPct val="115000"/>
              </a:lnSpc>
              <a:spcBef>
                <a:spcPts val="0"/>
              </a:spcBef>
              <a:spcAft>
                <a:spcPts val="0"/>
              </a:spcAft>
              <a:buClr>
                <a:schemeClr val="lt1"/>
              </a:buClr>
              <a:buSzPts val="1900"/>
              <a:buChar char="●"/>
            </a:pPr>
            <a:r>
              <a:rPr lang="en" sz="1900">
                <a:solidFill>
                  <a:schemeClr val="lt1"/>
                </a:solidFill>
              </a:rPr>
              <a:t>Month 2 = 1.1M</a:t>
            </a:r>
            <a:endParaRPr sz="1900">
              <a:solidFill>
                <a:schemeClr val="lt1"/>
              </a:solidFill>
            </a:endParaRPr>
          </a:p>
          <a:p>
            <a:pPr indent="-349250" lvl="0" marL="3657600" rtl="0" algn="l">
              <a:lnSpc>
                <a:spcPct val="115000"/>
              </a:lnSpc>
              <a:spcBef>
                <a:spcPts val="0"/>
              </a:spcBef>
              <a:spcAft>
                <a:spcPts val="0"/>
              </a:spcAft>
              <a:buClr>
                <a:schemeClr val="lt1"/>
              </a:buClr>
              <a:buSzPts val="1900"/>
              <a:buChar char="●"/>
            </a:pPr>
            <a:r>
              <a:rPr lang="en" sz="1900">
                <a:solidFill>
                  <a:schemeClr val="lt1"/>
                </a:solidFill>
              </a:rPr>
              <a:t>Month 3 = 1.0M</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Each month, revenue goes down. So even though the numbers may still look large, the important thing is that the business is not moving upward or staying flat. It is moving downward month after month.</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 means the most important conclusion is not about the absolute size of revenue. It is about the trend. The trend shows deterioration.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 is why the best answer is c.) The direction is worsening</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17" name="Shape 417"/>
        <p:cNvGrpSpPr/>
        <p:nvPr/>
      </p:nvGrpSpPr>
      <p:grpSpPr>
        <a:xfrm>
          <a:off x="0" y="0"/>
          <a:ext cx="0" cy="0"/>
          <a:chOff x="0" y="0"/>
          <a:chExt cx="0" cy="0"/>
        </a:xfrm>
      </p:grpSpPr>
      <p:sp>
        <p:nvSpPr>
          <p:cNvPr id="418" name="Google Shape;418;p66"/>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TREND DIRECTION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WHAT THIS QUESTION IS REALLY TESTING</a:t>
            </a:r>
            <a:endParaRPr sz="1900">
              <a:solidFill>
                <a:schemeClr val="lt1"/>
              </a:solidFill>
            </a:endParaRPr>
          </a:p>
        </p:txBody>
      </p:sp>
      <p:cxnSp>
        <p:nvCxnSpPr>
          <p:cNvPr id="419" name="Google Shape;419;p66"/>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20" name="Google Shape;420;p66"/>
          <p:cNvSpPr txBox="1"/>
          <p:nvPr/>
        </p:nvSpPr>
        <p:spPr>
          <a:xfrm>
            <a:off x="347125" y="870800"/>
            <a:ext cx="8599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question is checking whether students can distinguish between:</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looking at one number by itself</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and looking at the direction of performance over time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Managers do not only ask: “Is revenue big?”</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They also ask:“Is revenue improving, staying flat, or getting worse?”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Here, the pattern is clear: 1.2 → 1.1 → 1.0 (tthat is a decline)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So the key idea is this: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business can still have “large” revenue and still be moving in the wrong direction.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24" name="Shape 424"/>
        <p:cNvGrpSpPr/>
        <p:nvPr/>
      </p:nvGrpSpPr>
      <p:grpSpPr>
        <a:xfrm>
          <a:off x="0" y="0"/>
          <a:ext cx="0" cy="0"/>
          <a:chOff x="0" y="0"/>
          <a:chExt cx="0" cy="0"/>
        </a:xfrm>
      </p:grpSpPr>
      <p:sp>
        <p:nvSpPr>
          <p:cNvPr id="425" name="Google Shape;425;p67"/>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TREND DIRECTION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ANALOGY</a:t>
            </a:r>
            <a:endParaRPr sz="1900">
              <a:solidFill>
                <a:schemeClr val="lt1"/>
              </a:solidFill>
            </a:endParaRPr>
          </a:p>
        </p:txBody>
      </p:sp>
      <p:cxnSp>
        <p:nvCxnSpPr>
          <p:cNvPr id="426" name="Google Shape;426;p67"/>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27" name="Google Shape;427;p67"/>
          <p:cNvSpPr txBox="1"/>
          <p:nvPr/>
        </p:nvSpPr>
        <p:spPr>
          <a:xfrm>
            <a:off x="347125" y="870800"/>
            <a:ext cx="8599500" cy="4328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Imagine a student gets these marks:</a:t>
            </a:r>
            <a:endParaRPr sz="1900">
              <a:solidFill>
                <a:schemeClr val="lt1"/>
              </a:solidFill>
            </a:endParaRPr>
          </a:p>
          <a:p>
            <a:pPr indent="-349250" lvl="0" marL="4114800" rtl="0" algn="l">
              <a:lnSpc>
                <a:spcPct val="115000"/>
              </a:lnSpc>
              <a:spcBef>
                <a:spcPts val="0"/>
              </a:spcBef>
              <a:spcAft>
                <a:spcPts val="0"/>
              </a:spcAft>
              <a:buClr>
                <a:schemeClr val="lt1"/>
              </a:buClr>
              <a:buSzPts val="1900"/>
              <a:buChar char="●"/>
            </a:pPr>
            <a:r>
              <a:rPr lang="en" sz="1900">
                <a:solidFill>
                  <a:schemeClr val="lt1"/>
                </a:solidFill>
              </a:rPr>
              <a:t>85</a:t>
            </a:r>
            <a:endParaRPr sz="1900">
              <a:solidFill>
                <a:schemeClr val="lt1"/>
              </a:solidFill>
            </a:endParaRPr>
          </a:p>
          <a:p>
            <a:pPr indent="-349250" lvl="0" marL="4114800" rtl="0" algn="l">
              <a:lnSpc>
                <a:spcPct val="115000"/>
              </a:lnSpc>
              <a:spcBef>
                <a:spcPts val="0"/>
              </a:spcBef>
              <a:spcAft>
                <a:spcPts val="0"/>
              </a:spcAft>
              <a:buClr>
                <a:schemeClr val="lt1"/>
              </a:buClr>
              <a:buSzPts val="1900"/>
              <a:buChar char="●"/>
            </a:pPr>
            <a:r>
              <a:rPr lang="en" sz="1900">
                <a:solidFill>
                  <a:schemeClr val="lt1"/>
                </a:solidFill>
              </a:rPr>
              <a:t>78</a:t>
            </a:r>
            <a:endParaRPr sz="1900">
              <a:solidFill>
                <a:schemeClr val="lt1"/>
              </a:solidFill>
            </a:endParaRPr>
          </a:p>
          <a:p>
            <a:pPr indent="-349250" lvl="0" marL="4114800" rtl="0" algn="l">
              <a:lnSpc>
                <a:spcPct val="115000"/>
              </a:lnSpc>
              <a:spcBef>
                <a:spcPts val="0"/>
              </a:spcBef>
              <a:spcAft>
                <a:spcPts val="0"/>
              </a:spcAft>
              <a:buClr>
                <a:schemeClr val="lt1"/>
              </a:buClr>
              <a:buSzPts val="1900"/>
              <a:buChar char="●"/>
            </a:pPr>
            <a:r>
              <a:rPr lang="en" sz="1900">
                <a:solidFill>
                  <a:schemeClr val="lt1"/>
                </a:solidFill>
              </a:rPr>
              <a:t>70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Those marks are not all terrible. But the teacher should immediately notice the pattern: the student is going down each time.</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main conclusion is not, “70 is still not zero”</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main conclusion is “performance is dropping”</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This revenue question works in the same way.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numbers may still look respectable, but the direction is clearly negative.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31" name="Shape 431"/>
        <p:cNvGrpSpPr/>
        <p:nvPr/>
      </p:nvGrpSpPr>
      <p:grpSpPr>
        <a:xfrm>
          <a:off x="0" y="0"/>
          <a:ext cx="0" cy="0"/>
          <a:chOff x="0" y="0"/>
          <a:chExt cx="0" cy="0"/>
        </a:xfrm>
      </p:grpSpPr>
      <p:sp>
        <p:nvSpPr>
          <p:cNvPr id="432" name="Google Shape;432;p68"/>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MOST COMMON MISTAKES </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433" name="Google Shape;433;p68"/>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434" name="Google Shape;434;p68"/>
          <p:cNvPicPr preferRelativeResize="0"/>
          <p:nvPr/>
        </p:nvPicPr>
        <p:blipFill>
          <a:blip r:embed="rId3">
            <a:alphaModFix/>
          </a:blip>
          <a:stretch>
            <a:fillRect/>
          </a:stretch>
        </p:blipFill>
        <p:spPr>
          <a:xfrm>
            <a:off x="283288" y="1482975"/>
            <a:ext cx="8577425" cy="2177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38" name="Shape 438"/>
        <p:cNvGrpSpPr/>
        <p:nvPr/>
      </p:nvGrpSpPr>
      <p:grpSpPr>
        <a:xfrm>
          <a:off x="0" y="0"/>
          <a:ext cx="0" cy="0"/>
          <a:chOff x="0" y="0"/>
          <a:chExt cx="0" cy="0"/>
        </a:xfrm>
      </p:grpSpPr>
      <p:sp>
        <p:nvSpPr>
          <p:cNvPr id="439" name="Google Shape;439;p69"/>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OR CRM</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a:t>
            </a:r>
            <a:endParaRPr sz="1900">
              <a:solidFill>
                <a:schemeClr val="lt1"/>
              </a:solidFill>
            </a:endParaRPr>
          </a:p>
        </p:txBody>
      </p:sp>
      <p:cxnSp>
        <p:nvCxnSpPr>
          <p:cNvPr id="440" name="Google Shape;440;p69"/>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41" name="Google Shape;441;p69"/>
          <p:cNvSpPr txBox="1"/>
          <p:nvPr/>
        </p:nvSpPr>
        <p:spPr>
          <a:xfrm>
            <a:off x="579750" y="820000"/>
            <a:ext cx="7984500" cy="3992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This question is really asking:</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Which metric comes naturally from the system that runs internal business operations?</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answer is inventory movement because inventory belongs to the operational side of the business. When stock:</a:t>
            </a:r>
            <a:endParaRPr sz="1900">
              <a:solidFill>
                <a:schemeClr val="lt1"/>
              </a:solidFill>
            </a:endParaRPr>
          </a:p>
          <a:p>
            <a:pPr indent="-349250" lvl="0" marL="1828800" rtl="0" algn="l">
              <a:lnSpc>
                <a:spcPct val="115000"/>
              </a:lnSpc>
              <a:spcBef>
                <a:spcPts val="0"/>
              </a:spcBef>
              <a:spcAft>
                <a:spcPts val="0"/>
              </a:spcAft>
              <a:buClr>
                <a:schemeClr val="lt1"/>
              </a:buClr>
              <a:buSzPts val="1900"/>
              <a:buChar char="●"/>
            </a:pPr>
            <a:r>
              <a:rPr lang="en" sz="1900">
                <a:solidFill>
                  <a:schemeClr val="lt1"/>
                </a:solidFill>
              </a:rPr>
              <a:t>enters the warehouse</a:t>
            </a:r>
            <a:endParaRPr sz="1900">
              <a:solidFill>
                <a:schemeClr val="lt1"/>
              </a:solidFill>
            </a:endParaRPr>
          </a:p>
          <a:p>
            <a:pPr indent="-349250" lvl="0" marL="1828800" rtl="0" algn="l">
              <a:lnSpc>
                <a:spcPct val="115000"/>
              </a:lnSpc>
              <a:spcBef>
                <a:spcPts val="0"/>
              </a:spcBef>
              <a:spcAft>
                <a:spcPts val="0"/>
              </a:spcAft>
              <a:buClr>
                <a:schemeClr val="lt1"/>
              </a:buClr>
              <a:buSzPts val="1900"/>
              <a:buChar char="●"/>
            </a:pPr>
            <a:r>
              <a:rPr lang="en" sz="1900">
                <a:solidFill>
                  <a:schemeClr val="lt1"/>
                </a:solidFill>
              </a:rPr>
              <a:t>moves from one location to another</a:t>
            </a:r>
            <a:endParaRPr sz="1900">
              <a:solidFill>
                <a:schemeClr val="lt1"/>
              </a:solidFill>
            </a:endParaRPr>
          </a:p>
          <a:p>
            <a:pPr indent="-349250" lvl="0" marL="1828800" rtl="0" algn="l">
              <a:lnSpc>
                <a:spcPct val="115000"/>
              </a:lnSpc>
              <a:spcBef>
                <a:spcPts val="0"/>
              </a:spcBef>
              <a:spcAft>
                <a:spcPts val="0"/>
              </a:spcAft>
              <a:buClr>
                <a:schemeClr val="lt1"/>
              </a:buClr>
              <a:buSzPts val="1900"/>
              <a:buChar char="●"/>
            </a:pPr>
            <a:r>
              <a:rPr lang="en" sz="1900">
                <a:solidFill>
                  <a:schemeClr val="lt1"/>
                </a:solidFill>
              </a:rPr>
              <a:t>is reserved for an order</a:t>
            </a:r>
            <a:endParaRPr sz="1900">
              <a:solidFill>
                <a:schemeClr val="lt1"/>
              </a:solidFill>
            </a:endParaRPr>
          </a:p>
          <a:p>
            <a:pPr indent="-349250" lvl="0" marL="1828800" rtl="0" algn="l">
              <a:lnSpc>
                <a:spcPct val="115000"/>
              </a:lnSpc>
              <a:spcBef>
                <a:spcPts val="0"/>
              </a:spcBef>
              <a:spcAft>
                <a:spcPts val="0"/>
              </a:spcAft>
              <a:buClr>
                <a:schemeClr val="lt1"/>
              </a:buClr>
              <a:buSzPts val="1900"/>
              <a:buChar char="●"/>
            </a:pPr>
            <a:r>
              <a:rPr lang="en" sz="1900">
                <a:solidFill>
                  <a:schemeClr val="lt1"/>
                </a:solidFill>
              </a:rPr>
              <a:t>is shipped to a customer</a:t>
            </a:r>
            <a:endParaRPr sz="1900">
              <a:solidFill>
                <a:schemeClr val="lt1"/>
              </a:solidFill>
            </a:endParaRPr>
          </a:p>
          <a:p>
            <a:pPr indent="-349250" lvl="0" marL="1828800" rtl="0" algn="l">
              <a:lnSpc>
                <a:spcPct val="115000"/>
              </a:lnSpc>
              <a:spcBef>
                <a:spcPts val="0"/>
              </a:spcBef>
              <a:spcAft>
                <a:spcPts val="0"/>
              </a:spcAft>
              <a:buClr>
                <a:schemeClr val="lt1"/>
              </a:buClr>
              <a:buSzPts val="1900"/>
              <a:buChar char="●"/>
            </a:pPr>
            <a:r>
              <a:rPr lang="en" sz="1900">
                <a:solidFill>
                  <a:schemeClr val="lt1"/>
                </a:solidFill>
              </a:rPr>
              <a:t>is adjusted after a count</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system that usually records this is ERP</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45" name="Shape 445"/>
        <p:cNvGrpSpPr/>
        <p:nvPr/>
      </p:nvGrpSpPr>
      <p:grpSpPr>
        <a:xfrm>
          <a:off x="0" y="0"/>
          <a:ext cx="0" cy="0"/>
          <a:chOff x="0" y="0"/>
          <a:chExt cx="0" cy="0"/>
        </a:xfrm>
      </p:grpSpPr>
      <p:sp>
        <p:nvSpPr>
          <p:cNvPr id="446" name="Google Shape;446;p70"/>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OR CRM</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a:t>
            </a:r>
            <a:endParaRPr sz="1900">
              <a:solidFill>
                <a:schemeClr val="lt1"/>
              </a:solidFill>
            </a:endParaRPr>
          </a:p>
        </p:txBody>
      </p:sp>
      <p:cxnSp>
        <p:nvCxnSpPr>
          <p:cNvPr id="447" name="Google Shape;447;p70"/>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48" name="Google Shape;448;p70"/>
          <p:cNvSpPr txBox="1"/>
          <p:nvPr/>
        </p:nvSpPr>
        <p:spPr>
          <a:xfrm>
            <a:off x="246725" y="820000"/>
            <a:ext cx="8700000" cy="3992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Because ERP is designed to manage the company’s internal resources and process flow:</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inventory</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purchasing</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warehouse operations</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production</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orders</a:t>
            </a:r>
            <a:endParaRPr sz="1900">
              <a:solidFill>
                <a:schemeClr val="lt1"/>
              </a:solidFill>
            </a:endParaRPr>
          </a:p>
          <a:p>
            <a:pPr indent="-349250" lvl="0" marL="3200400" rtl="0" algn="l">
              <a:lnSpc>
                <a:spcPct val="115000"/>
              </a:lnSpc>
              <a:spcBef>
                <a:spcPts val="0"/>
              </a:spcBef>
              <a:spcAft>
                <a:spcPts val="0"/>
              </a:spcAft>
              <a:buClr>
                <a:schemeClr val="lt1"/>
              </a:buClr>
              <a:buSzPts val="1900"/>
              <a:buChar char="●"/>
            </a:pPr>
            <a:r>
              <a:rPr lang="en" sz="1900">
                <a:solidFill>
                  <a:schemeClr val="lt1"/>
                </a:solidFill>
              </a:rPr>
              <a:t>finance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So inventory movement is a natural ERP output because it reflects what is physically happening inside the business.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 is why the correct answer is: d. Inventory movement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52" name="Shape 452"/>
        <p:cNvGrpSpPr/>
        <p:nvPr/>
      </p:nvGrpSpPr>
      <p:grpSpPr>
        <a:xfrm>
          <a:off x="0" y="0"/>
          <a:ext cx="0" cy="0"/>
          <a:chOff x="0" y="0"/>
          <a:chExt cx="0" cy="0"/>
        </a:xfrm>
      </p:grpSpPr>
      <p:sp>
        <p:nvSpPr>
          <p:cNvPr id="453" name="Google Shape;453;p71"/>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INTERESTING IDEA</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THE QUESTION</a:t>
            </a:r>
            <a:endParaRPr sz="1900">
              <a:solidFill>
                <a:schemeClr val="lt1"/>
              </a:solidFill>
            </a:endParaRPr>
          </a:p>
        </p:txBody>
      </p:sp>
      <p:cxnSp>
        <p:nvCxnSpPr>
          <p:cNvPr id="454" name="Google Shape;454;p71"/>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pic>
        <p:nvPicPr>
          <p:cNvPr id="455" name="Google Shape;455;p71"/>
          <p:cNvPicPr preferRelativeResize="0"/>
          <p:nvPr/>
        </p:nvPicPr>
        <p:blipFill>
          <a:blip r:embed="rId3">
            <a:alphaModFix/>
          </a:blip>
          <a:stretch>
            <a:fillRect/>
          </a:stretch>
        </p:blipFill>
        <p:spPr>
          <a:xfrm>
            <a:off x="679600" y="1096825"/>
            <a:ext cx="7784800" cy="2949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59" name="Shape 459"/>
        <p:cNvGrpSpPr/>
        <p:nvPr/>
      </p:nvGrpSpPr>
      <p:grpSpPr>
        <a:xfrm>
          <a:off x="0" y="0"/>
          <a:ext cx="0" cy="0"/>
          <a:chOff x="0" y="0"/>
          <a:chExt cx="0" cy="0"/>
        </a:xfrm>
      </p:grpSpPr>
      <p:sp>
        <p:nvSpPr>
          <p:cNvPr id="460" name="Google Shape;460;p72"/>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DIGITAL PROCESS SUPPORT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“TO IMPROVE CONTROL AND CONSISTENCY” IS CORRECT</a:t>
            </a:r>
            <a:endParaRPr sz="1900">
              <a:solidFill>
                <a:schemeClr val="lt1"/>
              </a:solidFill>
            </a:endParaRPr>
          </a:p>
        </p:txBody>
      </p:sp>
      <p:cxnSp>
        <p:nvCxnSpPr>
          <p:cNvPr id="461" name="Google Shape;461;p72"/>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62" name="Google Shape;462;p72"/>
          <p:cNvSpPr txBox="1"/>
          <p:nvPr/>
        </p:nvSpPr>
        <p:spPr>
          <a:xfrm>
            <a:off x="579750" y="879475"/>
            <a:ext cx="7984500" cy="4328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Organizations use digital systems to support processes because business work must be carried out in a repeatable, visible, and controlled way.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When a process is handled only manually, different people may do the same task in different ways: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one employee may skip a step</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another may enter data differently</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another may forget approval rules</a:t>
            </a:r>
            <a:endParaRPr sz="1900">
              <a:solidFill>
                <a:schemeClr val="lt1"/>
              </a:solidFill>
            </a:endParaRPr>
          </a:p>
          <a:p>
            <a:pPr indent="-349250" lvl="0" marL="2286000" rtl="0" algn="l">
              <a:lnSpc>
                <a:spcPct val="115000"/>
              </a:lnSpc>
              <a:spcBef>
                <a:spcPts val="0"/>
              </a:spcBef>
              <a:spcAft>
                <a:spcPts val="0"/>
              </a:spcAft>
              <a:buClr>
                <a:schemeClr val="lt1"/>
              </a:buClr>
              <a:buSzPts val="1900"/>
              <a:buChar char="●"/>
            </a:pPr>
            <a:r>
              <a:rPr lang="en" sz="1900">
                <a:solidFill>
                  <a:schemeClr val="lt1"/>
                </a:solidFill>
              </a:rPr>
              <a:t>another may delay the handoff</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Very quickly, the process becomes inconsistent.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66" name="Shape 466"/>
        <p:cNvGrpSpPr/>
        <p:nvPr/>
      </p:nvGrpSpPr>
      <p:grpSpPr>
        <a:xfrm>
          <a:off x="0" y="0"/>
          <a:ext cx="0" cy="0"/>
          <a:chOff x="0" y="0"/>
          <a:chExt cx="0" cy="0"/>
        </a:xfrm>
      </p:grpSpPr>
      <p:sp>
        <p:nvSpPr>
          <p:cNvPr id="467" name="Google Shape;467;p73"/>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DIGITAL PROCESS SUPPORT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“TO IMPROVE CONTROL AND CONSISTENCY” IS CORRECT</a:t>
            </a:r>
            <a:endParaRPr sz="1900">
              <a:solidFill>
                <a:schemeClr val="lt1"/>
              </a:solidFill>
            </a:endParaRPr>
          </a:p>
        </p:txBody>
      </p:sp>
      <p:cxnSp>
        <p:nvCxnSpPr>
          <p:cNvPr id="468" name="Google Shape;468;p73"/>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69" name="Google Shape;469;p73"/>
          <p:cNvSpPr txBox="1"/>
          <p:nvPr/>
        </p:nvSpPr>
        <p:spPr>
          <a:xfrm>
            <a:off x="579750" y="879475"/>
            <a:ext cx="7984500" cy="3992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Digital systems help solve this problem by making the work more structured. They help the organization apply the same logic, the same sequence, and the same rules again and again.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 is why the best answer is: to improve control and consistency</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The word control matters because managers want to know that work is happening according to the required process. The word consistency matters because the same business action should not produce different results just because different people handled it. So digital systems are not there only to make work faster. They are there to make work more reliable and more manageable.</a:t>
            </a:r>
            <a:endParaRPr sz="19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73" name="Shape 473"/>
        <p:cNvGrpSpPr/>
        <p:nvPr/>
      </p:nvGrpSpPr>
      <p:grpSpPr>
        <a:xfrm>
          <a:off x="0" y="0"/>
          <a:ext cx="0" cy="0"/>
          <a:chOff x="0" y="0"/>
          <a:chExt cx="0" cy="0"/>
        </a:xfrm>
      </p:grpSpPr>
      <p:sp>
        <p:nvSpPr>
          <p:cNvPr id="474" name="Google Shape;474;p74"/>
          <p:cNvSpPr txBox="1"/>
          <p:nvPr/>
        </p:nvSpPr>
        <p:spPr>
          <a:xfrm>
            <a:off x="441450" y="117050"/>
            <a:ext cx="8261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DIGITAL PROCESS SUPPORT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ANALOGY</a:t>
            </a:r>
            <a:endParaRPr sz="1900">
              <a:solidFill>
                <a:schemeClr val="lt1"/>
              </a:solidFill>
            </a:endParaRPr>
          </a:p>
        </p:txBody>
      </p:sp>
      <p:cxnSp>
        <p:nvCxnSpPr>
          <p:cNvPr id="475" name="Google Shape;475;p74"/>
          <p:cNvCxnSpPr/>
          <p:nvPr/>
        </p:nvCxnSpPr>
        <p:spPr>
          <a:xfrm>
            <a:off x="3097050" y="725292"/>
            <a:ext cx="2949900" cy="0"/>
          </a:xfrm>
          <a:prstGeom prst="straightConnector1">
            <a:avLst/>
          </a:prstGeom>
          <a:noFill/>
          <a:ln cap="flat" cmpd="sng" w="76200">
            <a:solidFill>
              <a:schemeClr val="lt1"/>
            </a:solidFill>
            <a:prstDash val="solid"/>
            <a:round/>
            <a:headEnd len="med" w="med" type="none"/>
            <a:tailEnd len="med" w="med" type="none"/>
          </a:ln>
        </p:spPr>
      </p:cxnSp>
      <p:sp>
        <p:nvSpPr>
          <p:cNvPr id="476" name="Google Shape;476;p74"/>
          <p:cNvSpPr txBox="1"/>
          <p:nvPr/>
        </p:nvSpPr>
        <p:spPr>
          <a:xfrm>
            <a:off x="441450" y="1070575"/>
            <a:ext cx="8328300" cy="33195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Imagine a restaurant kitchen. If every cook decides to prepare the same dish in a completely different way, the restaurant has a problem. One plate is too salty, another is late, another is missing ingredients. Customers will not trust the restaurant. Now imagine the kitchen uses a standard recipe and a clear order system. Each cook still works, but the work is guided by the same process. That is what digital systems do in organizations. They do not remove all human work.</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They make sure human work happens inside a more controlled and consistent structure.</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