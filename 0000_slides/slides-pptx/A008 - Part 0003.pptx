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5"/>
    <p:sldMasterId id="214748369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y="5143500" cx="9144000"/>
  <p:notesSz cx="6858000" cy="9144000"/>
  <p:embeddedFontLst>
    <p:embeddedFont>
      <p:font typeface="DM Sans Medium"/>
      <p:regular r:id="rId59"/>
      <p:bold r:id="rId60"/>
      <p:italic r:id="rId61"/>
      <p:boldItalic r:id="rId62"/>
    </p:embeddedFont>
    <p:embeddedFont>
      <p:font typeface="Caveat"/>
      <p:regular r:id="rId63"/>
      <p:bold r:id="rId64"/>
    </p:embeddedFont>
    <p:embeddedFont>
      <p:font typeface="Montserrat"/>
      <p:regular r:id="rId65"/>
      <p:bold r:id="rId66"/>
      <p:italic r:id="rId67"/>
      <p:boldItalic r:id="rId68"/>
    </p:embeddedFont>
    <p:embeddedFont>
      <p:font typeface="Merriweather"/>
      <p:regular r:id="rId69"/>
      <p:bold r:id="rId70"/>
      <p:italic r:id="rId71"/>
      <p:boldItalic r:id="rId72"/>
    </p:embeddedFont>
    <p:embeddedFont>
      <p:font typeface="DM Sans"/>
      <p:regular r:id="rId73"/>
      <p:bold r:id="rId74"/>
      <p:italic r:id="rId75"/>
      <p:boldItalic r:id="rId76"/>
    </p:embeddedFont>
    <p:embeddedFont>
      <p:font typeface="Open Sans Light"/>
      <p:regular r:id="rId77"/>
      <p:bold r:id="rId78"/>
      <p:italic r:id="rId79"/>
      <p:boldItalic r:id="rId80"/>
    </p:embeddedFont>
    <p:embeddedFont>
      <p:font typeface="Open Sans"/>
      <p:regular r:id="rId81"/>
      <p:bold r:id="rId82"/>
      <p:italic r:id="rId83"/>
      <p:boldItalic r:id="rId8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729A03-0F05-493A-9CBE-E02CAA6703A6}">
  <a:tblStyle styleId="{95729A03-0F05-493A-9CBE-E02CAA6703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schemas.openxmlformats.org/officeDocument/2006/relationships/font" Target="fonts/OpenSans-boldItalic.fntdata"/><Relationship Id="rId83" Type="http://schemas.openxmlformats.org/officeDocument/2006/relationships/font" Target="fonts/OpenSans-italic.fntdata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schemas.openxmlformats.org/officeDocument/2006/relationships/font" Target="fonts/OpenSansLight-boldItalic.fntdata"/><Relationship Id="rId82" Type="http://schemas.openxmlformats.org/officeDocument/2006/relationships/font" Target="fonts/OpenSans-bold.fntdata"/><Relationship Id="rId81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DMSans-regular.fntdata"/><Relationship Id="rId72" Type="http://schemas.openxmlformats.org/officeDocument/2006/relationships/font" Target="fonts/Merriweather-boldItalic.fntdata"/><Relationship Id="rId31" Type="http://schemas.openxmlformats.org/officeDocument/2006/relationships/slide" Target="slides/slide24.xml"/><Relationship Id="rId75" Type="http://schemas.openxmlformats.org/officeDocument/2006/relationships/font" Target="fonts/DMSans-italic.fntdata"/><Relationship Id="rId30" Type="http://schemas.openxmlformats.org/officeDocument/2006/relationships/slide" Target="slides/slide23.xml"/><Relationship Id="rId74" Type="http://schemas.openxmlformats.org/officeDocument/2006/relationships/font" Target="fonts/DMSans-bold.fntdata"/><Relationship Id="rId33" Type="http://schemas.openxmlformats.org/officeDocument/2006/relationships/slide" Target="slides/slide26.xml"/><Relationship Id="rId77" Type="http://schemas.openxmlformats.org/officeDocument/2006/relationships/font" Target="fonts/OpenSansLight-regular.fntdata"/><Relationship Id="rId32" Type="http://schemas.openxmlformats.org/officeDocument/2006/relationships/slide" Target="slides/slide25.xml"/><Relationship Id="rId76" Type="http://schemas.openxmlformats.org/officeDocument/2006/relationships/font" Target="fonts/DMSans-boldItalic.fntdata"/><Relationship Id="rId35" Type="http://schemas.openxmlformats.org/officeDocument/2006/relationships/slide" Target="slides/slide28.xml"/><Relationship Id="rId79" Type="http://schemas.openxmlformats.org/officeDocument/2006/relationships/font" Target="fonts/OpenSansLight-italic.fntdata"/><Relationship Id="rId34" Type="http://schemas.openxmlformats.org/officeDocument/2006/relationships/slide" Target="slides/slide27.xml"/><Relationship Id="rId78" Type="http://schemas.openxmlformats.org/officeDocument/2006/relationships/font" Target="fonts/OpenSansLight-bold.fntdata"/><Relationship Id="rId71" Type="http://schemas.openxmlformats.org/officeDocument/2006/relationships/font" Target="fonts/Merriweather-italic.fntdata"/><Relationship Id="rId70" Type="http://schemas.openxmlformats.org/officeDocument/2006/relationships/font" Target="fonts/Merriweather-bold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DMSansMedium-boldItalic.fntdata"/><Relationship Id="rId61" Type="http://schemas.openxmlformats.org/officeDocument/2006/relationships/font" Target="fonts/DMSansMedium-italic.fntdata"/><Relationship Id="rId20" Type="http://schemas.openxmlformats.org/officeDocument/2006/relationships/slide" Target="slides/slide13.xml"/><Relationship Id="rId64" Type="http://schemas.openxmlformats.org/officeDocument/2006/relationships/font" Target="fonts/Caveat-bold.fntdata"/><Relationship Id="rId63" Type="http://schemas.openxmlformats.org/officeDocument/2006/relationships/font" Target="fonts/Caveat-regular.fntdata"/><Relationship Id="rId22" Type="http://schemas.openxmlformats.org/officeDocument/2006/relationships/slide" Target="slides/slide15.xml"/><Relationship Id="rId66" Type="http://schemas.openxmlformats.org/officeDocument/2006/relationships/font" Target="fonts/Montserrat-bold.fntdata"/><Relationship Id="rId21" Type="http://schemas.openxmlformats.org/officeDocument/2006/relationships/slide" Target="slides/slide14.xml"/><Relationship Id="rId65" Type="http://schemas.openxmlformats.org/officeDocument/2006/relationships/font" Target="fonts/Montserrat-regular.fntdata"/><Relationship Id="rId24" Type="http://schemas.openxmlformats.org/officeDocument/2006/relationships/slide" Target="slides/slide17.xml"/><Relationship Id="rId68" Type="http://schemas.openxmlformats.org/officeDocument/2006/relationships/font" Target="fonts/Montserrat-boldItalic.fntdata"/><Relationship Id="rId23" Type="http://schemas.openxmlformats.org/officeDocument/2006/relationships/slide" Target="slides/slide16.xml"/><Relationship Id="rId67" Type="http://schemas.openxmlformats.org/officeDocument/2006/relationships/font" Target="fonts/Montserrat-italic.fntdata"/><Relationship Id="rId60" Type="http://schemas.openxmlformats.org/officeDocument/2006/relationships/font" Target="fonts/DMSansMedium-bold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Merriweather-regular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font" Target="fonts/DMSansMedium-regular.fntdata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9476a149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9476a14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e11693f5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be11693f5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f7725b3ec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bf7725b3ec_0_2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88ee734f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c88ee734f3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88ee734f3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c88ee734f3_0_2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88ee734f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c88ee734f3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88ee734f3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c88ee734f3_0_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88ee734f3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c88ee734f3_0_2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c88ee734f3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c88ee734f3_0_3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88ee734f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c88ee734f3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c88ee734f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c88ee734f3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88ee734f3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c88ee734f3_0_3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c88ee734f3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c88ee734f3_0_3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c88ee734f3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c88ee734f3_0_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c88ee734f3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c88ee734f3_0_2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c88ee734f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c88ee734f3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c8ad523bd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c8ad523bd6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c8ad523bd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c8ad523bd6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c88ee734f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c88ee734f3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c8ad523bd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c8ad523bd6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c8ad523bd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c8ad523bd6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c8ad523bd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c8ad523bd6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8ad523bd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c8ad523bd6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88ee734f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c88ee734f3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c88ee734f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c88ee734f3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c88ee734f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c88ee734f3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c88ee734f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c88ee734f3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c88ee734f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c88ee734f3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c88ee734f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c88ee734f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c88ee734f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c88ee734f3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c8d9010fc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c8d9010fc2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c88ee734f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c88ee734f3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c8d9010fc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c8d9010fc2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c88ee734f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c88ee734f3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c8d9010fc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c8d9010fc2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c88ee734f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c88ee734f3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c88ee734f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c88ee734f3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c88ee734f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g3c88ee734f3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c88ee734f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c88ee734f3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c88ee734f3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c88ee734f3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c88ee734f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c88ee734f3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c88ee734f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g3c88ee734f3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c8d9010fc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c8d9010fc2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c8d9010fc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g3c8d9010fc2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c88ee734f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c88ee734f3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c88ee734f3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c88ee734f3_0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c8d9010fc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3c8d9010fc2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c88ee734f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g3c88ee734f3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c88ee734f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g3c88ee734f3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c88ee734f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c88ee734f3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be11693f55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g3be11693f55_0_4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2" name="Google Shape;222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3" name="Google Shape;253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3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ctrTitle"/>
          </p:nvPr>
        </p:nvSpPr>
        <p:spPr>
          <a:xfrm>
            <a:off x="284400" y="2325500"/>
            <a:ext cx="8575200" cy="11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Verdana"/>
                <a:ea typeface="Verdana"/>
                <a:cs typeface="Verdana"/>
                <a:sym typeface="Verdana"/>
              </a:rPr>
              <a:t>BUSINESS ADMINISTRATION </a:t>
            </a:r>
            <a:endParaRPr sz="3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9900FF"/>
                </a:solidFill>
                <a:latin typeface="Verdana"/>
                <a:ea typeface="Verdana"/>
                <a:cs typeface="Verdana"/>
                <a:sym typeface="Verdana"/>
              </a:rPr>
              <a:t>SOFTWARE</a:t>
            </a:r>
            <a:endParaRPr sz="3800">
              <a:solidFill>
                <a:srgbClr val="9900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3" name="Google Shape;263;p44" title="College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7238" y="304225"/>
            <a:ext cx="1249524" cy="124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4"/>
          <p:cNvSpPr txBox="1"/>
          <p:nvPr/>
        </p:nvSpPr>
        <p:spPr>
          <a:xfrm>
            <a:off x="2514600" y="1613596"/>
            <a:ext cx="411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ALA-TOO INTERNATIONAL UNIVERSITY</a:t>
            </a:r>
            <a:endParaRPr/>
          </a:p>
        </p:txBody>
      </p:sp>
      <p:cxnSp>
        <p:nvCxnSpPr>
          <p:cNvPr id="265" name="Google Shape;265;p44"/>
          <p:cNvCxnSpPr/>
          <p:nvPr/>
        </p:nvCxnSpPr>
        <p:spPr>
          <a:xfrm flipH="1" rot="10800000">
            <a:off x="2336050" y="2115500"/>
            <a:ext cx="4612200" cy="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44"/>
          <p:cNvCxnSpPr/>
          <p:nvPr/>
        </p:nvCxnSpPr>
        <p:spPr>
          <a:xfrm>
            <a:off x="2994450" y="3630105"/>
            <a:ext cx="3155100" cy="8100"/>
          </a:xfrm>
          <a:prstGeom prst="straightConnector1">
            <a:avLst/>
          </a:prstGeom>
          <a:noFill/>
          <a:ln cap="flat" cmpd="sng" w="38100">
            <a:solidFill>
              <a:srgbClr val="A700F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44"/>
          <p:cNvSpPr txBox="1"/>
          <p:nvPr/>
        </p:nvSpPr>
        <p:spPr>
          <a:xfrm>
            <a:off x="3175300" y="3925408"/>
            <a:ext cx="293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Spring Semeste</a:t>
            </a: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</a:t>
            </a: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2025-2026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/>
          <p:nvPr/>
        </p:nvSpPr>
        <p:spPr>
          <a:xfrm>
            <a:off x="0" y="1697400"/>
            <a:ext cx="9144000" cy="26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8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Without data, </a:t>
            </a:r>
            <a:endParaRPr b="1" i="1" sz="38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8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you’re just another person with an opinion.</a:t>
            </a:r>
            <a:endParaRPr b="1" i="1" sz="38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3810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2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— </a:t>
            </a:r>
            <a:r>
              <a:rPr b="1" i="1" lang="en" sz="32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W. Edwards Deming</a:t>
            </a:r>
            <a:endParaRPr b="1" i="1" sz="32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0" rtl="0" algn="ctr">
              <a:lnSpc>
                <a:spcPct val="15995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45"/>
          <p:cNvSpPr txBox="1"/>
          <p:nvPr/>
        </p:nvSpPr>
        <p:spPr>
          <a:xfrm>
            <a:off x="0" y="1039150"/>
            <a:ext cx="9144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**</a:t>
            </a: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*</a:t>
            </a:r>
            <a:endParaRPr sz="20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ANALYTICS &amp; DASHBOARDS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COURSE PROGRESSION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79" name="Google Shape;279;p46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46"/>
          <p:cNvSpPr txBox="1"/>
          <p:nvPr/>
        </p:nvSpPr>
        <p:spPr>
          <a:xfrm>
            <a:off x="1203600" y="1411250"/>
            <a:ext cx="6736800" cy="3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ERP records operations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CRM records customers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Analytics transforms system data into decision control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week: control through measurement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281" name="Google Shape;281;p46"/>
          <p:cNvSpPr txBox="1"/>
          <p:nvPr/>
        </p:nvSpPr>
        <p:spPr>
          <a:xfrm>
            <a:off x="2586475" y="947725"/>
            <a:ext cx="410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lt1"/>
                </a:solidFill>
              </a:rPr>
              <a:t>ERP → CRM → ANALYTICS</a:t>
            </a:r>
            <a:endParaRPr b="1" sz="2300">
              <a:solidFill>
                <a:schemeClr val="lt1"/>
              </a:solidFill>
            </a:endParaRPr>
          </a:p>
        </p:txBody>
      </p:sp>
      <p:pic>
        <p:nvPicPr>
          <p:cNvPr id="282" name="Google Shape;28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0338" y="2040975"/>
            <a:ext cx="2161075" cy="216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DATA PROBLEM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OVERLOAD AND COMPLEXITY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88" name="Google Shape;288;p47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47"/>
          <p:cNvSpPr txBox="1"/>
          <p:nvPr/>
        </p:nvSpPr>
        <p:spPr>
          <a:xfrm>
            <a:off x="1157675" y="2773525"/>
            <a:ext cx="67368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ERP and CRM systems generate millions of transactions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Managers CANNOT interpret raw operational logs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They need structured signals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290" name="Google Shape;29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1588" y="975550"/>
            <a:ext cx="2740825" cy="179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8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IS ANALYTICS?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FORMAL DEFINITION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96" name="Google Shape;296;p48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7" name="Google Shape;2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5580" y="1135300"/>
            <a:ext cx="2872850" cy="287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IS ANALYTICS?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FORMAL DEFINITION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03" name="Google Shape;303;p49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" name="Google Shape;304;p49"/>
          <p:cNvSpPr txBox="1"/>
          <p:nvPr/>
        </p:nvSpPr>
        <p:spPr>
          <a:xfrm>
            <a:off x="1203600" y="3030625"/>
            <a:ext cx="67368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Analytics is the structured transformation of operational data into measurable indicators that reduce uncertainty and support decision-making.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05" name="Google Shape;30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9784" y="884025"/>
            <a:ext cx="2084438" cy="2084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0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IS KPI?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FORMAL DEFINITION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11" name="Google Shape;311;p50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2" name="Google Shape;31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5580" y="1135300"/>
            <a:ext cx="2872850" cy="287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IS KPI?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FORMAL DEFINITION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18" name="Google Shape;318;p51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51"/>
          <p:cNvSpPr txBox="1"/>
          <p:nvPr/>
        </p:nvSpPr>
        <p:spPr>
          <a:xfrm>
            <a:off x="441450" y="2573208"/>
            <a:ext cx="8399100" cy="21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Key Performance Indicator (KPI) is a quantifiable metric that reflects how effectively an organization, department, or process is achieving a defined business objective. It is directly linked to strategy, has clearly defined measurement criteria, and includes performance thresholds that trigger evaluation or corrective action.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320" name="Google Shape;32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2450" y="906875"/>
            <a:ext cx="1488913" cy="1488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2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KPI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ANALOGY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26" name="Google Shape;326;p52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" name="Google Shape;327;p52"/>
          <p:cNvSpPr txBox="1"/>
          <p:nvPr/>
        </p:nvSpPr>
        <p:spPr>
          <a:xfrm>
            <a:off x="441450" y="880333"/>
            <a:ext cx="8399100" cy="3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When you drive, you do not monitor every engine component. You look at indicators such as speed, fuel level, or engine temperature. 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If the temperature rises above a safe limit, you take action.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If fuel is low, you refuel.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Similarly, managers do not monitor every transaction. They monitor KPIs such as revenue, conversion rate, or cost variance. When a KPI crosses a defined threshold, action is required. A KPI is not just a number. It is a signal that guides decisions.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3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LEADING KPIs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PREDICTING FUTURE PERFORMANCE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33" name="Google Shape;333;p53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4" name="Google Shape;33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613" y="972100"/>
            <a:ext cx="3352776" cy="3880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4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LEADING KPIs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PREDICTING FUTURE PERFORMANCE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40" name="Google Shape;340;p54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54"/>
          <p:cNvSpPr txBox="1"/>
          <p:nvPr/>
        </p:nvSpPr>
        <p:spPr>
          <a:xfrm>
            <a:off x="441450" y="880333"/>
            <a:ext cx="83991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Leading KPIs measure activities and trends that influence future outcomes.They act as early warning signals before financial results are visible. Leading KPIs are proactive.They allow intervention before damage occurs.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42" name="Google Shape;342;p54"/>
          <p:cNvSpPr txBox="1"/>
          <p:nvPr/>
        </p:nvSpPr>
        <p:spPr>
          <a:xfrm>
            <a:off x="441336" y="2008619"/>
            <a:ext cx="8399100" cy="28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Examples:</a:t>
            </a:r>
            <a:endParaRPr sz="19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800"/>
              <a:buChar char="➢"/>
            </a:pPr>
            <a:r>
              <a:rPr lang="en" sz="1900">
                <a:solidFill>
                  <a:schemeClr val="lt1"/>
                </a:solidFill>
              </a:rPr>
              <a:t>Conversion rate (declining conversion predicts revenue drop)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➢"/>
            </a:pPr>
            <a:r>
              <a:rPr lang="en" sz="1900">
                <a:solidFill>
                  <a:schemeClr val="lt1"/>
                </a:solidFill>
              </a:rPr>
              <a:t>Pipeline velocity (slower movement predicts delayed income)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➢"/>
            </a:pPr>
            <a:r>
              <a:rPr lang="en" sz="1900">
                <a:solidFill>
                  <a:schemeClr val="lt1"/>
                </a:solidFill>
              </a:rPr>
              <a:t>Customer engagement rate (low engagement predicts churn)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➢"/>
            </a:pPr>
            <a:r>
              <a:rPr lang="en" sz="1900">
                <a:solidFill>
                  <a:schemeClr val="lt1"/>
                </a:solidFill>
              </a:rPr>
              <a:t>Sales cycle length (increasing duration predicts slowdown)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5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LAGGING KPIs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CONFIRMING PAST RESULTS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48" name="Google Shape;348;p55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49" name="Google Shape;34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088" y="1180600"/>
            <a:ext cx="3603825" cy="36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6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LAGGING KPIs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CONFIRMING PAST RESULTS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55" name="Google Shape;355;p56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56"/>
          <p:cNvSpPr txBox="1"/>
          <p:nvPr/>
        </p:nvSpPr>
        <p:spPr>
          <a:xfrm>
            <a:off x="372450" y="788483"/>
            <a:ext cx="83991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Lagging KPIs measure outcomes that have already occurred.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They confirm whether business objectives were achieved. Lagging KPIs are reactive. They show results, but not necessarily the cause.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57" name="Google Shape;357;p56"/>
          <p:cNvSpPr txBox="1"/>
          <p:nvPr/>
        </p:nvSpPr>
        <p:spPr>
          <a:xfrm>
            <a:off x="372450" y="1877425"/>
            <a:ext cx="8702400" cy="25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Examples:</a:t>
            </a:r>
            <a:endParaRPr sz="1900">
              <a:solidFill>
                <a:schemeClr val="lt1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➢"/>
            </a:pPr>
            <a:r>
              <a:rPr lang="en" sz="1900">
                <a:solidFill>
                  <a:schemeClr val="lt1"/>
                </a:solidFill>
              </a:rPr>
              <a:t>Revenue (total money generated from sales before expenses)</a:t>
            </a:r>
            <a:endParaRPr sz="1900">
              <a:solidFill>
                <a:schemeClr val="lt1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➢"/>
            </a:pPr>
            <a:r>
              <a:rPr lang="en" sz="1900">
                <a:solidFill>
                  <a:schemeClr val="lt1"/>
                </a:solidFill>
              </a:rPr>
              <a:t>Gross profit (revenue minus the direct cost of producing goods or services)</a:t>
            </a:r>
            <a:endParaRPr sz="1900">
              <a:solidFill>
                <a:schemeClr val="lt1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➢"/>
            </a:pPr>
            <a:r>
              <a:rPr lang="en" sz="1900">
                <a:solidFill>
                  <a:schemeClr val="lt1"/>
                </a:solidFill>
              </a:rPr>
              <a:t>Net income (final profit after all expenses, taxes, and costs are deducted)</a:t>
            </a:r>
            <a:endParaRPr sz="1900">
              <a:solidFill>
                <a:schemeClr val="lt1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➢"/>
            </a:pPr>
            <a:r>
              <a:rPr lang="en" sz="1900">
                <a:solidFill>
                  <a:schemeClr val="lt1"/>
                </a:solidFill>
              </a:rPr>
              <a:t>Quarterly growth (</a:t>
            </a:r>
            <a:r>
              <a:rPr lang="en" sz="1900">
                <a:solidFill>
                  <a:schemeClr val="lt1"/>
                </a:solidFill>
              </a:rPr>
              <a:t>percentage</a:t>
            </a:r>
            <a:r>
              <a:rPr lang="en" sz="1900">
                <a:solidFill>
                  <a:schemeClr val="lt1"/>
                </a:solidFill>
              </a:rPr>
              <a:t> increase or decrease in performance compared to the previous quarter)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7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KPI TYPES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LEADING VS LAGGING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63" name="Google Shape;363;p57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57"/>
          <p:cNvSpPr txBox="1"/>
          <p:nvPr/>
        </p:nvSpPr>
        <p:spPr>
          <a:xfrm>
            <a:off x="1203600" y="966800"/>
            <a:ext cx="6736800" cy="25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Leading KPIs predict outcomes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Lagging KPIs confirm past results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365" name="Google Shape;36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699" y="1487125"/>
            <a:ext cx="1084600" cy="108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3950" y="3125525"/>
            <a:ext cx="1896100" cy="18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8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ANALOGY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VITAL SIGNS MODEL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72" name="Google Shape;372;p58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58"/>
          <p:cNvSpPr txBox="1"/>
          <p:nvPr/>
        </p:nvSpPr>
        <p:spPr>
          <a:xfrm>
            <a:off x="0" y="2487675"/>
            <a:ext cx="9144000" cy="2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Doctors monitor heart rate, not individual cells.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Managers monitor KPIs, 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NOT transactions.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(</a:t>
            </a:r>
            <a:r>
              <a:rPr lang="en" sz="1900">
                <a:solidFill>
                  <a:schemeClr val="lt1"/>
                </a:solidFill>
              </a:rPr>
              <a:t>Dashboards are business vital signs</a:t>
            </a:r>
            <a:r>
              <a:rPr lang="en" sz="1900">
                <a:solidFill>
                  <a:schemeClr val="lt1"/>
                </a:solidFill>
              </a:rPr>
              <a:t>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374" name="Google Shape;37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0400" y="884475"/>
            <a:ext cx="1603200" cy="160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9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TRANSFORMATION PIPELINE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FROM TRANSACTION TO ACTION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80" name="Google Shape;380;p59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59"/>
          <p:cNvSpPr txBox="1"/>
          <p:nvPr/>
        </p:nvSpPr>
        <p:spPr>
          <a:xfrm>
            <a:off x="441450" y="977250"/>
            <a:ext cx="8336100" cy="3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Business systems generate raw transactions such as orders, payments, invoices, and customer interactions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</a:rPr>
              <a:t>Transaction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Individual recorded event (one customer order worth $200)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→ Aggregation → Metric → KPI → Threshold → Decision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0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TRANSFORMATION PIPELINE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FROM TRANSACTION TO ACTION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87" name="Google Shape;387;p60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60"/>
          <p:cNvSpPr txBox="1"/>
          <p:nvPr/>
        </p:nvSpPr>
        <p:spPr>
          <a:xfrm>
            <a:off x="441450" y="755717"/>
            <a:ext cx="85053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</a:rPr>
              <a:t>Aggregation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Combining multiple transactions into summarized data (total daily sales)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</a:rPr>
              <a:t>Metric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Calculated measurement derived from aggregated data (average order value)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</a:rPr>
              <a:t>KPI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Strategic metric linked to a business objective (monthly revenue target achievement)</a:t>
            </a:r>
            <a:endParaRPr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1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TRANSFORMATION PIPELINE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FROM TRANSACTION TO ACTION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94" name="Google Shape;394;p61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" name="Google Shape;395;p61"/>
          <p:cNvSpPr txBox="1"/>
          <p:nvPr/>
        </p:nvSpPr>
        <p:spPr>
          <a:xfrm>
            <a:off x="353550" y="1449600"/>
            <a:ext cx="8436900" cy="30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</a:rPr>
              <a:t>Threshold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Defined performance limit that separates acceptable from unacceptable results (profit margin below 15%)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</a:rPr>
              <a:t>Decision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Management action taken when a KPI crosses its threshold 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( reduce costs, adjust pricing, review sales process)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RAW DATA VS METRIC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ADDING INTERPRETATION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01" name="Google Shape;401;p62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62"/>
          <p:cNvSpPr txBox="1"/>
          <p:nvPr/>
        </p:nvSpPr>
        <p:spPr>
          <a:xfrm>
            <a:off x="441450" y="842475"/>
            <a:ext cx="8377200" cy="3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Data by itself does not explain performance.Metrics give data meaning.  </a:t>
            </a:r>
            <a:r>
              <a:rPr lang="en" sz="1900">
                <a:solidFill>
                  <a:schemeClr val="lt1"/>
                </a:solidFill>
              </a:rPr>
              <a:t>Metrics transform events into performance signals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Raw Data: 10,000 orders (this tell us that the company processed 10,000 orders. That’s it.)</a:t>
            </a:r>
            <a:br>
              <a:rPr lang="en" sz="1900">
                <a:solidFill>
                  <a:schemeClr val="lt1"/>
                </a:solidFill>
              </a:rPr>
            </a:b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Is that good or bad?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Were they delivered on time?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Were they profitable?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Did customers wait too long?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3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RAW DATA VS METRIC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ADDING INTERPRETATION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08" name="Google Shape;408;p63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63"/>
          <p:cNvSpPr txBox="1"/>
          <p:nvPr/>
        </p:nvSpPr>
        <p:spPr>
          <a:xfrm>
            <a:off x="441450" y="1353900"/>
            <a:ext cx="8377200" cy="27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Metric: Average fulfillment time = 3.2 days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Fulfillment time measures: the time between when a customer places an order and when the order is delivered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With this metric we are measuring performance? How?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410" name="Google Shape;41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5911" y="3335100"/>
            <a:ext cx="1552175" cy="15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4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RAW DATA VS METRIC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ADDING INTERPRETATION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16" name="Google Shape;416;p64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64"/>
          <p:cNvSpPr txBox="1"/>
          <p:nvPr/>
        </p:nvSpPr>
        <p:spPr>
          <a:xfrm>
            <a:off x="441450" y="842475"/>
            <a:ext cx="8377200" cy="3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3.2 days tells us:</a:t>
            </a:r>
            <a:endParaRPr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On average, customers waited 3.2 days to receive their order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We can compare it to</a:t>
            </a:r>
            <a:r>
              <a:rPr lang="en" sz="1900">
                <a:solidFill>
                  <a:schemeClr val="lt1"/>
                </a:solidFill>
              </a:rPr>
              <a:t>:</a:t>
            </a:r>
            <a:endParaRPr sz="1900">
              <a:solidFill>
                <a:schemeClr val="lt1"/>
              </a:solidFill>
            </a:endParaRPr>
          </a:p>
          <a:p>
            <a:pPr indent="-34925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Last week (better of worse)</a:t>
            </a:r>
            <a:endParaRPr sz="1900">
              <a:solidFill>
                <a:schemeClr val="lt1"/>
              </a:solidFill>
            </a:endParaRPr>
          </a:p>
          <a:p>
            <a:pPr indent="-34925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A company target (for example 2 days)</a:t>
            </a:r>
            <a:endParaRPr sz="1900">
              <a:solidFill>
                <a:schemeClr val="lt1"/>
              </a:solidFill>
            </a:endParaRPr>
          </a:p>
          <a:p>
            <a:pPr indent="-34925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Competitors (example - 4 days)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Now we can evaluate performance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5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METRIC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23" name="Google Shape;423;p65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65"/>
          <p:cNvSpPr txBox="1"/>
          <p:nvPr/>
        </p:nvSpPr>
        <p:spPr>
          <a:xfrm>
            <a:off x="441450" y="842475"/>
            <a:ext cx="8377200" cy="1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For each order, the ERP system stores (raw data):</a:t>
            </a:r>
            <a:endParaRPr sz="19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Char char="➢"/>
            </a:pPr>
            <a:r>
              <a:rPr lang="en" sz="1900">
                <a:solidFill>
                  <a:schemeClr val="lt1"/>
                </a:solidFill>
              </a:rPr>
              <a:t>Order Date</a:t>
            </a:r>
            <a:endParaRPr sz="19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➢"/>
            </a:pPr>
            <a:r>
              <a:rPr lang="en" sz="1900">
                <a:solidFill>
                  <a:schemeClr val="lt1"/>
                </a:solidFill>
              </a:rPr>
              <a:t>Delivery Date</a:t>
            </a:r>
            <a:endParaRPr sz="1900">
              <a:solidFill>
                <a:schemeClr val="lt1"/>
              </a:solidFill>
            </a:endParaRPr>
          </a:p>
        </p:txBody>
      </p:sp>
      <p:graphicFrame>
        <p:nvGraphicFramePr>
          <p:cNvPr id="425" name="Google Shape;425;p65"/>
          <p:cNvGraphicFramePr/>
          <p:nvPr/>
        </p:nvGraphicFramePr>
        <p:xfrm>
          <a:off x="913125" y="200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{95729A03-0F05-493A-9CBE-E02CAA6703A6}</a:tableStyleId>
              </a:tblPr>
              <a:tblGrid>
                <a:gridCol w="2439250"/>
                <a:gridCol w="2439250"/>
                <a:gridCol w="2439250"/>
              </a:tblGrid>
              <a:tr h="70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Order ID</a:t>
                      </a:r>
                      <a:endParaRPr b="1" sz="2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Order Date</a:t>
                      </a:r>
                      <a:endParaRPr b="1" sz="2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Delivery Date</a:t>
                      </a:r>
                      <a:endParaRPr b="1" sz="2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1001</a:t>
                      </a:r>
                      <a:endParaRPr b="1" sz="2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Jan 1 2026</a:t>
                      </a:r>
                      <a:endParaRPr b="1" sz="2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Jan 3</a:t>
                      </a: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 2026</a:t>
                      </a:r>
                      <a:endParaRPr b="1" sz="2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1002</a:t>
                      </a:r>
                      <a:endParaRPr b="1" sz="2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Jan 1</a:t>
                      </a: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 2026</a:t>
                      </a:r>
                      <a:endParaRPr b="1" sz="2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Jan 4</a:t>
                      </a: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 2026</a:t>
                      </a:r>
                      <a:endParaRPr b="1" sz="2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1003</a:t>
                      </a:r>
                      <a:endParaRPr b="1" sz="2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Jan 2</a:t>
                      </a: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 2026</a:t>
                      </a:r>
                      <a:endParaRPr b="1" sz="2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Jan 5</a:t>
                      </a:r>
                      <a:r>
                        <a:rPr b="1" lang="en" sz="2200">
                          <a:solidFill>
                            <a:schemeClr val="accent3"/>
                          </a:solidFill>
                        </a:rPr>
                        <a:t> 2026</a:t>
                      </a:r>
                      <a:endParaRPr b="1" sz="2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6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METRIC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31" name="Google Shape;431;p66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66"/>
          <p:cNvSpPr txBox="1"/>
          <p:nvPr/>
        </p:nvSpPr>
        <p:spPr>
          <a:xfrm>
            <a:off x="383400" y="1276800"/>
            <a:ext cx="8377200" cy="25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Calculate fulfillment time per order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Order 1001 → 2 days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Order 1002 → 3 days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Order 1003 → 3 days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Calculate the average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Average Fulfillment Time = (2 + 3 + 3) ÷ 3 = 2.67 days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7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KEY PERFORMANCE INDICATORS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STRUCTURE AND PURPOSE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38" name="Google Shape;438;p67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67"/>
          <p:cNvSpPr txBox="1"/>
          <p:nvPr/>
        </p:nvSpPr>
        <p:spPr>
          <a:xfrm>
            <a:off x="670475" y="921200"/>
            <a:ext cx="7938300" cy="3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KPI key prformance indicators: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Links to a business objective (directly supports a specific strategic goal such as growth, profitability, or efficiency)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Has ownership (assigned to a responsible person or department accountable for its performance)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Has measurable limits (includes defined targets or thresholds that distinguish acceptable from unacceptable performance)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Triggers corrective action (requires a response or intervention when performance falls outside defined limits)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8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KPI LIFECYCLE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DEFINE, MONITOR, REVISE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45" name="Google Shape;445;p68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" name="Google Shape;446;p68"/>
          <p:cNvSpPr txBox="1"/>
          <p:nvPr/>
        </p:nvSpPr>
        <p:spPr>
          <a:xfrm>
            <a:off x="441450" y="1107300"/>
            <a:ext cx="8351100" cy="3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KPIs must evolve with strategy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 As business priorities change, for example from growth to profitability, or from expansion to efficiency performance indicators must also change to reflect new objectives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Static KPIs eventually mislead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 If organizations continue measuring outdated targets, they may optimize the wrong behavior, ignore emerging risks, or fail to respond to market shifts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9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KPI MANIPULATION RISK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BEHAVIORAL DISTORTION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52" name="Google Shape;452;p69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69"/>
          <p:cNvSpPr txBox="1"/>
          <p:nvPr/>
        </p:nvSpPr>
        <p:spPr>
          <a:xfrm>
            <a:off x="709850" y="999925"/>
            <a:ext cx="7794000" cy="3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sales performance is measured only by call volume,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 sales representatives will increase the number of calls made,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 but the quality of conversations and customer qualification may decline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When a KPI rewards quantity instead of outcome, behavior adapts to maximize the metric rather than the objective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Wrong KPI → wrong behavior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0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ERP ANALYTICS EXAMPLE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INVENTORY TURNOVER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59" name="Google Shape;459;p70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70"/>
          <p:cNvSpPr txBox="1"/>
          <p:nvPr/>
        </p:nvSpPr>
        <p:spPr>
          <a:xfrm>
            <a:off x="583625" y="878975"/>
            <a:ext cx="8118900" cy="3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Inventory Turnover = Cost of Goods Sold / Average Inventory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Declining turnover signals:</a:t>
            </a:r>
            <a:endParaRPr sz="19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2200"/>
              <a:buChar char="➢"/>
            </a:pPr>
            <a:r>
              <a:rPr b="1" lang="en" sz="1900">
                <a:solidFill>
                  <a:schemeClr val="lt1"/>
                </a:solidFill>
              </a:rPr>
              <a:t>Cash locked in stock</a:t>
            </a:r>
            <a:r>
              <a:rPr lang="en" sz="1900">
                <a:solidFill>
                  <a:schemeClr val="lt1"/>
                </a:solidFill>
              </a:rPr>
              <a:t> (capital tied up in unsold inventory instead of being used elsewhere in the business)</a:t>
            </a:r>
            <a:endParaRPr sz="19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00"/>
              <a:buChar char="➢"/>
            </a:pPr>
            <a:r>
              <a:rPr b="1" lang="en" sz="1900">
                <a:solidFill>
                  <a:schemeClr val="lt1"/>
                </a:solidFill>
              </a:rPr>
              <a:t>Storage cost increase</a:t>
            </a:r>
            <a:r>
              <a:rPr lang="en" sz="1900">
                <a:solidFill>
                  <a:schemeClr val="lt1"/>
                </a:solidFill>
              </a:rPr>
              <a:t> (higher warehousing, insurance, and handling expenses due to excess stock)</a:t>
            </a:r>
            <a:endParaRPr sz="19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00"/>
              <a:buChar char="➢"/>
            </a:pPr>
            <a:r>
              <a:rPr b="1" lang="en" sz="1900">
                <a:solidFill>
                  <a:schemeClr val="lt1"/>
                </a:solidFill>
              </a:rPr>
              <a:t>Operational inefficiency </a:t>
            </a:r>
            <a:r>
              <a:rPr lang="en" sz="1900">
                <a:solidFill>
                  <a:schemeClr val="lt1"/>
                </a:solidFill>
              </a:rPr>
              <a:t>(slow-moving products indicate weak demand forecasting or purchasing problems)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1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ERP COST CONTROL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VARIANCE DETECTION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66" name="Google Shape;466;p71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" name="Google Shape;467;p71"/>
          <p:cNvSpPr txBox="1"/>
          <p:nvPr/>
        </p:nvSpPr>
        <p:spPr>
          <a:xfrm>
            <a:off x="484800" y="987375"/>
            <a:ext cx="8174400" cy="3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Cost Variance = Actual Cost − Planned Cost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Threshold breach triggers: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Procurement review (evaluate purchasing decisions, order quantities, and supplier selection to identify cost inefficiencies)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Supplier renegotiation (reassess pricing terms, payment conditions, or delivery agreements to reduce expenses)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Efficiency investigation (analyze internal production or operational processes to identify waste, delays, or resource misallocation)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2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CRM ANALYTICS EXAMPLE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PIPELINE VELOCITY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73" name="Google Shape;473;p72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4" name="Google Shape;474;p72"/>
          <p:cNvSpPr txBox="1"/>
          <p:nvPr/>
        </p:nvSpPr>
        <p:spPr>
          <a:xfrm>
            <a:off x="355350" y="918114"/>
            <a:ext cx="8433300" cy="3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Pipeline Velocity =(Opportunities × Win Rate × Deal Size) / Sales Cycle Length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Declining velocity predicts revenue slowdown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metric estimates how quickly revenue is being generated from the sales pipeline.</a:t>
            </a:r>
            <a:endParaRPr sz="19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400"/>
              <a:buChar char="➢"/>
            </a:pPr>
            <a:r>
              <a:rPr lang="en" sz="1900">
                <a:solidFill>
                  <a:schemeClr val="lt1"/>
                </a:solidFill>
              </a:rPr>
              <a:t>More opportunities increase potential revenue.</a:t>
            </a:r>
            <a:endParaRPr sz="19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➢"/>
            </a:pPr>
            <a:r>
              <a:rPr lang="en" sz="1900">
                <a:solidFill>
                  <a:schemeClr val="lt1"/>
                </a:solidFill>
              </a:rPr>
              <a:t>Higher win rate improves conversion efficiency</a:t>
            </a:r>
            <a:endParaRPr sz="19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➢"/>
            </a:pPr>
            <a:r>
              <a:rPr lang="en" sz="1900">
                <a:solidFill>
                  <a:schemeClr val="lt1"/>
                </a:solidFill>
              </a:rPr>
              <a:t>Larger deal size increases revenue impact</a:t>
            </a:r>
            <a:endParaRPr sz="19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➢"/>
            </a:pPr>
            <a:r>
              <a:rPr lang="en" sz="1900">
                <a:solidFill>
                  <a:schemeClr val="lt1"/>
                </a:solidFill>
              </a:rPr>
              <a:t>Longer sales cycle slows revenue realization.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pipeline velocity declines, it signals that future revenue growth may slow, even if current revenue still appears stable.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3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AMAZON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OPERATIONAL CONTROL SYSTEM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80" name="Google Shape;480;p73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" name="Google Shape;481;p73"/>
          <p:cNvSpPr txBox="1"/>
          <p:nvPr/>
        </p:nvSpPr>
        <p:spPr>
          <a:xfrm>
            <a:off x="677375" y="1446600"/>
            <a:ext cx="7887600" cy="29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Amazon monitors: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Late shipment percentage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Fulfillment time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Inventory aging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Micro signals prevent macro losses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482" name="Google Shape;48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8874" y="2330650"/>
            <a:ext cx="3353852" cy="101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4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AMAZON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OPERATIONAL CONTROL SYSTEM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88" name="Google Shape;488;p74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74"/>
          <p:cNvSpPr txBox="1"/>
          <p:nvPr/>
        </p:nvSpPr>
        <p:spPr>
          <a:xfrm>
            <a:off x="516650" y="1102175"/>
            <a:ext cx="8048400" cy="3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Late shipment percentage </a:t>
            </a:r>
            <a:r>
              <a:rPr lang="en" sz="1900">
                <a:solidFill>
                  <a:schemeClr val="lt1"/>
                </a:solidFill>
              </a:rPr>
              <a:t>(percentage of orders delivered after the promised delivery date)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Fulfillment time</a:t>
            </a:r>
            <a:r>
              <a:rPr lang="en" sz="1900">
                <a:solidFill>
                  <a:schemeClr val="lt1"/>
                </a:solidFill>
              </a:rPr>
              <a:t> (average time between order placement and successful delivery to the customer)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Inventory aging</a:t>
            </a:r>
            <a:r>
              <a:rPr lang="en" sz="1900">
                <a:solidFill>
                  <a:schemeClr val="lt1"/>
                </a:solidFill>
              </a:rPr>
              <a:t> (length of time products remain in storage before being sold)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5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NETFLIX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CONTENT PERFORMANCE METRICS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95" name="Google Shape;495;p75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75"/>
          <p:cNvSpPr txBox="1"/>
          <p:nvPr/>
        </p:nvSpPr>
        <p:spPr>
          <a:xfrm>
            <a:off x="1203600" y="1234875"/>
            <a:ext cx="6736800" cy="3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Netflix tracks:</a:t>
            </a:r>
            <a:endParaRPr sz="19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000"/>
              <a:buChar char="➢"/>
            </a:pPr>
            <a:r>
              <a:rPr lang="en" sz="1900">
                <a:solidFill>
                  <a:schemeClr val="lt1"/>
                </a:solidFill>
              </a:rPr>
              <a:t>Completion rate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➢"/>
            </a:pPr>
            <a:r>
              <a:rPr lang="en" sz="1900">
                <a:solidFill>
                  <a:schemeClr val="lt1"/>
                </a:solidFill>
              </a:rPr>
              <a:t>Engagement time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➢"/>
            </a:pPr>
            <a:r>
              <a:rPr lang="en" sz="1900">
                <a:solidFill>
                  <a:schemeClr val="lt1"/>
                </a:solidFill>
              </a:rPr>
              <a:t>Subscriber churn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Analytics determines content investment.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497" name="Google Shape;49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3950" y="1500187"/>
            <a:ext cx="5102676" cy="214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6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NETFLIX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CONTENT PERFORMANCE METRICS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03" name="Google Shape;503;p76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76"/>
          <p:cNvSpPr txBox="1"/>
          <p:nvPr/>
        </p:nvSpPr>
        <p:spPr>
          <a:xfrm>
            <a:off x="611100" y="1234875"/>
            <a:ext cx="79218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Completion rate</a:t>
            </a:r>
            <a:r>
              <a:rPr lang="en" sz="1900">
                <a:solidFill>
                  <a:schemeClr val="lt1"/>
                </a:solidFill>
              </a:rPr>
              <a:t> (percentage of viewers who watch content from start to finish)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Engagement time</a:t>
            </a:r>
            <a:r>
              <a:rPr lang="en" sz="1900">
                <a:solidFill>
                  <a:schemeClr val="lt1"/>
                </a:solidFill>
              </a:rPr>
              <a:t> (average amount of time users actively spend interacting with the platform or content)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Subscriber churn</a:t>
            </a:r>
            <a:r>
              <a:rPr lang="en" sz="1900">
                <a:solidFill>
                  <a:schemeClr val="lt1"/>
                </a:solidFill>
              </a:rPr>
              <a:t> (percentage of subscribers who cancel their subscription within a given period)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7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ZILLOW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MODEL LIMITATION CASE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10" name="Google Shape;510;p77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77"/>
          <p:cNvSpPr txBox="1"/>
          <p:nvPr/>
        </p:nvSpPr>
        <p:spPr>
          <a:xfrm>
            <a:off x="1203600" y="1234875"/>
            <a:ext cx="6736800" cy="3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Predictive pricing failed due to:</a:t>
            </a:r>
            <a:endParaRPr sz="19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000"/>
              <a:buChar char="➢"/>
            </a:pPr>
            <a:r>
              <a:rPr lang="en" sz="1900">
                <a:solidFill>
                  <a:schemeClr val="lt1"/>
                </a:solidFill>
              </a:rPr>
              <a:t>Static assumptions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➢"/>
            </a:pPr>
            <a:r>
              <a:rPr lang="en" sz="1900">
                <a:solidFill>
                  <a:schemeClr val="lt1"/>
                </a:solidFill>
              </a:rPr>
              <a:t>Market volatility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➢"/>
            </a:pPr>
            <a:r>
              <a:rPr lang="en" sz="1900">
                <a:solidFill>
                  <a:schemeClr val="lt1"/>
                </a:solidFill>
              </a:rPr>
              <a:t>Delayed feedback loops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Result: $500M+ loss.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512" name="Google Shape;512;p77"/>
          <p:cNvPicPr preferRelativeResize="0"/>
          <p:nvPr/>
        </p:nvPicPr>
        <p:blipFill rotWithShape="1">
          <a:blip r:embed="rId3">
            <a:alphaModFix/>
          </a:blip>
          <a:srcRect b="23501" l="0" r="0" t="26368"/>
          <a:stretch/>
        </p:blipFill>
        <p:spPr>
          <a:xfrm>
            <a:off x="4907015" y="1733625"/>
            <a:ext cx="4039608" cy="113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8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ZILLOW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MODEL LIMITATION CASE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18" name="Google Shape;518;p78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" name="Google Shape;519;p78"/>
          <p:cNvSpPr txBox="1"/>
          <p:nvPr/>
        </p:nvSpPr>
        <p:spPr>
          <a:xfrm>
            <a:off x="608500" y="907000"/>
            <a:ext cx="80940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Static assumptions</a:t>
            </a:r>
            <a:r>
              <a:rPr lang="en" sz="1900">
                <a:solidFill>
                  <a:schemeClr val="lt1"/>
                </a:solidFill>
              </a:rPr>
              <a:t> (models built on fixed expectations that do not adjust when market conditions change)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Market volatility </a:t>
            </a:r>
            <a:r>
              <a:rPr lang="en" sz="1900">
                <a:solidFill>
                  <a:schemeClr val="lt1"/>
                </a:solidFill>
              </a:rPr>
              <a:t>(rapid and unpredictable changes in prices, demand, or economic conditions)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Delayed feedback loops</a:t>
            </a:r>
            <a:r>
              <a:rPr lang="en" sz="1900">
                <a:solidFill>
                  <a:schemeClr val="lt1"/>
                </a:solidFill>
              </a:rPr>
              <a:t> (slow detection of performance problems due to lag between data collection, analysis, and corrective action)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9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REPORTS VS DASHBOARDS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STATIC VS DYNAMIC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25" name="Google Shape;525;p79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" name="Google Shape;526;p79"/>
          <p:cNvSpPr txBox="1"/>
          <p:nvPr/>
        </p:nvSpPr>
        <p:spPr>
          <a:xfrm>
            <a:off x="441450" y="729475"/>
            <a:ext cx="8377200" cy="44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Reports explain history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 They summarize past performance and answer questions such as “What happened last month?” or “How did we perform last quarter?”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Dashboards enable intervention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 They monitor current performance in near real time and highlight when a KPI crosses a defined threshold, allowing managers to take corrective action immediately.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Report → understanding the past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Dashboard → acting in the present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80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MULTIPLE VERSIONS OF TRUTH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METRIC CONSISTENCY RISK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32" name="Google Shape;532;p80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80"/>
          <p:cNvSpPr txBox="1"/>
          <p:nvPr/>
        </p:nvSpPr>
        <p:spPr>
          <a:xfrm>
            <a:off x="574050" y="826625"/>
            <a:ext cx="8261100" cy="3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Sales revenue ≠ Finance revenue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Sales may record revenue when a deal is closed in the CRM system, while Finance records revenue only after the invoice is issued or payment is received in the ERP system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Different definitions create confusion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When departments calculate metrics using different rules, dashboards show conflicting numbers and management loses trust in the data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IT must enforce unified metrics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Data definitions, calculation logic, and reporting rules must be standardized across systems to ensure one version of the truth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81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DASHBOARD DESIGN RULE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ROLE-SPECIFIC CONTROL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39" name="Google Shape;539;p81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0" name="Google Shape;540;p81"/>
          <p:cNvSpPr txBox="1"/>
          <p:nvPr/>
        </p:nvSpPr>
        <p:spPr>
          <a:xfrm>
            <a:off x="1203600" y="1234875"/>
            <a:ext cx="6736800" cy="27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One dashboard must serve:</a:t>
            </a:r>
            <a:endParaRPr sz="1900">
              <a:solidFill>
                <a:schemeClr val="lt1"/>
              </a:solidFill>
            </a:endParaRPr>
          </a:p>
          <a:p>
            <a:pPr indent="-3683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200"/>
              <a:buChar char="➢"/>
            </a:pPr>
            <a:r>
              <a:rPr lang="en" sz="1900">
                <a:solidFill>
                  <a:schemeClr val="lt1"/>
                </a:solidFill>
              </a:rPr>
              <a:t>One role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683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➢"/>
            </a:pPr>
            <a:r>
              <a:rPr lang="en" sz="1900">
                <a:solidFill>
                  <a:schemeClr val="lt1"/>
                </a:solidFill>
              </a:rPr>
              <a:t>One decision scope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683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➢"/>
            </a:pPr>
            <a:r>
              <a:rPr lang="en" sz="1900">
                <a:solidFill>
                  <a:schemeClr val="lt1"/>
                </a:solidFill>
              </a:rPr>
              <a:t>One timeframe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82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IT RESPONSIBILITY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MODELING AND GOVERNANCE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46" name="Google Shape;546;p82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7" name="Google Shape;547;p82"/>
          <p:cNvSpPr txBox="1"/>
          <p:nvPr/>
        </p:nvSpPr>
        <p:spPr>
          <a:xfrm>
            <a:off x="1203600" y="1234875"/>
            <a:ext cx="6736800" cy="3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IT professionals:</a:t>
            </a:r>
            <a:endParaRPr sz="1900">
              <a:solidFill>
                <a:schemeClr val="lt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800"/>
              <a:buChar char="➢"/>
            </a:pPr>
            <a:r>
              <a:rPr lang="en" sz="1900">
                <a:solidFill>
                  <a:schemeClr val="lt1"/>
                </a:solidFill>
              </a:rPr>
              <a:t>Define data structures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➢"/>
            </a:pPr>
            <a:r>
              <a:rPr lang="en" sz="1900">
                <a:solidFill>
                  <a:schemeClr val="lt1"/>
                </a:solidFill>
              </a:rPr>
              <a:t>Maintain ETL logic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➢"/>
            </a:pPr>
            <a:r>
              <a:rPr lang="en" sz="1900">
                <a:solidFill>
                  <a:schemeClr val="lt1"/>
                </a:solidFill>
              </a:rPr>
              <a:t>Enforce KPI definitions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➢"/>
            </a:pPr>
            <a:r>
              <a:rPr lang="en" sz="1900">
                <a:solidFill>
                  <a:schemeClr val="lt1"/>
                </a:solidFill>
              </a:rPr>
              <a:t>Prevent duplication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Analytics integrity is technical work.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83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P001 - KPI CALCULATION ENGINE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FROM DATA TO METRICS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53" name="Google Shape;553;p83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4" name="Google Shape;554;p83"/>
          <p:cNvSpPr txBox="1"/>
          <p:nvPr/>
        </p:nvSpPr>
        <p:spPr>
          <a:xfrm>
            <a:off x="744375" y="1507800"/>
            <a:ext cx="3480600" cy="21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Input: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Leads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Conversion rate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Average deal value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Marketing cost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Operational cost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555" name="Google Shape;555;p83"/>
          <p:cNvSpPr txBox="1"/>
          <p:nvPr/>
        </p:nvSpPr>
        <p:spPr>
          <a:xfrm>
            <a:off x="5193175" y="1507800"/>
            <a:ext cx="37887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Output: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Revenue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Gross Profit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CAC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Conversion classification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4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P002 – DECISION ENGINE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FROM KPI TO ACTION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61" name="Google Shape;561;p84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2" name="Google Shape;562;p84"/>
          <p:cNvSpPr txBox="1"/>
          <p:nvPr/>
        </p:nvSpPr>
        <p:spPr>
          <a:xfrm>
            <a:off x="1203600" y="1234875"/>
            <a:ext cx="6736800" cy="3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Based on KPI classification:</a:t>
            </a:r>
            <a:endParaRPr sz="19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800"/>
              <a:buChar char="➢"/>
            </a:pPr>
            <a:r>
              <a:rPr lang="en" sz="1900">
                <a:solidFill>
                  <a:schemeClr val="lt1"/>
                </a:solidFill>
              </a:rPr>
              <a:t>Critical → Review sales process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➢"/>
            </a:pPr>
            <a:r>
              <a:rPr lang="en" sz="1900">
                <a:solidFill>
                  <a:schemeClr val="lt1"/>
                </a:solidFill>
              </a:rPr>
              <a:t>Negative profit → Reduce costs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➢"/>
            </a:pPr>
            <a:r>
              <a:rPr lang="en" sz="1900">
                <a:solidFill>
                  <a:schemeClr val="lt1"/>
                </a:solidFill>
              </a:rPr>
              <a:t>Strong performance → Scale marketing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Output exactly one management action.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5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P003 – TREND ANALYSIS ENGINE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COMPARING TWO PERIODS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68" name="Google Shape;568;p85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" name="Google Shape;569;p85"/>
          <p:cNvSpPr txBox="1"/>
          <p:nvPr/>
        </p:nvSpPr>
        <p:spPr>
          <a:xfrm>
            <a:off x="1203600" y="1276800"/>
            <a:ext cx="6736800" cy="3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program must compare performance between two time periods: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Previous quarter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Current quarter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system receives the following inputs for both periods: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Revenue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Gross Profit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Conversion Rate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Number of Leads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86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P003 – TREND ANALYSIS ENGINE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TASK REQUIREMENT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75" name="Google Shape;575;p86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86"/>
          <p:cNvSpPr txBox="1"/>
          <p:nvPr/>
        </p:nvSpPr>
        <p:spPr>
          <a:xfrm>
            <a:off x="588150" y="936150"/>
            <a:ext cx="7967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The program must detect performance contradictions that indicate hidden risk.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Specifically, detect the following situations: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900">
                <a:solidFill>
                  <a:schemeClr val="lt1"/>
                </a:solidFill>
              </a:rPr>
              <a:t>Revenue increased BUT Gross Profit decreased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900">
                <a:solidFill>
                  <a:schemeClr val="lt1"/>
                </a:solidFill>
              </a:rPr>
              <a:t>Number of Leads increased BUT Conversion Rate decreased</a:t>
            </a:r>
            <a:endParaRPr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If either condition is true, the system must output: “Hidden Risk Detected”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If neither condition is true, the system must output: “Performance Stable”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87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P003 – TREND ANALYSIS ENGINE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THIS MATTERS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82" name="Google Shape;582;p87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87"/>
          <p:cNvSpPr txBox="1"/>
          <p:nvPr/>
        </p:nvSpPr>
        <p:spPr>
          <a:xfrm>
            <a:off x="588150" y="1690200"/>
            <a:ext cx="7967700" cy="27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Revenue alone does not guarantee healthy performance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Growth without profitability or efficiency can signal structural problems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Analytics must detect contradictions, not just growth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88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TREND INTERPRETATION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DIRECTION OVER SNAPSHOT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89" name="Google Shape;589;p88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" name="Google Shape;590;p88"/>
          <p:cNvSpPr txBox="1"/>
          <p:nvPr/>
        </p:nvSpPr>
        <p:spPr>
          <a:xfrm>
            <a:off x="631450" y="1234875"/>
            <a:ext cx="81171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Static numbers can mislead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 Revenue of $1 million may look strong, but if it has declined for three consecutive months, it signals emerging risk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Direction determines strategy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 Trends over time → increasing, stable, or declining → guide long-term decisions and resource allocation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89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IF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MISLEADING DASHBOARD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96" name="Google Shape;596;p89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7" name="Google Shape;597;p89"/>
          <p:cNvSpPr txBox="1"/>
          <p:nvPr/>
        </p:nvSpPr>
        <p:spPr>
          <a:xfrm>
            <a:off x="619975" y="838125"/>
            <a:ext cx="8002200" cy="3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executive dashboard shows: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Revenue appears stable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Lead volume is increasing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Conversion rate is declining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Profit margin is shrinking</a:t>
            </a:r>
            <a:endParaRPr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At first glance, growth seems healthy. However, deeper indicators reveal weakening efficiency and declining profitability. The dashboard highlights activity, but hides structural risk.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90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IF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MISLEADING DASHBOARD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603" name="Google Shape;603;p90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90"/>
          <p:cNvSpPr txBox="1"/>
          <p:nvPr/>
        </p:nvSpPr>
        <p:spPr>
          <a:xfrm>
            <a:off x="570900" y="1276800"/>
            <a:ext cx="8002200" cy="25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Same case but in other words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Revenue looks stable but marketing reports more leads.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But conversion efficiency is dropping and profit margins are tightening.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business appears stable, yet the foundation is weakening.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91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 CONSEQUENCE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WRONG DECISION IMPACT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610" name="Google Shape;610;p91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" name="Google Shape;611;p91"/>
          <p:cNvSpPr txBox="1"/>
          <p:nvPr/>
        </p:nvSpPr>
        <p:spPr>
          <a:xfrm>
            <a:off x="441450" y="815150"/>
            <a:ext cx="84105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Management increases marketing spend based on stable revenue and rising lead volume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However, the underlying issues → declining conversion and shrinking margins → remain unresolved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More leads enter an inefficient sales process.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Customer acquisition costs increase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Operational pressure rises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Profitability declines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An analytics interpretation failure becomes a financial performance failure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92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ANALYTICS MINDSET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REDUCING UNCERTAINTY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617" name="Google Shape;617;p92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8" name="Google Shape;618;p92"/>
          <p:cNvSpPr txBox="1"/>
          <p:nvPr/>
        </p:nvSpPr>
        <p:spPr>
          <a:xfrm>
            <a:off x="649186" y="903831"/>
            <a:ext cx="7921800" cy="3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Analytics does not replace managerial judgment, and it does not automate thinking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Its purpose is to identify patterns, detect deviations, and highlight emerging risks before they become visible in financial results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By transforming system data into structured signals, analytics reduces decision uncertainty and supports more informed, evidence-based actions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93"/>
          <p:cNvSpPr txBox="1"/>
          <p:nvPr/>
        </p:nvSpPr>
        <p:spPr>
          <a:xfrm>
            <a:off x="441450" y="957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FINAL TAKEAWAY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HAAAAA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624" name="Google Shape;624;p93"/>
          <p:cNvCxnSpPr/>
          <p:nvPr/>
        </p:nvCxnSpPr>
        <p:spPr>
          <a:xfrm>
            <a:off x="3097050" y="729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5" name="Google Shape;625;p93"/>
          <p:cNvSpPr txBox="1"/>
          <p:nvPr/>
        </p:nvSpPr>
        <p:spPr>
          <a:xfrm>
            <a:off x="197375" y="3611025"/>
            <a:ext cx="43953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ERP records operations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CRM records customers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Analytics transforms signals into control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626" name="Google Shape;626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3275" y="775400"/>
            <a:ext cx="1897450" cy="189745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93"/>
          <p:cNvSpPr txBox="1"/>
          <p:nvPr/>
        </p:nvSpPr>
        <p:spPr>
          <a:xfrm>
            <a:off x="1316644" y="2931045"/>
            <a:ext cx="673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</a:rPr>
              <a:t>SYSTEM → SIGNAL → CONTROL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628" name="Google Shape;628;p93"/>
          <p:cNvSpPr txBox="1"/>
          <p:nvPr/>
        </p:nvSpPr>
        <p:spPr>
          <a:xfrm>
            <a:off x="4886725" y="3611025"/>
            <a:ext cx="40599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Dashboards shape behavior.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Poor dashboards shape mistakes.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94"/>
          <p:cNvSpPr txBox="1"/>
          <p:nvPr/>
        </p:nvSpPr>
        <p:spPr>
          <a:xfrm>
            <a:off x="441450" y="279475"/>
            <a:ext cx="8261100" cy="3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NEXT WEEK PREVIEW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WHAT’S COMING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Designing KPIs and decision-safe dashboards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634" name="Google Shape;634;p94"/>
          <p:cNvCxnSpPr/>
          <p:nvPr/>
        </p:nvCxnSpPr>
        <p:spPr>
          <a:xfrm>
            <a:off x="3097050" y="10728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