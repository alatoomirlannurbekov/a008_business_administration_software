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4"/>
    <p:sldMasterId id="214748369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y="5143500" cx="9144000"/>
  <p:notesSz cx="6858000" cy="9144000"/>
  <p:embeddedFontLst>
    <p:embeddedFont>
      <p:font typeface="DM Sans Medium"/>
      <p:regular r:id="rId48"/>
      <p:bold r:id="rId49"/>
      <p:italic r:id="rId50"/>
      <p:boldItalic r:id="rId51"/>
    </p:embeddedFont>
    <p:embeddedFont>
      <p:font typeface="Caveat"/>
      <p:regular r:id="rId52"/>
      <p:bold r:id="rId53"/>
    </p:embeddedFont>
    <p:embeddedFont>
      <p:font typeface="Montserrat"/>
      <p:regular r:id="rId54"/>
      <p:bold r:id="rId55"/>
      <p:italic r:id="rId56"/>
      <p:boldItalic r:id="rId57"/>
    </p:embeddedFont>
    <p:embeddedFont>
      <p:font typeface="Merriweather"/>
      <p:regular r:id="rId58"/>
      <p:bold r:id="rId59"/>
      <p:italic r:id="rId60"/>
      <p:boldItalic r:id="rId61"/>
    </p:embeddedFont>
    <p:embeddedFont>
      <p:font typeface="DM Sans"/>
      <p:regular r:id="rId62"/>
      <p:bold r:id="rId63"/>
      <p:italic r:id="rId64"/>
      <p:boldItalic r:id="rId65"/>
    </p:embeddedFont>
    <p:embeddedFont>
      <p:font typeface="Open Sans Light"/>
      <p:regular r:id="rId66"/>
      <p:bold r:id="rId67"/>
      <p:italic r:id="rId68"/>
      <p:boldItalic r:id="rId69"/>
    </p:embeddedFont>
    <p:embeddedFont>
      <p:font typeface="Open Sans"/>
      <p:regular r:id="rId70"/>
      <p:bold r:id="rId71"/>
      <p:italic r:id="rId72"/>
      <p:boldItalic r:id="rId7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DMSansMedium-regular.fntdata"/><Relationship Id="rId47" Type="http://schemas.openxmlformats.org/officeDocument/2006/relationships/slide" Target="slides/slide41.xml"/><Relationship Id="rId49" Type="http://schemas.openxmlformats.org/officeDocument/2006/relationships/font" Target="fonts/DMSansMedium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OpenSans-boldItalic.fntdata"/><Relationship Id="rId72" Type="http://schemas.openxmlformats.org/officeDocument/2006/relationships/font" Target="fonts/OpenSans-italic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OpenSans-bold.fntdata"/><Relationship Id="rId70" Type="http://schemas.openxmlformats.org/officeDocument/2006/relationships/font" Target="fonts/OpenSans-regular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DMSans-regular.fntdata"/><Relationship Id="rId61" Type="http://schemas.openxmlformats.org/officeDocument/2006/relationships/font" Target="fonts/Merriweather-boldItalic.fntdata"/><Relationship Id="rId20" Type="http://schemas.openxmlformats.org/officeDocument/2006/relationships/slide" Target="slides/slide14.xml"/><Relationship Id="rId64" Type="http://schemas.openxmlformats.org/officeDocument/2006/relationships/font" Target="fonts/DMSans-italic.fntdata"/><Relationship Id="rId63" Type="http://schemas.openxmlformats.org/officeDocument/2006/relationships/font" Target="fonts/DMSans-bold.fntdata"/><Relationship Id="rId22" Type="http://schemas.openxmlformats.org/officeDocument/2006/relationships/slide" Target="slides/slide16.xml"/><Relationship Id="rId66" Type="http://schemas.openxmlformats.org/officeDocument/2006/relationships/font" Target="fonts/OpenSansLight-regular.fntdata"/><Relationship Id="rId21" Type="http://schemas.openxmlformats.org/officeDocument/2006/relationships/slide" Target="slides/slide15.xml"/><Relationship Id="rId65" Type="http://schemas.openxmlformats.org/officeDocument/2006/relationships/font" Target="fonts/DMSans-boldItalic.fntdata"/><Relationship Id="rId24" Type="http://schemas.openxmlformats.org/officeDocument/2006/relationships/slide" Target="slides/slide18.xml"/><Relationship Id="rId68" Type="http://schemas.openxmlformats.org/officeDocument/2006/relationships/font" Target="fonts/OpenSansLight-italic.fntdata"/><Relationship Id="rId23" Type="http://schemas.openxmlformats.org/officeDocument/2006/relationships/slide" Target="slides/slide17.xml"/><Relationship Id="rId67" Type="http://schemas.openxmlformats.org/officeDocument/2006/relationships/font" Target="fonts/OpenSansLight-bold.fntdata"/><Relationship Id="rId60" Type="http://schemas.openxmlformats.org/officeDocument/2006/relationships/font" Target="fonts/Merriweather-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OpenSansLight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DMSansMedium-boldItalic.fntdata"/><Relationship Id="rId50" Type="http://schemas.openxmlformats.org/officeDocument/2006/relationships/font" Target="fonts/DMSansMedium-italic.fntdata"/><Relationship Id="rId53" Type="http://schemas.openxmlformats.org/officeDocument/2006/relationships/font" Target="fonts/Caveat-bold.fntdata"/><Relationship Id="rId52" Type="http://schemas.openxmlformats.org/officeDocument/2006/relationships/font" Target="fonts/Caveat-regular.fntdata"/><Relationship Id="rId11" Type="http://schemas.openxmlformats.org/officeDocument/2006/relationships/slide" Target="slides/slide5.xml"/><Relationship Id="rId55" Type="http://schemas.openxmlformats.org/officeDocument/2006/relationships/font" Target="fonts/Montserrat-bold.fntdata"/><Relationship Id="rId10" Type="http://schemas.openxmlformats.org/officeDocument/2006/relationships/slide" Target="slides/slide4.xml"/><Relationship Id="rId54" Type="http://schemas.openxmlformats.org/officeDocument/2006/relationships/font" Target="fonts/Montserrat-regular.fntdata"/><Relationship Id="rId13" Type="http://schemas.openxmlformats.org/officeDocument/2006/relationships/slide" Target="slides/slide7.xml"/><Relationship Id="rId57" Type="http://schemas.openxmlformats.org/officeDocument/2006/relationships/font" Target="fonts/Montserrat-boldItalic.fntdata"/><Relationship Id="rId12" Type="http://schemas.openxmlformats.org/officeDocument/2006/relationships/slide" Target="slides/slide6.xml"/><Relationship Id="rId56" Type="http://schemas.openxmlformats.org/officeDocument/2006/relationships/font" Target="fonts/Montserrat-italic.fntdata"/><Relationship Id="rId15" Type="http://schemas.openxmlformats.org/officeDocument/2006/relationships/slide" Target="slides/slide9.xml"/><Relationship Id="rId59" Type="http://schemas.openxmlformats.org/officeDocument/2006/relationships/font" Target="fonts/Merriweather-bold.fntdata"/><Relationship Id="rId14" Type="http://schemas.openxmlformats.org/officeDocument/2006/relationships/slide" Target="slides/slide8.xml"/><Relationship Id="rId58" Type="http://schemas.openxmlformats.org/officeDocument/2006/relationships/font" Target="fonts/Merriweather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9476a149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b9476a149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be11693f5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be11693f55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c6d352fc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c6d352fc0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d4f0db700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d4f0db7004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d4f0db700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d4f0db7004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d4f0db700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d4f0db7004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d4f0db700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d4f0db7004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d4f0db700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d4f0db7004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d4f0db700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d4f0db7004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d4f0db700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d4f0db7004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d4f0db7004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d4f0db7004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d4f0db700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d4f0db7004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d4f0db7004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d4f0db7004_0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d4f0db700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d4f0db7004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d4f0db7004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d4f0db7004_0_1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d4f0db7004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d4f0db7004_0_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86f7d12f1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86f7d12f16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d4f0db700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3d4f0db7004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86f7d12f1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86f7d12f16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d4f0db70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3d4f0db700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86f7d12f1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386f7d12f16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86f7d12f1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386f7d12f16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86f7d12f1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g386f7d12f16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870505699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g3870505699c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870505699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g3870505699c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870505699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3870505699c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870505699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3870505699c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870505699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g3870505699c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870505699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g3870505699c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870505699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g3870505699c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870505699c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g3870505699c_0_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870505699c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g3870505699c_0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870505699c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g3870505699c_0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870505699c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g3870505699c_0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870505699c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g3870505699c_0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870505699c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g3870505699c_0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870505699c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g3870505699c_0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870505699c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g3870505699c_0_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870505699c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g3870505699c_0_1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870505699c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g3870505699c_0_1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be11693f55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g3be11693f55_0_4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slide" type="title">
  <p:cSld name="TITLE">
    <p:bg>
      <p:bgPr>
        <a:solidFill>
          <a:schemeClr val="dk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idx="1" type="body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8" name="Google Shape;178;p35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0"/>
              <a:buNone/>
              <a:defRPr sz="675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2" type="subTitle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Medium"/>
              <a:buNone/>
              <a:defRPr sz="185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" name="Google Shape;180;p35"/>
          <p:cNvSpPr/>
          <p:nvPr>
            <p:ph idx="3" type="pic"/>
          </p:nvPr>
        </p:nvSpPr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1" name="Google Shape;181;p35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number" type="secHead">
  <p:cSld name="SECTION_HEADER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/>
          <p:nvPr>
            <p:ph type="title"/>
          </p:nvPr>
        </p:nvSpPr>
        <p:spPr>
          <a:xfrm>
            <a:off x="511953" y="5885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4" name="Google Shape;18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36"/>
          <p:cNvSpPr txBox="1"/>
          <p:nvPr>
            <p:ph idx="2" type="title"/>
          </p:nvPr>
        </p:nvSpPr>
        <p:spPr>
          <a:xfrm>
            <a:off x="511953" y="14303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6" name="Google Shape;186;p36"/>
          <p:cNvSpPr txBox="1"/>
          <p:nvPr>
            <p:ph idx="3" type="title"/>
          </p:nvPr>
        </p:nvSpPr>
        <p:spPr>
          <a:xfrm>
            <a:off x="511953" y="22721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7" name="Google Shape;187;p36"/>
          <p:cNvSpPr txBox="1"/>
          <p:nvPr>
            <p:ph idx="4" type="title"/>
          </p:nvPr>
        </p:nvSpPr>
        <p:spPr>
          <a:xfrm>
            <a:off x="511953" y="31139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8" name="Google Shape;188;p36"/>
          <p:cNvSpPr txBox="1"/>
          <p:nvPr>
            <p:ph idx="5" type="title"/>
          </p:nvPr>
        </p:nvSpPr>
        <p:spPr>
          <a:xfrm>
            <a:off x="511953" y="39557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9" name="Google Shape;189;p36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36"/>
          <p:cNvSpPr txBox="1"/>
          <p:nvPr>
            <p:ph idx="6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 type="tx">
  <p:cSld name="TITLE_AND_BODY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37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94" name="Google Shape;194;p37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37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AND_BODY_1">
    <p:bg>
      <p:bgPr>
        <a:solidFill>
          <a:schemeClr val="dk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38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99" name="Google Shape;199;p38"/>
          <p:cNvSpPr txBox="1"/>
          <p:nvPr>
            <p:ph idx="2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0" name="Google Shape;200;p38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1" type="twoColTx">
  <p:cSld name="TITLE_AND_TWO_COLUMNS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203" name="Google Shape;203;p39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39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6" name="Google Shape;206;p39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7" name="Google Shape;207;p39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TITLE_AND_TWO_COLUMNS_1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0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40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1" name="Google Shape;21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40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13" name="Google Shape;213;p40"/>
          <p:cNvSpPr txBox="1"/>
          <p:nvPr>
            <p:ph idx="3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4" name="Google Shape;214;p40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5" name="Google Shape;215;p40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chart">
  <p:cSld name="SECTION_TITLE_AND_DESCRIPTION">
    <p:bg>
      <p:bgPr>
        <a:solidFill>
          <a:schemeClr val="lt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1"/>
          <p:cNvSpPr/>
          <p:nvPr/>
        </p:nvSpPr>
        <p:spPr>
          <a:xfrm>
            <a:off x="4305000" y="-125"/>
            <a:ext cx="4839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8" name="Google Shape;21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41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0" name="Google Shape;220;p41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1" name="Google Shape;221;p41"/>
          <p:cNvSpPr txBox="1"/>
          <p:nvPr>
            <p:ph idx="2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22" name="Google Shape;222;p41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>
  <p:cSld name="CAPTION_ONLY">
    <p:bg>
      <p:bgPr>
        <a:solidFill>
          <a:schemeClr val="lt2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42"/>
          <p:cNvSpPr txBox="1"/>
          <p:nvPr>
            <p:ph idx="1" type="body"/>
          </p:nvPr>
        </p:nvSpPr>
        <p:spPr>
          <a:xfrm>
            <a:off x="2030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6" name="Google Shape;226;p42"/>
          <p:cNvSpPr txBox="1"/>
          <p:nvPr>
            <p:ph idx="2" type="body"/>
          </p:nvPr>
        </p:nvSpPr>
        <p:spPr>
          <a:xfrm>
            <a:off x="2030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7" name="Google Shape;227;p42"/>
          <p:cNvSpPr txBox="1"/>
          <p:nvPr>
            <p:ph idx="3" type="body"/>
          </p:nvPr>
        </p:nvSpPr>
        <p:spPr>
          <a:xfrm>
            <a:off x="2030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8" name="Google Shape;228;p42"/>
          <p:cNvSpPr txBox="1"/>
          <p:nvPr>
            <p:ph idx="4" type="body"/>
          </p:nvPr>
        </p:nvSpPr>
        <p:spPr>
          <a:xfrm>
            <a:off x="2030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9" name="Google Shape;229;p42"/>
          <p:cNvSpPr txBox="1"/>
          <p:nvPr>
            <p:ph idx="5" type="body"/>
          </p:nvPr>
        </p:nvSpPr>
        <p:spPr>
          <a:xfrm>
            <a:off x="2030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0" name="Google Shape;230;p42"/>
          <p:cNvSpPr txBox="1"/>
          <p:nvPr>
            <p:ph idx="6" type="body"/>
          </p:nvPr>
        </p:nvSpPr>
        <p:spPr>
          <a:xfrm>
            <a:off x="2030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1" name="Google Shape;231;p42"/>
          <p:cNvSpPr txBox="1"/>
          <p:nvPr>
            <p:ph idx="7" type="body"/>
          </p:nvPr>
        </p:nvSpPr>
        <p:spPr>
          <a:xfrm>
            <a:off x="2030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2" name="Google Shape;232;p42"/>
          <p:cNvSpPr txBox="1"/>
          <p:nvPr>
            <p:ph idx="8" type="body"/>
          </p:nvPr>
        </p:nvSpPr>
        <p:spPr>
          <a:xfrm>
            <a:off x="2030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3" name="Google Shape;233;p42"/>
          <p:cNvSpPr txBox="1"/>
          <p:nvPr>
            <p:ph idx="9" type="body"/>
          </p:nvPr>
        </p:nvSpPr>
        <p:spPr>
          <a:xfrm>
            <a:off x="2030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4" name="Google Shape;234;p42"/>
          <p:cNvSpPr txBox="1"/>
          <p:nvPr>
            <p:ph idx="13" type="body"/>
          </p:nvPr>
        </p:nvSpPr>
        <p:spPr>
          <a:xfrm>
            <a:off x="32496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5" name="Google Shape;235;p42"/>
          <p:cNvSpPr txBox="1"/>
          <p:nvPr>
            <p:ph idx="14" type="body"/>
          </p:nvPr>
        </p:nvSpPr>
        <p:spPr>
          <a:xfrm>
            <a:off x="32496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6" name="Google Shape;236;p42"/>
          <p:cNvSpPr txBox="1"/>
          <p:nvPr>
            <p:ph idx="15" type="body"/>
          </p:nvPr>
        </p:nvSpPr>
        <p:spPr>
          <a:xfrm>
            <a:off x="32496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7" name="Google Shape;237;p42"/>
          <p:cNvSpPr txBox="1"/>
          <p:nvPr>
            <p:ph idx="16" type="body"/>
          </p:nvPr>
        </p:nvSpPr>
        <p:spPr>
          <a:xfrm>
            <a:off x="32496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8" name="Google Shape;238;p42"/>
          <p:cNvSpPr txBox="1"/>
          <p:nvPr>
            <p:ph idx="17" type="body"/>
          </p:nvPr>
        </p:nvSpPr>
        <p:spPr>
          <a:xfrm>
            <a:off x="32496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9" name="Google Shape;239;p42"/>
          <p:cNvSpPr txBox="1"/>
          <p:nvPr>
            <p:ph idx="18" type="body"/>
          </p:nvPr>
        </p:nvSpPr>
        <p:spPr>
          <a:xfrm>
            <a:off x="32496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0" name="Google Shape;240;p42"/>
          <p:cNvSpPr txBox="1"/>
          <p:nvPr>
            <p:ph idx="19" type="body"/>
          </p:nvPr>
        </p:nvSpPr>
        <p:spPr>
          <a:xfrm>
            <a:off x="32496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1" name="Google Shape;241;p42"/>
          <p:cNvSpPr txBox="1"/>
          <p:nvPr>
            <p:ph idx="20" type="body"/>
          </p:nvPr>
        </p:nvSpPr>
        <p:spPr>
          <a:xfrm>
            <a:off x="32496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2" name="Google Shape;242;p42"/>
          <p:cNvSpPr txBox="1"/>
          <p:nvPr>
            <p:ph idx="21" type="body"/>
          </p:nvPr>
        </p:nvSpPr>
        <p:spPr>
          <a:xfrm>
            <a:off x="32496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3" name="Google Shape;243;p42"/>
          <p:cNvSpPr txBox="1"/>
          <p:nvPr>
            <p:ph idx="22" type="body"/>
          </p:nvPr>
        </p:nvSpPr>
        <p:spPr>
          <a:xfrm>
            <a:off x="62962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4" name="Google Shape;244;p42"/>
          <p:cNvSpPr txBox="1"/>
          <p:nvPr>
            <p:ph idx="23" type="body"/>
          </p:nvPr>
        </p:nvSpPr>
        <p:spPr>
          <a:xfrm>
            <a:off x="62962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5" name="Google Shape;245;p42"/>
          <p:cNvSpPr txBox="1"/>
          <p:nvPr>
            <p:ph idx="24" type="body"/>
          </p:nvPr>
        </p:nvSpPr>
        <p:spPr>
          <a:xfrm>
            <a:off x="62962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6" name="Google Shape;246;p42"/>
          <p:cNvSpPr txBox="1"/>
          <p:nvPr>
            <p:ph idx="25" type="body"/>
          </p:nvPr>
        </p:nvSpPr>
        <p:spPr>
          <a:xfrm>
            <a:off x="62962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7" name="Google Shape;247;p42"/>
          <p:cNvSpPr txBox="1"/>
          <p:nvPr>
            <p:ph idx="26" type="body"/>
          </p:nvPr>
        </p:nvSpPr>
        <p:spPr>
          <a:xfrm>
            <a:off x="62962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8" name="Google Shape;248;p42"/>
          <p:cNvSpPr txBox="1"/>
          <p:nvPr>
            <p:ph idx="27" type="body"/>
          </p:nvPr>
        </p:nvSpPr>
        <p:spPr>
          <a:xfrm>
            <a:off x="62962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9" name="Google Shape;249;p42"/>
          <p:cNvSpPr txBox="1"/>
          <p:nvPr>
            <p:ph idx="28" type="body"/>
          </p:nvPr>
        </p:nvSpPr>
        <p:spPr>
          <a:xfrm>
            <a:off x="62962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0" name="Google Shape;250;p42"/>
          <p:cNvSpPr txBox="1"/>
          <p:nvPr>
            <p:ph idx="29" type="body"/>
          </p:nvPr>
        </p:nvSpPr>
        <p:spPr>
          <a:xfrm>
            <a:off x="62962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1" name="Google Shape;251;p42"/>
          <p:cNvSpPr txBox="1"/>
          <p:nvPr>
            <p:ph idx="30" type="body"/>
          </p:nvPr>
        </p:nvSpPr>
        <p:spPr>
          <a:xfrm>
            <a:off x="62962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2" name="Google Shape;252;p42"/>
          <p:cNvSpPr txBox="1"/>
          <p:nvPr>
            <p:ph idx="31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53" name="Google Shape;253;p42"/>
          <p:cNvSpPr txBox="1"/>
          <p:nvPr>
            <p:ph idx="3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CUSTOM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43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" name="Google Shape;257;p43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DM Sans"/>
              <a:buChar char="○"/>
              <a:defRPr sz="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24">
          <p15:clr>
            <a:srgbClr val="E46962"/>
          </p15:clr>
        </p15:guide>
        <p15:guide id="2" orient="horz" pos="124">
          <p15:clr>
            <a:srgbClr val="E46962"/>
          </p15:clr>
        </p15:guide>
        <p15:guide id="3" pos="5636">
          <p15:clr>
            <a:srgbClr val="E46962"/>
          </p15:clr>
        </p15:guide>
        <p15:guide id="4" orient="horz" pos="3116">
          <p15:clr>
            <a:srgbClr val="E46962"/>
          </p15:clr>
        </p15:guide>
        <p15:guide id="5" pos="1296">
          <p15:clr>
            <a:srgbClr val="E46962"/>
          </p15:clr>
        </p15:guide>
        <p15:guide id="6" pos="44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1c-dn.com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Relationship Id="rId5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4.png"/><Relationship Id="rId4" Type="http://schemas.openxmlformats.org/officeDocument/2006/relationships/image" Target="../media/image3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4.png"/><Relationship Id="rId4" Type="http://schemas.openxmlformats.org/officeDocument/2006/relationships/image" Target="../media/image3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4"/>
          <p:cNvSpPr txBox="1"/>
          <p:nvPr>
            <p:ph type="ctrTitle"/>
          </p:nvPr>
        </p:nvSpPr>
        <p:spPr>
          <a:xfrm>
            <a:off x="284400" y="2325500"/>
            <a:ext cx="8575200" cy="11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latin typeface="Verdana"/>
                <a:ea typeface="Verdana"/>
                <a:cs typeface="Verdana"/>
                <a:sym typeface="Verdana"/>
              </a:rPr>
              <a:t>BUSINESS ADMINISTRATION </a:t>
            </a:r>
            <a:endParaRPr sz="39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rgbClr val="9900FF"/>
                </a:solidFill>
                <a:latin typeface="Verdana"/>
                <a:ea typeface="Verdana"/>
                <a:cs typeface="Verdana"/>
                <a:sym typeface="Verdana"/>
              </a:rPr>
              <a:t>SOFTWARE</a:t>
            </a:r>
            <a:endParaRPr sz="3800">
              <a:solidFill>
                <a:srgbClr val="9900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63" name="Google Shape;263;p44" title="College_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7238" y="304225"/>
            <a:ext cx="1249524" cy="1249524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44"/>
          <p:cNvSpPr txBox="1"/>
          <p:nvPr/>
        </p:nvSpPr>
        <p:spPr>
          <a:xfrm>
            <a:off x="2514600" y="1613596"/>
            <a:ext cx="411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ALA-TOO INTERNATIONAL UNIVERSITY</a:t>
            </a:r>
            <a:endParaRPr/>
          </a:p>
        </p:txBody>
      </p:sp>
      <p:cxnSp>
        <p:nvCxnSpPr>
          <p:cNvPr id="265" name="Google Shape;265;p44"/>
          <p:cNvCxnSpPr/>
          <p:nvPr/>
        </p:nvCxnSpPr>
        <p:spPr>
          <a:xfrm flipH="1" rot="10800000">
            <a:off x="2336050" y="2115500"/>
            <a:ext cx="4612200" cy="3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44"/>
          <p:cNvCxnSpPr/>
          <p:nvPr/>
        </p:nvCxnSpPr>
        <p:spPr>
          <a:xfrm>
            <a:off x="2994450" y="3630105"/>
            <a:ext cx="3155100" cy="8100"/>
          </a:xfrm>
          <a:prstGeom prst="straightConnector1">
            <a:avLst/>
          </a:prstGeom>
          <a:noFill/>
          <a:ln cap="flat" cmpd="sng" w="38100">
            <a:solidFill>
              <a:srgbClr val="A700F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44"/>
          <p:cNvSpPr txBox="1"/>
          <p:nvPr/>
        </p:nvSpPr>
        <p:spPr>
          <a:xfrm>
            <a:off x="3175300" y="3925408"/>
            <a:ext cx="293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94A3B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Spring Semeste</a:t>
            </a:r>
            <a:r>
              <a:rPr b="0" i="0" lang="en" sz="1800" u="none" cap="none" strike="noStrike">
                <a:solidFill>
                  <a:srgbClr val="94A3B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</a:t>
            </a:r>
            <a:r>
              <a:rPr b="0" i="0" lang="en" sz="1800" u="none" cap="none" strike="noStrike">
                <a:solidFill>
                  <a:srgbClr val="94A3B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2025-2026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5"/>
          <p:cNvSpPr txBox="1"/>
          <p:nvPr/>
        </p:nvSpPr>
        <p:spPr>
          <a:xfrm>
            <a:off x="197375" y="1644300"/>
            <a:ext cx="8833800" cy="18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i="1" lang="en" sz="35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Simplicity is prerequisite for reliability.</a:t>
            </a:r>
            <a:endParaRPr b="1" i="1" sz="35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marR="38100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i="1" lang="en" sz="35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— </a:t>
            </a:r>
            <a:r>
              <a:rPr b="1" i="1" lang="en" sz="35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Edsger W. Dijkstra</a:t>
            </a:r>
            <a:endParaRPr b="1" i="1" sz="35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marR="0" rtl="0" algn="ctr">
              <a:lnSpc>
                <a:spcPct val="159952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CBD5E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3" name="Google Shape;273;p45"/>
          <p:cNvSpPr txBox="1"/>
          <p:nvPr/>
        </p:nvSpPr>
        <p:spPr>
          <a:xfrm>
            <a:off x="388950" y="1090200"/>
            <a:ext cx="836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6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***</a:t>
            </a:r>
            <a:endParaRPr sz="3600">
              <a:solidFill>
                <a:srgbClr val="CBD5E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6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1C: Enterprise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1C SYSTEM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279" name="Google Shape;279;p46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80" name="Google Shape;28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177" y="1048150"/>
            <a:ext cx="3901650" cy="304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7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DESIGNER MODE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OUR PART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286" name="Google Shape;286;p47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7" name="Google Shape;287;p47"/>
          <p:cNvSpPr txBox="1"/>
          <p:nvPr/>
        </p:nvSpPr>
        <p:spPr>
          <a:xfrm>
            <a:off x="2907425" y="1044450"/>
            <a:ext cx="61338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-"/>
            </a:pPr>
            <a:r>
              <a:rPr lang="en" sz="1900">
                <a:solidFill>
                  <a:schemeClr val="lt1"/>
                </a:solidFill>
              </a:rPr>
              <a:t>Selecting and implementing algorithms</a:t>
            </a:r>
            <a:endParaRPr sz="19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-"/>
            </a:pPr>
            <a:r>
              <a:rPr lang="en" sz="1900">
                <a:solidFill>
                  <a:schemeClr val="lt1"/>
                </a:solidFill>
              </a:rPr>
              <a:t>Creating application’s structure</a:t>
            </a:r>
            <a:endParaRPr sz="1900">
              <a:solidFill>
                <a:schemeClr val="lt1"/>
              </a:solidFill>
            </a:endParaRPr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-"/>
            </a:pPr>
            <a:r>
              <a:rPr lang="en" sz="1900">
                <a:solidFill>
                  <a:schemeClr val="lt1"/>
                </a:solidFill>
              </a:rPr>
              <a:t>Setting up parameters</a:t>
            </a:r>
            <a:endParaRPr sz="1900">
              <a:solidFill>
                <a:schemeClr val="lt1"/>
              </a:solidFill>
            </a:endParaRPr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-"/>
            </a:pPr>
            <a:r>
              <a:rPr lang="en" sz="1900">
                <a:solidFill>
                  <a:schemeClr val="lt1"/>
                </a:solidFill>
              </a:rPr>
              <a:t>Morfing sets of predefined elements</a:t>
            </a:r>
            <a:endParaRPr sz="19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Creating apps + updating and customizing exiting </a:t>
            </a:r>
            <a:endParaRPr b="1" sz="1900">
              <a:solidFill>
                <a:schemeClr val="lt1"/>
              </a:solidFill>
            </a:endParaRPr>
          </a:p>
        </p:txBody>
      </p:sp>
      <p:pic>
        <p:nvPicPr>
          <p:cNvPr id="288" name="Google Shape;28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625" y="1023950"/>
            <a:ext cx="1749350" cy="321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5900" y="795025"/>
            <a:ext cx="939800" cy="93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8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ENTERPRISE MODE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USER PART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295" name="Google Shape;295;p48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48"/>
          <p:cNvSpPr txBox="1"/>
          <p:nvPr/>
        </p:nvSpPr>
        <p:spPr>
          <a:xfrm>
            <a:off x="664400" y="3260900"/>
            <a:ext cx="83460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Users input </a:t>
            </a:r>
            <a:r>
              <a:rPr lang="en" sz="1900">
                <a:solidFill>
                  <a:schemeClr val="lt1"/>
                </a:solidFill>
              </a:rPr>
              <a:t>their</a:t>
            </a:r>
            <a:r>
              <a:rPr lang="en" sz="1900">
                <a:solidFill>
                  <a:schemeClr val="lt1"/>
                </a:solidFill>
              </a:rPr>
              <a:t> own data to the applications using algorithms, parameters and settings implemented by developers. Users collaborate with each other and create reports.</a:t>
            </a:r>
            <a:endParaRPr b="1" sz="1900">
              <a:solidFill>
                <a:schemeClr val="lt1"/>
              </a:solidFill>
            </a:endParaRPr>
          </a:p>
        </p:txBody>
      </p:sp>
      <p:pic>
        <p:nvPicPr>
          <p:cNvPr id="297" name="Google Shape;29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1438" y="825875"/>
            <a:ext cx="4141125" cy="2330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9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DOWNLOAD AND INSTALL</a:t>
            </a: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STEP 0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03" name="Google Shape;303;p49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4" name="Google Shape;304;p49"/>
          <p:cNvSpPr txBox="1"/>
          <p:nvPr/>
        </p:nvSpPr>
        <p:spPr>
          <a:xfrm>
            <a:off x="641625" y="1497375"/>
            <a:ext cx="7984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 u="sng">
                <a:solidFill>
                  <a:srgbClr val="00FF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https://1c-dn.com/</a:t>
            </a:r>
            <a:r>
              <a:rPr b="1" lang="en" sz="2500">
                <a:solidFill>
                  <a:srgbClr val="00FFFF"/>
                </a:solidFill>
              </a:rPr>
              <a:t>  </a:t>
            </a:r>
            <a:endParaRPr b="1" sz="2500">
              <a:solidFill>
                <a:srgbClr val="00FFFF"/>
              </a:solidFill>
            </a:endParaRPr>
          </a:p>
        </p:txBody>
      </p:sp>
      <p:sp>
        <p:nvSpPr>
          <p:cNvPr id="305" name="Google Shape;305;p49"/>
          <p:cNvSpPr txBox="1"/>
          <p:nvPr/>
        </p:nvSpPr>
        <p:spPr>
          <a:xfrm>
            <a:off x="1082500" y="2392300"/>
            <a:ext cx="7254600" cy="16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-"/>
            </a:pPr>
            <a:r>
              <a:rPr lang="en" sz="1900">
                <a:solidFill>
                  <a:schemeClr val="lt1"/>
                </a:solidFill>
              </a:rPr>
              <a:t>Create an account, make sure you avoid all unnecessary ticks 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-"/>
            </a:pPr>
            <a:r>
              <a:rPr lang="en" sz="1900">
                <a:solidFill>
                  <a:schemeClr val="lt1"/>
                </a:solidFill>
              </a:rPr>
              <a:t>Login to your account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-"/>
            </a:pPr>
            <a:r>
              <a:rPr lang="en" sz="1900">
                <a:solidFill>
                  <a:schemeClr val="lt1"/>
                </a:solidFill>
              </a:rPr>
              <a:t>Select “Free trial” at the top left 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-"/>
            </a:pPr>
            <a:r>
              <a:rPr lang="en" sz="1900">
                <a:solidFill>
                  <a:schemeClr val="lt1"/>
                </a:solidFill>
              </a:rPr>
              <a:t>Choose your </a:t>
            </a:r>
            <a:r>
              <a:rPr lang="en" sz="1900">
                <a:solidFill>
                  <a:schemeClr val="lt1"/>
                </a:solidFill>
              </a:rPr>
              <a:t>platform</a:t>
            </a:r>
            <a:r>
              <a:rPr lang="en" sz="1900">
                <a:solidFill>
                  <a:schemeClr val="lt1"/>
                </a:solidFill>
              </a:rPr>
              <a:t> version and start the </a:t>
            </a:r>
            <a:r>
              <a:rPr lang="en" sz="1900">
                <a:solidFill>
                  <a:schemeClr val="lt1"/>
                </a:solidFill>
              </a:rPr>
              <a:t>download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-"/>
            </a:pPr>
            <a:r>
              <a:rPr lang="en" sz="1900">
                <a:solidFill>
                  <a:schemeClr val="lt1"/>
                </a:solidFill>
              </a:rPr>
              <a:t>For the installation process just follow the installation wizard </a:t>
            </a:r>
            <a:r>
              <a:rPr lang="en" sz="1900">
                <a:solidFill>
                  <a:schemeClr val="lt1"/>
                </a:solidFill>
              </a:rPr>
              <a:t> 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0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CREATING FIRST INFOBASE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STEP 1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11" name="Google Shape;311;p50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" name="Google Shape;312;p50"/>
          <p:cNvSpPr txBox="1"/>
          <p:nvPr/>
        </p:nvSpPr>
        <p:spPr>
          <a:xfrm>
            <a:off x="236038" y="2748100"/>
            <a:ext cx="86040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(SELECT </a:t>
            </a:r>
            <a:r>
              <a:rPr b="1" lang="en" sz="1900">
                <a:solidFill>
                  <a:srgbClr val="00FF00"/>
                </a:solidFill>
              </a:rPr>
              <a:t>NO</a:t>
            </a:r>
            <a:r>
              <a:rPr lang="en" sz="1900">
                <a:solidFill>
                  <a:srgbClr val="00FF00"/>
                </a:solidFill>
              </a:rPr>
              <a:t> </a:t>
            </a:r>
            <a:r>
              <a:rPr lang="en" sz="1900">
                <a:solidFill>
                  <a:schemeClr val="lt1"/>
                </a:solidFill>
              </a:rPr>
              <a:t>OPTION) 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Each infobase contains user’s data and program </a:t>
            </a:r>
            <a:r>
              <a:rPr lang="en" sz="1900">
                <a:solidFill>
                  <a:schemeClr val="lt1"/>
                </a:solidFill>
              </a:rPr>
              <a:t>itself</a:t>
            </a:r>
            <a:r>
              <a:rPr lang="en" sz="1900">
                <a:solidFill>
                  <a:schemeClr val="lt1"/>
                </a:solidFill>
              </a:rPr>
              <a:t> </a:t>
            </a:r>
            <a:r>
              <a:rPr lang="en" sz="1900">
                <a:solidFill>
                  <a:schemeClr val="lt1"/>
                </a:solidFill>
              </a:rPr>
              <a:t>which</a:t>
            </a:r>
            <a:r>
              <a:rPr lang="en" sz="1900">
                <a:solidFill>
                  <a:schemeClr val="lt1"/>
                </a:solidFill>
              </a:rPr>
              <a:t> the platform </a:t>
            </a:r>
            <a:r>
              <a:rPr lang="en" sz="1900">
                <a:solidFill>
                  <a:schemeClr val="lt1"/>
                </a:solidFill>
              </a:rPr>
              <a:t>executes, therefor creation of any 1C:Enterprise application starts from creating an infobase where the application and the data driven by it will be stored.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13" name="Google Shape;31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6462" y="916325"/>
            <a:ext cx="3083175" cy="157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1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CREATING FIRST INFOBASE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STEP 2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19" name="Google Shape;319;p51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0" name="Google Shape;320;p51"/>
          <p:cNvSpPr txBox="1"/>
          <p:nvPr/>
        </p:nvSpPr>
        <p:spPr>
          <a:xfrm>
            <a:off x="300875" y="4558025"/>
            <a:ext cx="387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Select </a:t>
            </a:r>
            <a:r>
              <a:rPr b="1" lang="en" sz="1900">
                <a:solidFill>
                  <a:srgbClr val="00FF00"/>
                </a:solidFill>
              </a:rPr>
              <a:t>Add </a:t>
            </a:r>
            <a:r>
              <a:rPr lang="en" sz="1900">
                <a:solidFill>
                  <a:schemeClr val="lt1"/>
                </a:solidFill>
              </a:rPr>
              <a:t>button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21" name="Google Shape;32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925" y="963825"/>
            <a:ext cx="3870000" cy="328605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51"/>
          <p:cNvSpPr/>
          <p:nvPr/>
        </p:nvSpPr>
        <p:spPr>
          <a:xfrm>
            <a:off x="4351500" y="2362475"/>
            <a:ext cx="497400" cy="55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0B981"/>
              </a:solidFill>
              <a:highlight>
                <a:srgbClr val="10B981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23" name="Google Shape;323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475" y="952525"/>
            <a:ext cx="3439125" cy="329735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51"/>
          <p:cNvSpPr txBox="1"/>
          <p:nvPr/>
        </p:nvSpPr>
        <p:spPr>
          <a:xfrm>
            <a:off x="4983100" y="4481425"/>
            <a:ext cx="353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Select </a:t>
            </a:r>
            <a:r>
              <a:rPr b="1" lang="en" sz="1900">
                <a:solidFill>
                  <a:srgbClr val="00FF00"/>
                </a:solidFill>
              </a:rPr>
              <a:t>Create infobase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2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CREATING FIRST INFOBASE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STEP 3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30" name="Google Shape;330;p52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1" name="Google Shape;331;p52"/>
          <p:cNvSpPr txBox="1"/>
          <p:nvPr/>
        </p:nvSpPr>
        <p:spPr>
          <a:xfrm>
            <a:off x="300875" y="4558025"/>
            <a:ext cx="387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Select </a:t>
            </a:r>
            <a:r>
              <a:rPr b="1" lang="en" sz="1900">
                <a:solidFill>
                  <a:srgbClr val="00FF00"/>
                </a:solidFill>
              </a:rPr>
              <a:t>NEW infobase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2" name="Google Shape;332;p52"/>
          <p:cNvSpPr/>
          <p:nvPr/>
        </p:nvSpPr>
        <p:spPr>
          <a:xfrm>
            <a:off x="4351500" y="2362475"/>
            <a:ext cx="497400" cy="55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0B981"/>
              </a:solidFill>
              <a:highlight>
                <a:srgbClr val="10B981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3" name="Google Shape;333;p52"/>
          <p:cNvSpPr txBox="1"/>
          <p:nvPr/>
        </p:nvSpPr>
        <p:spPr>
          <a:xfrm>
            <a:off x="4794675" y="4623375"/>
            <a:ext cx="3990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Name it and keep on this pc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34" name="Google Shape;33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275" y="883875"/>
            <a:ext cx="3503085" cy="359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2975" y="879050"/>
            <a:ext cx="3390250" cy="359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3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CREATING FIRST INFOBASE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STEP 4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41" name="Google Shape;341;p53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" name="Google Shape;342;p53"/>
          <p:cNvSpPr txBox="1"/>
          <p:nvPr/>
        </p:nvSpPr>
        <p:spPr>
          <a:xfrm>
            <a:off x="300875" y="4558025"/>
            <a:ext cx="387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Select </a:t>
            </a:r>
            <a:r>
              <a:rPr b="1" lang="en" sz="1900">
                <a:solidFill>
                  <a:srgbClr val="00FF00"/>
                </a:solidFill>
              </a:rPr>
              <a:t>NEW infobase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3" name="Google Shape;343;p53"/>
          <p:cNvSpPr/>
          <p:nvPr/>
        </p:nvSpPr>
        <p:spPr>
          <a:xfrm>
            <a:off x="4269850" y="2362475"/>
            <a:ext cx="497400" cy="55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0B981"/>
              </a:solidFill>
              <a:highlight>
                <a:srgbClr val="10B981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4" name="Google Shape;344;p53"/>
          <p:cNvSpPr txBox="1"/>
          <p:nvPr/>
        </p:nvSpPr>
        <p:spPr>
          <a:xfrm>
            <a:off x="4794675" y="4623375"/>
            <a:ext cx="3990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Just select Finish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45" name="Google Shape;34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750" y="854475"/>
            <a:ext cx="3558246" cy="366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2100" y="840725"/>
            <a:ext cx="3536046" cy="366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4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CREATING FIRST INFOBASE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STEP 5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52" name="Google Shape;352;p54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3" name="Google Shape;353;p54"/>
          <p:cNvSpPr txBox="1"/>
          <p:nvPr/>
        </p:nvSpPr>
        <p:spPr>
          <a:xfrm>
            <a:off x="300875" y="4558025"/>
            <a:ext cx="840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Select </a:t>
            </a:r>
            <a:r>
              <a:rPr b="1" lang="en" sz="1900">
                <a:solidFill>
                  <a:srgbClr val="00FF00"/>
                </a:solidFill>
              </a:rPr>
              <a:t>your infobase and press Designer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54" name="Google Shape;35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2650" y="887350"/>
            <a:ext cx="4578700" cy="359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5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CONFIGURATIONS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STEP 0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60" name="Google Shape;360;p55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1" name="Google Shape;361;p55"/>
          <p:cNvSpPr txBox="1"/>
          <p:nvPr/>
        </p:nvSpPr>
        <p:spPr>
          <a:xfrm>
            <a:off x="533350" y="4513850"/>
            <a:ext cx="8169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Select </a:t>
            </a:r>
            <a:r>
              <a:rPr b="1" lang="en" sz="1900">
                <a:solidFill>
                  <a:srgbClr val="00FF00"/>
                </a:solidFill>
              </a:rPr>
              <a:t>Configuration </a:t>
            </a:r>
            <a:r>
              <a:rPr lang="en" sz="1900">
                <a:solidFill>
                  <a:schemeClr val="lt1"/>
                </a:solidFill>
              </a:rPr>
              <a:t>option on the top left </a:t>
            </a:r>
            <a:r>
              <a:rPr lang="en" sz="1900">
                <a:solidFill>
                  <a:schemeClr val="lt1"/>
                </a:solidFill>
              </a:rPr>
              <a:t>corner then </a:t>
            </a:r>
            <a:r>
              <a:rPr b="1" lang="en" sz="1900">
                <a:solidFill>
                  <a:srgbClr val="00FF00"/>
                </a:solidFill>
              </a:rPr>
              <a:t>Open configuration</a:t>
            </a:r>
            <a:endParaRPr b="1">
              <a:solidFill>
                <a:srgbClr val="00FF00"/>
              </a:solidFill>
            </a:endParaRPr>
          </a:p>
        </p:txBody>
      </p:sp>
      <p:pic>
        <p:nvPicPr>
          <p:cNvPr id="362" name="Google Shape;36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6025" y="840725"/>
            <a:ext cx="6171959" cy="3553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6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CONFIGURATIONS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STEP 1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68" name="Google Shape;368;p56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9" name="Google Shape;369;p56"/>
          <p:cNvSpPr txBox="1"/>
          <p:nvPr/>
        </p:nvSpPr>
        <p:spPr>
          <a:xfrm>
            <a:off x="533350" y="4513850"/>
            <a:ext cx="8169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Make sure you get the configuration window with config tree </a:t>
            </a:r>
            <a:endParaRPr b="1">
              <a:solidFill>
                <a:srgbClr val="00FF00"/>
              </a:solidFill>
            </a:endParaRPr>
          </a:p>
        </p:txBody>
      </p:sp>
      <p:pic>
        <p:nvPicPr>
          <p:cNvPr id="370" name="Google Shape;37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1400" y="840725"/>
            <a:ext cx="1881198" cy="355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7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METADATA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CLASSES AND OBJECTS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76" name="Google Shape;376;p57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" name="Google Shape;377;p57"/>
          <p:cNvSpPr txBox="1"/>
          <p:nvPr/>
        </p:nvSpPr>
        <p:spPr>
          <a:xfrm>
            <a:off x="579750" y="1095150"/>
            <a:ext cx="7984500" cy="3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Metadata classes are </a:t>
            </a:r>
            <a:r>
              <a:rPr lang="en" sz="1900">
                <a:solidFill>
                  <a:schemeClr val="lt1"/>
                </a:solidFill>
              </a:rPr>
              <a:t>basically business components, they are predefined and visually configurable building blocks that are widely used in enterprise applications:</a:t>
            </a:r>
            <a:endParaRPr sz="1900">
              <a:solidFill>
                <a:schemeClr val="lt1"/>
              </a:solidFill>
            </a:endParaRPr>
          </a:p>
          <a:p>
            <a:pPr indent="-34925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-"/>
            </a:pPr>
            <a:r>
              <a:rPr lang="en" sz="1900">
                <a:solidFill>
                  <a:schemeClr val="lt1"/>
                </a:solidFill>
              </a:rPr>
              <a:t>Documents</a:t>
            </a:r>
            <a:endParaRPr sz="1900">
              <a:solidFill>
                <a:schemeClr val="lt1"/>
              </a:solidFill>
            </a:endParaRPr>
          </a:p>
          <a:p>
            <a:pPr indent="-34925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-"/>
            </a:pPr>
            <a:r>
              <a:rPr lang="en" sz="1900">
                <a:solidFill>
                  <a:schemeClr val="lt1"/>
                </a:solidFill>
              </a:rPr>
              <a:t>Catalogs</a:t>
            </a:r>
            <a:endParaRPr sz="1900">
              <a:solidFill>
                <a:schemeClr val="lt1"/>
              </a:solidFill>
            </a:endParaRPr>
          </a:p>
          <a:p>
            <a:pPr indent="-34925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-"/>
            </a:pPr>
            <a:r>
              <a:rPr lang="en" sz="1900">
                <a:solidFill>
                  <a:schemeClr val="lt1"/>
                </a:solidFill>
              </a:rPr>
              <a:t>Information registers</a:t>
            </a:r>
            <a:endParaRPr sz="1900">
              <a:solidFill>
                <a:schemeClr val="lt1"/>
              </a:solidFill>
            </a:endParaRPr>
          </a:p>
          <a:p>
            <a:pPr indent="-34925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-"/>
            </a:pPr>
            <a:r>
              <a:rPr lang="en" sz="1900">
                <a:solidFill>
                  <a:schemeClr val="lt1"/>
                </a:solidFill>
              </a:rPr>
              <a:t>Accumulation registers</a:t>
            </a:r>
            <a:endParaRPr sz="1900">
              <a:solidFill>
                <a:schemeClr val="lt1"/>
              </a:solidFill>
            </a:endParaRPr>
          </a:p>
          <a:p>
            <a:pPr indent="-34925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-"/>
            </a:pPr>
            <a:r>
              <a:rPr lang="en" sz="1900">
                <a:solidFill>
                  <a:schemeClr val="lt1"/>
                </a:solidFill>
              </a:rPr>
              <a:t>Accounting registers</a:t>
            </a:r>
            <a:endParaRPr sz="1900">
              <a:solidFill>
                <a:schemeClr val="lt1"/>
              </a:solidFill>
            </a:endParaRPr>
          </a:p>
          <a:p>
            <a:pPr indent="-34925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-"/>
            </a:pPr>
            <a:r>
              <a:rPr lang="en" sz="1900">
                <a:solidFill>
                  <a:schemeClr val="lt1"/>
                </a:solidFill>
              </a:rPr>
              <a:t>Calculation registers</a:t>
            </a:r>
            <a:endParaRPr sz="1900">
              <a:solidFill>
                <a:schemeClr val="lt1"/>
              </a:solidFill>
            </a:endParaRPr>
          </a:p>
          <a:p>
            <a:pPr indent="-34925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-"/>
            </a:pPr>
            <a:r>
              <a:rPr lang="en" sz="1900">
                <a:solidFill>
                  <a:schemeClr val="lt1"/>
                </a:solidFill>
              </a:rPr>
              <a:t>Business processes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8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ANALOGY 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METADATA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83" name="Google Shape;383;p58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84" name="Google Shape;38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503475"/>
            <a:ext cx="3731451" cy="248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4500" y="101575"/>
            <a:ext cx="7010550" cy="562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82850" y="1910099"/>
            <a:ext cx="4657876" cy="347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9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METADATA CLASS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DOCUMENTS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92" name="Google Shape;392;p59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3" name="Google Shape;393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1925" y="786275"/>
            <a:ext cx="6160157" cy="41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0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METADATA CLASS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DOCUMENTS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99" name="Google Shape;399;p60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0" name="Google Shape;40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3475" y="867525"/>
            <a:ext cx="5717050" cy="41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1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METADATA CLASS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ATTRIBUTES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06" name="Google Shape;406;p61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7" name="Google Shape;40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3800" y="867525"/>
            <a:ext cx="3916402" cy="41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2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METADATA CLASS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ATTRIBUTES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13" name="Google Shape;413;p62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4" name="Google Shape;414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75" y="837800"/>
            <a:ext cx="4586626" cy="41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3"/>
          <p:cNvSpPr txBox="1"/>
          <p:nvPr/>
        </p:nvSpPr>
        <p:spPr>
          <a:xfrm>
            <a:off x="441450" y="101575"/>
            <a:ext cx="826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RESTRUCTURE DATA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 OPEN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ENTERPRISE MODE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20" name="Google Shape;420;p63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21" name="Google Shape;421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450" y="786275"/>
            <a:ext cx="8366051" cy="41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4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ENTERPRISE</a:t>
            </a: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MODE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ENTERPRISE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27" name="Google Shape;427;p64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28" name="Google Shape;428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7450" y="1343225"/>
            <a:ext cx="4229100" cy="260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5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CONFIGURATIONS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ENTERPRISE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34" name="Google Shape;434;p65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35" name="Google Shape;43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4050" y="936925"/>
            <a:ext cx="5295900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6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CONFIGURATIONS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ENTERPRISE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41" name="Google Shape;441;p66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2" name="Google Shape;44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31750"/>
            <a:ext cx="8839199" cy="2880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7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CATALOGS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CREATION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48" name="Google Shape;448;p67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9" name="Google Shape;44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2588" y="854475"/>
            <a:ext cx="6138829" cy="41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8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CATALOGS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CREATION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55" name="Google Shape;455;p68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6" name="Google Shape;45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2475" y="823550"/>
            <a:ext cx="7680064" cy="41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9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CATALOGS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ENTERPRISE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62" name="Google Shape;462;p69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3" name="Google Shape;46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16350"/>
            <a:ext cx="8839200" cy="3582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70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CATALOGS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ENTERPRISE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69" name="Google Shape;469;p70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0" name="Google Shape;470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6950" y="1443025"/>
            <a:ext cx="4610100" cy="225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1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CATALOGS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ENTERPRISE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76" name="Google Shape;476;p71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7" name="Google Shape;47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16375"/>
            <a:ext cx="8839200" cy="3930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72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CATALOGS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ENTERPRISE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83" name="Google Shape;483;p72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84" name="Google Shape;484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375" y="1318550"/>
            <a:ext cx="8839200" cy="2578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73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CATALOG ATTRIBUTES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DESIGNER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90" name="Google Shape;490;p73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91" name="Google Shape;49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488" y="839025"/>
            <a:ext cx="5969036" cy="41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74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CATALOG ATTRIBUTES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DESIGNER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97" name="Google Shape;497;p74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98" name="Google Shape;498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63" y="846750"/>
            <a:ext cx="2396276" cy="4183025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74"/>
          <p:cNvSpPr txBox="1"/>
          <p:nvPr/>
        </p:nvSpPr>
        <p:spPr>
          <a:xfrm>
            <a:off x="3750500" y="1350375"/>
            <a:ext cx="50430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RULES: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 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-"/>
            </a:pPr>
            <a:r>
              <a:rPr b="1" lang="en" sz="1900">
                <a:solidFill>
                  <a:srgbClr val="FF0000"/>
                </a:solidFill>
              </a:rPr>
              <a:t>DON'T</a:t>
            </a:r>
            <a:r>
              <a:rPr b="1" lang="en" sz="1900">
                <a:solidFill>
                  <a:srgbClr val="FF0000"/>
                </a:solidFill>
              </a:rPr>
              <a:t> </a:t>
            </a:r>
            <a:r>
              <a:rPr lang="en" sz="1900">
                <a:solidFill>
                  <a:schemeClr val="lt1"/>
                </a:solidFill>
              </a:rPr>
              <a:t>USE SPECIAL SYMBOLS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-"/>
            </a:pPr>
            <a:r>
              <a:rPr b="1" lang="en" sz="1900">
                <a:solidFill>
                  <a:srgbClr val="FF0000"/>
                </a:solidFill>
              </a:rPr>
              <a:t>DON'T</a:t>
            </a:r>
            <a:r>
              <a:rPr b="1" lang="en" sz="1900">
                <a:solidFill>
                  <a:srgbClr val="FF0000"/>
                </a:solidFill>
              </a:rPr>
              <a:t> </a:t>
            </a:r>
            <a:r>
              <a:rPr lang="en" sz="1900">
                <a:solidFill>
                  <a:schemeClr val="lt1"/>
                </a:solidFill>
              </a:rPr>
              <a:t>START WITH A NUMBER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900"/>
              <a:buChar char="-"/>
            </a:pPr>
            <a:r>
              <a:rPr b="1" lang="en" sz="1900">
                <a:solidFill>
                  <a:srgbClr val="00FF00"/>
                </a:solidFill>
              </a:rPr>
              <a:t>USE CAPITAL LETTERS(CAMEL CASE)</a:t>
            </a:r>
            <a:endParaRPr b="1" sz="19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75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CATALOG ATTRIBUTES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ENTERPRISE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05" name="Google Shape;505;p75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06" name="Google Shape;506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9375" y="1495425"/>
            <a:ext cx="3905250" cy="21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76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CATALOG ATTRIBUTES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ENTERPRISE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12" name="Google Shape;512;p76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13" name="Google Shape;513;p76"/>
          <p:cNvPicPr preferRelativeResize="0"/>
          <p:nvPr/>
        </p:nvPicPr>
        <p:blipFill rotWithShape="1">
          <a:blip r:embed="rId3">
            <a:alphaModFix/>
          </a:blip>
          <a:srcRect b="23647" l="0" r="0" t="0"/>
          <a:stretch/>
        </p:blipFill>
        <p:spPr>
          <a:xfrm>
            <a:off x="940700" y="1118875"/>
            <a:ext cx="7761850" cy="341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77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CATALOG ATTRIBUTES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ENTERPRISE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19" name="Google Shape;519;p77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0" name="Google Shape;520;p77"/>
          <p:cNvPicPr preferRelativeResize="0"/>
          <p:nvPr/>
        </p:nvPicPr>
        <p:blipFill rotWithShape="1">
          <a:blip r:embed="rId3">
            <a:alphaModFix/>
          </a:blip>
          <a:srcRect b="23647" l="0" r="0" t="0"/>
          <a:stretch/>
        </p:blipFill>
        <p:spPr>
          <a:xfrm>
            <a:off x="940700" y="1118875"/>
            <a:ext cx="7761850" cy="341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8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STANDARD ATTRIBUTES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DESIGNER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26" name="Google Shape;526;p78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7" name="Google Shape;52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2675" y="862225"/>
            <a:ext cx="4158657" cy="4183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79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STANDARD ATTRIBUTES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DESIGNER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33" name="Google Shape;533;p79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34" name="Google Shape;534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9713" y="873650"/>
            <a:ext cx="6086475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79"/>
          <p:cNvSpPr txBox="1"/>
          <p:nvPr/>
        </p:nvSpPr>
        <p:spPr>
          <a:xfrm>
            <a:off x="308600" y="3655300"/>
            <a:ext cx="8562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We </a:t>
            </a:r>
            <a:r>
              <a:rPr b="1" lang="en" sz="1900">
                <a:solidFill>
                  <a:srgbClr val="00FF00"/>
                </a:solidFill>
              </a:rPr>
              <a:t>CAN</a:t>
            </a:r>
            <a:r>
              <a:rPr lang="en" sz="1900">
                <a:solidFill>
                  <a:schemeClr val="lt1"/>
                </a:solidFill>
              </a:rPr>
              <a:t> use standard attributes </a:t>
            </a:r>
            <a:r>
              <a:rPr b="1" lang="en" sz="1900">
                <a:solidFill>
                  <a:srgbClr val="FF0000"/>
                </a:solidFill>
              </a:rPr>
              <a:t>BUT</a:t>
            </a:r>
            <a:r>
              <a:rPr lang="en" sz="1900">
                <a:solidFill>
                  <a:schemeClr val="lt1"/>
                </a:solidFill>
              </a:rPr>
              <a:t> we </a:t>
            </a:r>
            <a:r>
              <a:rPr b="1" lang="en" sz="1900">
                <a:solidFill>
                  <a:srgbClr val="FF0000"/>
                </a:solidFill>
              </a:rPr>
              <a:t>CANNOT</a:t>
            </a:r>
            <a:r>
              <a:rPr lang="en" sz="1900">
                <a:solidFill>
                  <a:schemeClr val="lt1"/>
                </a:solidFill>
              </a:rPr>
              <a:t> change there name or type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80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STANDARD ATTRIBUTES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DESIGNER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41" name="Google Shape;541;p80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42" name="Google Shape;542;p80"/>
          <p:cNvPicPr preferRelativeResize="0"/>
          <p:nvPr/>
        </p:nvPicPr>
        <p:blipFill rotWithShape="1">
          <a:blip r:embed="rId3">
            <a:alphaModFix/>
          </a:blip>
          <a:srcRect b="66343" l="0" r="0" t="12627"/>
          <a:stretch/>
        </p:blipFill>
        <p:spPr>
          <a:xfrm>
            <a:off x="524438" y="1864688"/>
            <a:ext cx="8095125" cy="646900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80"/>
          <p:cNvSpPr txBox="1"/>
          <p:nvPr/>
        </p:nvSpPr>
        <p:spPr>
          <a:xfrm>
            <a:off x="331800" y="2889575"/>
            <a:ext cx="85623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Ref - is a data type corresponding to a specific metadata object, but when we work with an object we can read, write and edit. Ref only gives us to read the data and use it somewhere else. 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81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STANDARD ATTRIBUTES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DESIGNER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49" name="Google Shape;549;p81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50" name="Google Shape;550;p81"/>
          <p:cNvPicPr preferRelativeResize="0"/>
          <p:nvPr/>
        </p:nvPicPr>
        <p:blipFill rotWithShape="1">
          <a:blip r:embed="rId3">
            <a:alphaModFix/>
          </a:blip>
          <a:srcRect b="60201" l="0" r="0" t="25127"/>
          <a:stretch/>
        </p:blipFill>
        <p:spPr>
          <a:xfrm>
            <a:off x="940975" y="1365925"/>
            <a:ext cx="7501501" cy="409925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81"/>
          <p:cNvSpPr txBox="1"/>
          <p:nvPr/>
        </p:nvSpPr>
        <p:spPr>
          <a:xfrm>
            <a:off x="581700" y="2054225"/>
            <a:ext cx="80415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Code is a unique value for any element system is using. Can change code manually but not the name or type. 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82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STANDARD ATTRIBUTES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DESIGNER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57" name="Google Shape;557;p82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58" name="Google Shape;558;p82"/>
          <p:cNvPicPr preferRelativeResize="0"/>
          <p:nvPr/>
        </p:nvPicPr>
        <p:blipFill rotWithShape="1">
          <a:blip r:embed="rId3">
            <a:alphaModFix/>
          </a:blip>
          <a:srcRect b="52756" l="0" r="0" t="34341"/>
          <a:stretch/>
        </p:blipFill>
        <p:spPr>
          <a:xfrm>
            <a:off x="1528763" y="1072025"/>
            <a:ext cx="6086475" cy="292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82"/>
          <p:cNvSpPr txBox="1"/>
          <p:nvPr/>
        </p:nvSpPr>
        <p:spPr>
          <a:xfrm>
            <a:off x="1824600" y="1544450"/>
            <a:ext cx="5738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Description is an exact name of an attribute.</a:t>
            </a:r>
            <a:endParaRPr sz="1900">
              <a:solidFill>
                <a:schemeClr val="lt1"/>
              </a:solidFill>
            </a:endParaRPr>
          </a:p>
        </p:txBody>
      </p:sp>
      <p:pic>
        <p:nvPicPr>
          <p:cNvPr id="560" name="Google Shape;560;p82"/>
          <p:cNvPicPr preferRelativeResize="0"/>
          <p:nvPr/>
        </p:nvPicPr>
        <p:blipFill rotWithShape="1">
          <a:blip r:embed="rId4">
            <a:alphaModFix/>
          </a:blip>
          <a:srcRect b="0" l="0" r="43849" t="0"/>
          <a:stretch/>
        </p:blipFill>
        <p:spPr>
          <a:xfrm>
            <a:off x="197375" y="2407000"/>
            <a:ext cx="1308675" cy="1464925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82"/>
          <p:cNvSpPr txBox="1"/>
          <p:nvPr/>
        </p:nvSpPr>
        <p:spPr>
          <a:xfrm>
            <a:off x="1506050" y="2571750"/>
            <a:ext cx="7419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-"/>
            </a:pPr>
            <a:r>
              <a:rPr lang="en" sz="1900">
                <a:solidFill>
                  <a:schemeClr val="lt1"/>
                </a:solidFill>
              </a:rPr>
              <a:t>is a marker for </a:t>
            </a:r>
            <a:r>
              <a:rPr lang="en" sz="1900">
                <a:solidFill>
                  <a:schemeClr val="lt1"/>
                </a:solidFill>
              </a:rPr>
              <a:t>subordination</a:t>
            </a:r>
            <a:r>
              <a:rPr lang="en" sz="1900">
                <a:solidFill>
                  <a:schemeClr val="lt1"/>
                </a:solidFill>
              </a:rPr>
              <a:t> mechanism (to filter information)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562" name="Google Shape;562;p82"/>
          <p:cNvSpPr txBox="1"/>
          <p:nvPr/>
        </p:nvSpPr>
        <p:spPr>
          <a:xfrm>
            <a:off x="1506050" y="2993200"/>
            <a:ext cx="7419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-"/>
            </a:pPr>
            <a:r>
              <a:rPr lang="en" sz="1900">
                <a:solidFill>
                  <a:schemeClr val="lt1"/>
                </a:solidFill>
              </a:rPr>
              <a:t>is a name of a folder where the element is stored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563" name="Google Shape;563;p82"/>
          <p:cNvSpPr txBox="1"/>
          <p:nvPr/>
        </p:nvSpPr>
        <p:spPr>
          <a:xfrm>
            <a:off x="1528775" y="3414650"/>
            <a:ext cx="7419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-"/>
            </a:pPr>
            <a:r>
              <a:rPr lang="en" sz="1900">
                <a:solidFill>
                  <a:schemeClr val="lt1"/>
                </a:solidFill>
              </a:rPr>
              <a:t>is a </a:t>
            </a:r>
            <a:r>
              <a:rPr lang="en" sz="1900">
                <a:solidFill>
                  <a:schemeClr val="lt1"/>
                </a:solidFill>
              </a:rPr>
              <a:t>boolean</a:t>
            </a:r>
            <a:r>
              <a:rPr lang="en" sz="1900">
                <a:solidFill>
                  <a:schemeClr val="lt1"/>
                </a:solidFill>
              </a:rPr>
              <a:t> marker to show if this element is a folder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83"/>
          <p:cNvSpPr txBox="1"/>
          <p:nvPr/>
        </p:nvSpPr>
        <p:spPr>
          <a:xfrm>
            <a:off x="441450" y="101575"/>
            <a:ext cx="826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STANDARD ATTRIBUTES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DESIGNER MODE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69" name="Google Shape;569;p83"/>
          <p:cNvCxnSpPr/>
          <p:nvPr/>
        </p:nvCxnSpPr>
        <p:spPr>
          <a:xfrm>
            <a:off x="3097050" y="72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70" name="Google Shape;570;p83"/>
          <p:cNvPicPr preferRelativeResize="0"/>
          <p:nvPr/>
        </p:nvPicPr>
        <p:blipFill rotWithShape="1">
          <a:blip r:embed="rId3">
            <a:alphaModFix/>
          </a:blip>
          <a:srcRect b="52756" l="0" r="0" t="34341"/>
          <a:stretch/>
        </p:blipFill>
        <p:spPr>
          <a:xfrm>
            <a:off x="1528763" y="1072025"/>
            <a:ext cx="6086475" cy="292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83"/>
          <p:cNvSpPr txBox="1"/>
          <p:nvPr/>
        </p:nvSpPr>
        <p:spPr>
          <a:xfrm>
            <a:off x="1824600" y="1544450"/>
            <a:ext cx="5738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Description is an exact name of an attribute.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572" name="Google Shape;572;p83"/>
          <p:cNvSpPr txBox="1"/>
          <p:nvPr/>
        </p:nvSpPr>
        <p:spPr>
          <a:xfrm>
            <a:off x="1983125" y="2602700"/>
            <a:ext cx="7002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- to show if user decided to delete an element (mark for admin)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573" name="Google Shape;573;p83"/>
          <p:cNvSpPr txBox="1"/>
          <p:nvPr/>
        </p:nvSpPr>
        <p:spPr>
          <a:xfrm>
            <a:off x="1983125" y="2927075"/>
            <a:ext cx="692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- to show if marker got any predefined value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574" name="Google Shape;574;p83"/>
          <p:cNvSpPr txBox="1"/>
          <p:nvPr/>
        </p:nvSpPr>
        <p:spPr>
          <a:xfrm>
            <a:off x="1983125" y="3219575"/>
            <a:ext cx="7419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- name of an exact element or field in which data is predefined</a:t>
            </a:r>
            <a:endParaRPr sz="1900">
              <a:solidFill>
                <a:schemeClr val="lt1"/>
              </a:solidFill>
            </a:endParaRPr>
          </a:p>
        </p:txBody>
      </p:sp>
      <p:pic>
        <p:nvPicPr>
          <p:cNvPr id="575" name="Google Shape;575;p83"/>
          <p:cNvPicPr preferRelativeResize="0"/>
          <p:nvPr/>
        </p:nvPicPr>
        <p:blipFill rotWithShape="1">
          <a:blip r:embed="rId4">
            <a:alphaModFix/>
          </a:blip>
          <a:srcRect b="0" l="0" r="9780" t="0"/>
          <a:stretch/>
        </p:blipFill>
        <p:spPr>
          <a:xfrm>
            <a:off x="51875" y="2602700"/>
            <a:ext cx="1931250" cy="94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84"/>
          <p:cNvSpPr txBox="1"/>
          <p:nvPr/>
        </p:nvSpPr>
        <p:spPr>
          <a:xfrm>
            <a:off x="441450" y="196450"/>
            <a:ext cx="8261100" cy="3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NEXT WEEK PREVIEW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WHAT’S COMING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3800">
                <a:solidFill>
                  <a:schemeClr val="lt1"/>
                </a:solidFill>
              </a:rPr>
              <a:t>MORE 1C LABS</a:t>
            </a:r>
            <a:endParaRPr b="1" sz="3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81" name="Google Shape;581;p84"/>
          <p:cNvCxnSpPr/>
          <p:nvPr/>
        </p:nvCxnSpPr>
        <p:spPr>
          <a:xfrm>
            <a:off x="3097050" y="8175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cience Presentation">
  <a:themeElements>
    <a:clrScheme name="Simple Light">
      <a:dk1>
        <a:srgbClr val="005088"/>
      </a:dk1>
      <a:lt1>
        <a:srgbClr val="F3F0DF"/>
      </a:lt1>
      <a:dk2>
        <a:srgbClr val="121212"/>
      </a:dk2>
      <a:lt2>
        <a:srgbClr val="D0E0E3"/>
      </a:lt2>
      <a:accent1>
        <a:srgbClr val="11CAA0"/>
      </a:accent1>
      <a:accent2>
        <a:srgbClr val="6D6D6B"/>
      </a:accent2>
      <a:accent3>
        <a:srgbClr val="FFFFFF"/>
      </a:accent3>
      <a:accent4>
        <a:srgbClr val="656839"/>
      </a:accent4>
      <a:accent5>
        <a:srgbClr val="774936"/>
      </a:accent5>
      <a:accent6>
        <a:srgbClr val="C492B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