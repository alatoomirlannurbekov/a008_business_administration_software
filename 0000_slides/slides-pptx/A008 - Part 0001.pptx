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4"/>
    <p:sldMasterId id="214748369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embeddedFontLst>
    <p:embeddedFont>
      <p:font typeface="DM Sans Medium"/>
      <p:regular r:id="rId57"/>
      <p:bold r:id="rId58"/>
      <p:italic r:id="rId59"/>
      <p:boldItalic r:id="rId60"/>
    </p:embeddedFont>
    <p:embeddedFont>
      <p:font typeface="Caveat"/>
      <p:regular r:id="rId61"/>
      <p:bold r:id="rId62"/>
    </p:embeddedFont>
    <p:embeddedFont>
      <p:font typeface="Montserrat"/>
      <p:regular r:id="rId63"/>
      <p:bold r:id="rId64"/>
      <p:italic r:id="rId65"/>
      <p:boldItalic r:id="rId66"/>
    </p:embeddedFont>
    <p:embeddedFont>
      <p:font typeface="Merriweather"/>
      <p:regular r:id="rId67"/>
      <p:bold r:id="rId68"/>
      <p:italic r:id="rId69"/>
      <p:boldItalic r:id="rId70"/>
    </p:embeddedFont>
    <p:embeddedFont>
      <p:font typeface="DM Sans"/>
      <p:regular r:id="rId71"/>
      <p:bold r:id="rId72"/>
      <p:italic r:id="rId73"/>
      <p:boldItalic r:id="rId74"/>
    </p:embeddedFont>
    <p:embeddedFont>
      <p:font typeface="Open Sans Light"/>
      <p:regular r:id="rId75"/>
      <p:bold r:id="rId76"/>
      <p:italic r:id="rId77"/>
      <p:boldItalic r:id="rId78"/>
    </p:embeddedFont>
    <p:embeddedFont>
      <p:font typeface="Open Sans"/>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OpenSans-bold.fntdata"/><Relationship Id="rId82" Type="http://schemas.openxmlformats.org/officeDocument/2006/relationships/font" Target="fonts/OpenSans-boldItalic.fntdata"/><Relationship Id="rId81"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DMSans-italic.fntdata"/><Relationship Id="rId72" Type="http://schemas.openxmlformats.org/officeDocument/2006/relationships/font" Target="fonts/DMSans-bold.fntdata"/><Relationship Id="rId31" Type="http://schemas.openxmlformats.org/officeDocument/2006/relationships/slide" Target="slides/slide25.xml"/><Relationship Id="rId75" Type="http://schemas.openxmlformats.org/officeDocument/2006/relationships/font" Target="fonts/OpenSansLight-regular.fntdata"/><Relationship Id="rId30" Type="http://schemas.openxmlformats.org/officeDocument/2006/relationships/slide" Target="slides/slide24.xml"/><Relationship Id="rId74" Type="http://schemas.openxmlformats.org/officeDocument/2006/relationships/font" Target="fonts/DMSans-boldItalic.fntdata"/><Relationship Id="rId33" Type="http://schemas.openxmlformats.org/officeDocument/2006/relationships/slide" Target="slides/slide27.xml"/><Relationship Id="rId77" Type="http://schemas.openxmlformats.org/officeDocument/2006/relationships/font" Target="fonts/OpenSansLight-italic.fntdata"/><Relationship Id="rId32" Type="http://schemas.openxmlformats.org/officeDocument/2006/relationships/slide" Target="slides/slide26.xml"/><Relationship Id="rId76" Type="http://schemas.openxmlformats.org/officeDocument/2006/relationships/font" Target="fonts/OpenSansLight-bold.fntdata"/><Relationship Id="rId35" Type="http://schemas.openxmlformats.org/officeDocument/2006/relationships/slide" Target="slides/slide29.xml"/><Relationship Id="rId79" Type="http://schemas.openxmlformats.org/officeDocument/2006/relationships/font" Target="fonts/OpenSans-regular.fntdata"/><Relationship Id="rId34" Type="http://schemas.openxmlformats.org/officeDocument/2006/relationships/slide" Target="slides/slide28.xml"/><Relationship Id="rId78" Type="http://schemas.openxmlformats.org/officeDocument/2006/relationships/font" Target="fonts/OpenSansLight-boldItalic.fntdata"/><Relationship Id="rId71" Type="http://schemas.openxmlformats.org/officeDocument/2006/relationships/font" Target="fonts/DMSans-regular.fntdata"/><Relationship Id="rId70" Type="http://schemas.openxmlformats.org/officeDocument/2006/relationships/font" Target="fonts/Merriweather-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Caveat-bold.fntdata"/><Relationship Id="rId61" Type="http://schemas.openxmlformats.org/officeDocument/2006/relationships/font" Target="fonts/Caveat-regular.fntdata"/><Relationship Id="rId20" Type="http://schemas.openxmlformats.org/officeDocument/2006/relationships/slide" Target="slides/slide14.xml"/><Relationship Id="rId64" Type="http://schemas.openxmlformats.org/officeDocument/2006/relationships/font" Target="fonts/Montserrat-bold.fntdata"/><Relationship Id="rId63" Type="http://schemas.openxmlformats.org/officeDocument/2006/relationships/font" Target="fonts/Montserrat-regular.fntdata"/><Relationship Id="rId22" Type="http://schemas.openxmlformats.org/officeDocument/2006/relationships/slide" Target="slides/slide16.xml"/><Relationship Id="rId66" Type="http://schemas.openxmlformats.org/officeDocument/2006/relationships/font" Target="fonts/Montserrat-boldItalic.fntdata"/><Relationship Id="rId21" Type="http://schemas.openxmlformats.org/officeDocument/2006/relationships/slide" Target="slides/slide15.xml"/><Relationship Id="rId65" Type="http://schemas.openxmlformats.org/officeDocument/2006/relationships/font" Target="fonts/Montserrat-italic.fntdata"/><Relationship Id="rId24" Type="http://schemas.openxmlformats.org/officeDocument/2006/relationships/slide" Target="slides/slide18.xml"/><Relationship Id="rId68" Type="http://schemas.openxmlformats.org/officeDocument/2006/relationships/font" Target="fonts/Merriweather-bold.fntdata"/><Relationship Id="rId23" Type="http://schemas.openxmlformats.org/officeDocument/2006/relationships/slide" Target="slides/slide17.xml"/><Relationship Id="rId67" Type="http://schemas.openxmlformats.org/officeDocument/2006/relationships/font" Target="fonts/Merriweather-regular.fntdata"/><Relationship Id="rId60" Type="http://schemas.openxmlformats.org/officeDocument/2006/relationships/font" Target="fonts/DMSansMedium-bold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erriweather-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DMSansMedium-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DMSansMedium-italic.fntdata"/><Relationship Id="rId14" Type="http://schemas.openxmlformats.org/officeDocument/2006/relationships/slide" Target="slides/slide8.xml"/><Relationship Id="rId58" Type="http://schemas.openxmlformats.org/officeDocument/2006/relationships/font" Target="fonts/DMSansMedium-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b9476a149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b9476a149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be11693f5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be11693f55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c35b4c0f2a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c35b4c0f2a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f7725b3ec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bf7725b3ec_0_2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c35b4c0f2a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g3c35b4c0f2a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c35b4c0f2a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c35b4c0f2a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bcf43c1f0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3bcf43c1f0d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c35b4c0f2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3c35b4c0f2a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bcf43c1f0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g3bcf43c1f0d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bcf43c1f0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3bcf43c1f0d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bcf43c1f0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g3bcf43c1f0d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bcf43c1f0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3bcf43c1f0d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bcf43c1f0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g3bcf43c1f0d_0_1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bcf43c1f0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g3bcf43c1f0d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bcf43c1f0d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bcf43c1f0d_0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bcf43c1f0d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3bcf43c1f0d_0_1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c35b4c0f2a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g3c35b4c0f2a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bcf43c1f0d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3bcf43c1f0d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c35b4c0f2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g3c35b4c0f2a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c35b4c0f2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g3c35b4c0f2a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c35b4c0f2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3c35b4c0f2a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c35b4c0f2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g3c35b4c0f2a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c3fd1dd86a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g3c3fd1dd86a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c3fd1dd86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g3c3fd1dd86a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c3fd1dd86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g3c3fd1dd86a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c3fd1dd86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g3c3fd1dd86a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c3fd1dd86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3c3fd1dd86a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c3fd1dd86a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g3c3fd1dd86a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c3fd1dd86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g3c3fd1dd86a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c3fd1dd86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g3c3fd1dd86a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c3fd1dd86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g3c3fd1dd86a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c3fd1dd86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g3c3fd1dd86a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c3fd1dd86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g3c3fd1dd86a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c3fd1dd86a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g3c3fd1dd86a_1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c3fd1dd86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g3c3fd1dd86a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c3fd1dd86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g3c3fd1dd86a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c3fd1dd8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g3c3fd1dd86a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c3fd1dd86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g3c3fd1dd86a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c3fd1dd86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g3c3fd1dd86a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c3fd1dd8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g3c3fd1dd86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c3fd1dd86a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g3c3fd1dd86a_1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c3fd1dd86a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g3c3fd1dd86a_1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c3fd1dd86a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g3c3fd1dd86a_1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c3fd1dd86a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g3c3fd1dd86a_1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c3fd1dd86a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g3c3fd1dd86a_1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c3fd1dd86a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g3c3fd1dd86a_1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c3fd1dd86a_1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g3c3fd1dd86a_1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c3fd1dd86a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g3c3fd1dd86a_1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c3fd1dd86a_1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g3c3fd1dd86a_1_1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be11693f55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g3be11693f55_0_4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2" name="Google Shape;112;p27"/>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176" name="Shape 176"/>
        <p:cNvGrpSpPr/>
        <p:nvPr/>
      </p:nvGrpSpPr>
      <p:grpSpPr>
        <a:xfrm>
          <a:off x="0" y="0"/>
          <a:ext cx="0" cy="0"/>
          <a:chOff x="0" y="0"/>
          <a:chExt cx="0" cy="0"/>
        </a:xfrm>
      </p:grpSpPr>
      <p:sp>
        <p:nvSpPr>
          <p:cNvPr id="177" name="Google Shape;177;p35"/>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78" name="Google Shape;178;p35"/>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79" name="Google Shape;179;p35"/>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80" name="Google Shape;180;p35"/>
          <p:cNvSpPr/>
          <p:nvPr>
            <p:ph idx="3" type="pic"/>
          </p:nvPr>
        </p:nvSpPr>
        <p:spPr>
          <a:xfrm>
            <a:off x="4437578" y="2171250"/>
            <a:ext cx="4509600" cy="2775600"/>
          </a:xfrm>
          <a:prstGeom prst="round2DiagRect">
            <a:avLst>
              <a:gd fmla="val 16667" name="adj1"/>
              <a:gd fmla="val 0" name="adj2"/>
            </a:avLst>
          </a:prstGeom>
          <a:noFill/>
          <a:ln>
            <a:noFill/>
          </a:ln>
        </p:spPr>
      </p:sp>
      <p:sp>
        <p:nvSpPr>
          <p:cNvPr id="181" name="Google Shape;181;p35"/>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82" name="Shape 182"/>
        <p:cNvGrpSpPr/>
        <p:nvPr/>
      </p:nvGrpSpPr>
      <p:grpSpPr>
        <a:xfrm>
          <a:off x="0" y="0"/>
          <a:ext cx="0" cy="0"/>
          <a:chOff x="0" y="0"/>
          <a:chExt cx="0" cy="0"/>
        </a:xfrm>
      </p:grpSpPr>
      <p:sp>
        <p:nvSpPr>
          <p:cNvPr id="183" name="Google Shape;183;p36"/>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4" name="Google Shape;18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36"/>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6" name="Google Shape;186;p36"/>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7" name="Google Shape;187;p36"/>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8" name="Google Shape;188;p36"/>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9" name="Google Shape;189;p36"/>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0" name="Google Shape;190;p36"/>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191" name="Shape 191"/>
        <p:cNvGrpSpPr/>
        <p:nvPr/>
      </p:nvGrpSpPr>
      <p:grpSpPr>
        <a:xfrm>
          <a:off x="0" y="0"/>
          <a:ext cx="0" cy="0"/>
          <a:chOff x="0" y="0"/>
          <a:chExt cx="0" cy="0"/>
        </a:xfrm>
      </p:grpSpPr>
      <p:sp>
        <p:nvSpPr>
          <p:cNvPr id="192" name="Google Shape;19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37"/>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194" name="Google Shape;194;p37"/>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95" name="Google Shape;195;p37"/>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196" name="Shape 196"/>
        <p:cNvGrpSpPr/>
        <p:nvPr/>
      </p:nvGrpSpPr>
      <p:grpSpPr>
        <a:xfrm>
          <a:off x="0" y="0"/>
          <a:ext cx="0" cy="0"/>
          <a:chOff x="0" y="0"/>
          <a:chExt cx="0" cy="0"/>
        </a:xfrm>
      </p:grpSpPr>
      <p:sp>
        <p:nvSpPr>
          <p:cNvPr id="197" name="Google Shape;197;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98" name="Google Shape;198;p38"/>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199" name="Google Shape;199;p38"/>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00" name="Google Shape;200;p38"/>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201" name="Shape 201"/>
        <p:cNvGrpSpPr/>
        <p:nvPr/>
      </p:nvGrpSpPr>
      <p:grpSpPr>
        <a:xfrm>
          <a:off x="0" y="0"/>
          <a:ext cx="0" cy="0"/>
          <a:chOff x="0" y="0"/>
          <a:chExt cx="0" cy="0"/>
        </a:xfrm>
      </p:grpSpPr>
      <p:sp>
        <p:nvSpPr>
          <p:cNvPr id="202" name="Google Shape;202;p3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03" name="Google Shape;203;p3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204" name="Google Shape;204;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9"/>
          <p:cNvSpPr/>
          <p:nvPr>
            <p:ph idx="2" type="pic"/>
          </p:nvPr>
        </p:nvSpPr>
        <p:spPr>
          <a:xfrm>
            <a:off x="3726325" y="669925"/>
            <a:ext cx="5220900" cy="4276800"/>
          </a:xfrm>
          <a:prstGeom prst="round2DiagRect">
            <a:avLst>
              <a:gd fmla="val 16667" name="adj1"/>
              <a:gd fmla="val 0" name="adj2"/>
            </a:avLst>
          </a:prstGeom>
          <a:noFill/>
          <a:ln>
            <a:noFill/>
          </a:ln>
        </p:spPr>
      </p:sp>
      <p:sp>
        <p:nvSpPr>
          <p:cNvPr id="206" name="Google Shape;206;p39"/>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07" name="Google Shape;207;p39"/>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208" name="Shape 208"/>
        <p:cNvGrpSpPr/>
        <p:nvPr/>
      </p:nvGrpSpPr>
      <p:grpSpPr>
        <a:xfrm>
          <a:off x="0" y="0"/>
          <a:ext cx="0" cy="0"/>
          <a:chOff x="0" y="0"/>
          <a:chExt cx="0" cy="0"/>
        </a:xfrm>
      </p:grpSpPr>
      <p:sp>
        <p:nvSpPr>
          <p:cNvPr id="209" name="Google Shape;209;p40"/>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210" name="Google Shape;210;p40"/>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211" name="Google Shape;21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40"/>
          <p:cNvSpPr/>
          <p:nvPr>
            <p:ph idx="2" type="pic"/>
          </p:nvPr>
        </p:nvSpPr>
        <p:spPr>
          <a:xfrm>
            <a:off x="3726325" y="669925"/>
            <a:ext cx="5220900" cy="4276800"/>
          </a:xfrm>
          <a:prstGeom prst="round2DiagRect">
            <a:avLst>
              <a:gd fmla="val 16667" name="adj1"/>
              <a:gd fmla="val 0" name="adj2"/>
            </a:avLst>
          </a:prstGeom>
          <a:noFill/>
          <a:ln>
            <a:noFill/>
          </a:ln>
        </p:spPr>
      </p:sp>
      <p:sp>
        <p:nvSpPr>
          <p:cNvPr id="213" name="Google Shape;213;p40"/>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214" name="Google Shape;214;p40"/>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215" name="Google Shape;215;p40"/>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216" name="Shape 216"/>
        <p:cNvGrpSpPr/>
        <p:nvPr/>
      </p:nvGrpSpPr>
      <p:grpSpPr>
        <a:xfrm>
          <a:off x="0" y="0"/>
          <a:ext cx="0" cy="0"/>
          <a:chOff x="0" y="0"/>
          <a:chExt cx="0" cy="0"/>
        </a:xfrm>
      </p:grpSpPr>
      <p:sp>
        <p:nvSpPr>
          <p:cNvPr id="217" name="Google Shape;217;p41"/>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18" name="Google Shape;218;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19" name="Google Shape;219;p41"/>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220" name="Google Shape;220;p41"/>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221" name="Google Shape;221;p41"/>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22" name="Google Shape;222;p41"/>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223" name="Shape 223"/>
        <p:cNvGrpSpPr/>
        <p:nvPr/>
      </p:nvGrpSpPr>
      <p:grpSpPr>
        <a:xfrm>
          <a:off x="0" y="0"/>
          <a:ext cx="0" cy="0"/>
          <a:chOff x="0" y="0"/>
          <a:chExt cx="0" cy="0"/>
        </a:xfrm>
      </p:grpSpPr>
      <p:sp>
        <p:nvSpPr>
          <p:cNvPr id="224" name="Google Shape;224;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42"/>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6" name="Google Shape;226;p42"/>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7" name="Google Shape;227;p42"/>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28" name="Google Shape;228;p42"/>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29" name="Google Shape;229;p42"/>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0" name="Google Shape;230;p42"/>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1" name="Google Shape;231;p42"/>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2" name="Google Shape;232;p42"/>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3" name="Google Shape;233;p42"/>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4" name="Google Shape;234;p42"/>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5" name="Google Shape;235;p42"/>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6" name="Google Shape;236;p42"/>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37" name="Google Shape;237;p42"/>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8" name="Google Shape;238;p42"/>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39" name="Google Shape;239;p42"/>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0" name="Google Shape;240;p42"/>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1" name="Google Shape;241;p42"/>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2" name="Google Shape;242;p42"/>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3" name="Google Shape;243;p42"/>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4" name="Google Shape;244;p42"/>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5" name="Google Shape;245;p42"/>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6" name="Google Shape;246;p42"/>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7" name="Google Shape;247;p42"/>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48" name="Google Shape;248;p42"/>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49" name="Google Shape;249;p42"/>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0" name="Google Shape;250;p42"/>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51" name="Google Shape;251;p42"/>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52" name="Google Shape;252;p42"/>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53" name="Google Shape;253;p42"/>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54" name="Shape 254"/>
        <p:cNvGrpSpPr/>
        <p:nvPr/>
      </p:nvGrpSpPr>
      <p:grpSpPr>
        <a:xfrm>
          <a:off x="0" y="0"/>
          <a:ext cx="0" cy="0"/>
          <a:chOff x="0" y="0"/>
          <a:chExt cx="0" cy="0"/>
        </a:xfrm>
      </p:grpSpPr>
      <p:sp>
        <p:nvSpPr>
          <p:cNvPr id="255" name="Google Shape;25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4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57" name="Google Shape;257;p4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theme" Target="../theme/theme1.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52" name="Google Shape;52;p13"/>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2.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 Id="rId3" Type="http://schemas.openxmlformats.org/officeDocument/2006/relationships/image" Target="../media/image18.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261" name="Shape 261"/>
        <p:cNvGrpSpPr/>
        <p:nvPr/>
      </p:nvGrpSpPr>
      <p:grpSpPr>
        <a:xfrm>
          <a:off x="0" y="0"/>
          <a:ext cx="0" cy="0"/>
          <a:chOff x="0" y="0"/>
          <a:chExt cx="0" cy="0"/>
        </a:xfrm>
      </p:grpSpPr>
      <p:sp>
        <p:nvSpPr>
          <p:cNvPr id="262" name="Google Shape;262;p44"/>
          <p:cNvSpPr txBox="1"/>
          <p:nvPr>
            <p:ph type="ctrTitle"/>
          </p:nvPr>
        </p:nvSpPr>
        <p:spPr>
          <a:xfrm>
            <a:off x="284400" y="2325500"/>
            <a:ext cx="8575200" cy="114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latin typeface="Verdana"/>
                <a:ea typeface="Verdana"/>
                <a:cs typeface="Verdana"/>
                <a:sym typeface="Verdana"/>
              </a:rPr>
              <a:t>BUSINESS ADMINISTRATION </a:t>
            </a:r>
            <a:endParaRPr sz="3900">
              <a:latin typeface="Verdana"/>
              <a:ea typeface="Verdana"/>
              <a:cs typeface="Verdana"/>
              <a:sym typeface="Verdana"/>
            </a:endParaRPr>
          </a:p>
          <a:p>
            <a:pPr indent="0" lvl="0" marL="0" rtl="0" algn="ctr">
              <a:spcBef>
                <a:spcPts val="0"/>
              </a:spcBef>
              <a:spcAft>
                <a:spcPts val="0"/>
              </a:spcAft>
              <a:buNone/>
            </a:pPr>
            <a:r>
              <a:rPr lang="en" sz="3800">
                <a:solidFill>
                  <a:srgbClr val="9900FF"/>
                </a:solidFill>
                <a:latin typeface="Verdana"/>
                <a:ea typeface="Verdana"/>
                <a:cs typeface="Verdana"/>
                <a:sym typeface="Verdana"/>
              </a:rPr>
              <a:t>SOFTWARE</a:t>
            </a:r>
            <a:endParaRPr sz="3800">
              <a:solidFill>
                <a:srgbClr val="9900FF"/>
              </a:solidFill>
              <a:latin typeface="Verdana"/>
              <a:ea typeface="Verdana"/>
              <a:cs typeface="Verdana"/>
              <a:sym typeface="Verdana"/>
            </a:endParaRPr>
          </a:p>
        </p:txBody>
      </p:sp>
      <p:pic>
        <p:nvPicPr>
          <p:cNvPr id="263" name="Google Shape;263;p44" title="College_logo.png"/>
          <p:cNvPicPr preferRelativeResize="0"/>
          <p:nvPr/>
        </p:nvPicPr>
        <p:blipFill rotWithShape="1">
          <a:blip r:embed="rId3">
            <a:alphaModFix/>
          </a:blip>
          <a:srcRect b="0" l="0" r="0" t="0"/>
          <a:stretch/>
        </p:blipFill>
        <p:spPr>
          <a:xfrm>
            <a:off x="3947238" y="304225"/>
            <a:ext cx="1249524" cy="1249524"/>
          </a:xfrm>
          <a:prstGeom prst="rect">
            <a:avLst/>
          </a:prstGeom>
          <a:noFill/>
          <a:ln>
            <a:noFill/>
          </a:ln>
        </p:spPr>
      </p:pic>
      <p:sp>
        <p:nvSpPr>
          <p:cNvPr id="264" name="Google Shape;264;p44"/>
          <p:cNvSpPr txBox="1"/>
          <p:nvPr/>
        </p:nvSpPr>
        <p:spPr>
          <a:xfrm>
            <a:off x="2514600" y="1613596"/>
            <a:ext cx="41148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1500" u="none" cap="none" strike="noStrike">
                <a:solidFill>
                  <a:srgbClr val="10B981"/>
                </a:solidFill>
                <a:latin typeface="Open Sans"/>
                <a:ea typeface="Open Sans"/>
                <a:cs typeface="Open Sans"/>
                <a:sym typeface="Open Sans"/>
              </a:rPr>
              <a:t>ALA-TOO INTERNATIONAL UNIVERSITY</a:t>
            </a:r>
            <a:endParaRPr/>
          </a:p>
        </p:txBody>
      </p:sp>
      <p:cxnSp>
        <p:nvCxnSpPr>
          <p:cNvPr id="265" name="Google Shape;265;p44"/>
          <p:cNvCxnSpPr/>
          <p:nvPr/>
        </p:nvCxnSpPr>
        <p:spPr>
          <a:xfrm flipH="1" rot="10800000">
            <a:off x="2336050" y="2115500"/>
            <a:ext cx="4612200" cy="300"/>
          </a:xfrm>
          <a:prstGeom prst="straightConnector1">
            <a:avLst/>
          </a:prstGeom>
          <a:noFill/>
          <a:ln cap="flat" cmpd="sng" w="38100">
            <a:solidFill>
              <a:schemeClr val="lt1"/>
            </a:solidFill>
            <a:prstDash val="solid"/>
            <a:round/>
            <a:headEnd len="med" w="med" type="none"/>
            <a:tailEnd len="med" w="med" type="none"/>
          </a:ln>
        </p:spPr>
      </p:cxnSp>
      <p:cxnSp>
        <p:nvCxnSpPr>
          <p:cNvPr id="266" name="Google Shape;266;p44"/>
          <p:cNvCxnSpPr/>
          <p:nvPr/>
        </p:nvCxnSpPr>
        <p:spPr>
          <a:xfrm>
            <a:off x="2994450" y="3630105"/>
            <a:ext cx="3155100" cy="8100"/>
          </a:xfrm>
          <a:prstGeom prst="straightConnector1">
            <a:avLst/>
          </a:prstGeom>
          <a:noFill/>
          <a:ln cap="flat" cmpd="sng" w="38100">
            <a:solidFill>
              <a:srgbClr val="A700FC"/>
            </a:solidFill>
            <a:prstDash val="solid"/>
            <a:round/>
            <a:headEnd len="med" w="med" type="none"/>
            <a:tailEnd len="med" w="med" type="none"/>
          </a:ln>
        </p:spPr>
      </p:cxnSp>
      <p:sp>
        <p:nvSpPr>
          <p:cNvPr id="267" name="Google Shape;267;p44"/>
          <p:cNvSpPr txBox="1"/>
          <p:nvPr/>
        </p:nvSpPr>
        <p:spPr>
          <a:xfrm>
            <a:off x="3175300" y="3925408"/>
            <a:ext cx="29337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 sz="1800" u="none" cap="none" strike="noStrike">
                <a:solidFill>
                  <a:srgbClr val="94A3B8"/>
                </a:solidFill>
                <a:latin typeface="Open Sans Light"/>
                <a:ea typeface="Open Sans Light"/>
                <a:cs typeface="Open Sans Light"/>
                <a:sym typeface="Open Sans Light"/>
              </a:rPr>
              <a:t>Spring Semeste</a:t>
            </a:r>
            <a:r>
              <a:rPr b="0" i="0" lang="en" sz="1800" u="none" cap="none" strike="noStrike">
                <a:solidFill>
                  <a:srgbClr val="94A3B8"/>
                </a:solidFill>
                <a:latin typeface="Open Sans Light"/>
                <a:ea typeface="Open Sans Light"/>
                <a:cs typeface="Open Sans Light"/>
                <a:sym typeface="Open Sans Light"/>
              </a:rPr>
              <a:t>r</a:t>
            </a:r>
            <a:r>
              <a:rPr b="0" i="0" lang="en" sz="1800" u="none" cap="none" strike="noStrike">
                <a:solidFill>
                  <a:srgbClr val="94A3B8"/>
                </a:solidFill>
                <a:latin typeface="Open Sans Light"/>
                <a:ea typeface="Open Sans Light"/>
                <a:cs typeface="Open Sans Light"/>
                <a:sym typeface="Open Sans Light"/>
              </a:rPr>
              <a:t> 2025-2026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271" name="Shape 271"/>
        <p:cNvGrpSpPr/>
        <p:nvPr/>
      </p:nvGrpSpPr>
      <p:grpSpPr>
        <a:xfrm>
          <a:off x="0" y="0"/>
          <a:ext cx="0" cy="0"/>
          <a:chOff x="0" y="0"/>
          <a:chExt cx="0" cy="0"/>
        </a:xfrm>
      </p:grpSpPr>
      <p:sp>
        <p:nvSpPr>
          <p:cNvPr id="272" name="Google Shape;272;p45"/>
          <p:cNvSpPr txBox="1"/>
          <p:nvPr/>
        </p:nvSpPr>
        <p:spPr>
          <a:xfrm>
            <a:off x="197375" y="1577950"/>
            <a:ext cx="8833800" cy="2474400"/>
          </a:xfrm>
          <a:prstGeom prst="rect">
            <a:avLst/>
          </a:prstGeom>
          <a:noFill/>
          <a:ln>
            <a:noFill/>
          </a:ln>
        </p:spPr>
        <p:txBody>
          <a:bodyPr anchorCtr="0" anchor="t" bIns="0" lIns="0" spcFirstLastPara="1" rIns="0" wrap="square" tIns="0">
            <a:spAutoFit/>
          </a:bodyPr>
          <a:lstStyle/>
          <a:p>
            <a:pPr indent="0" lvl="0" marL="381000" marR="381000" rtl="0" algn="l">
              <a:lnSpc>
                <a:spcPct val="115000"/>
              </a:lnSpc>
              <a:spcBef>
                <a:spcPts val="1200"/>
              </a:spcBef>
              <a:spcAft>
                <a:spcPts val="0"/>
              </a:spcAft>
              <a:buSzPts val="1100"/>
              <a:buNone/>
            </a:pPr>
            <a:r>
              <a:rPr b="1" i="1" lang="en" sz="3500">
                <a:solidFill>
                  <a:schemeClr val="lt1"/>
                </a:solidFill>
                <a:latin typeface="Caveat"/>
                <a:ea typeface="Caveat"/>
                <a:cs typeface="Caveat"/>
                <a:sym typeface="Caveat"/>
              </a:rPr>
              <a:t>If you can’t describe what you’re doing as a process, you don’t know what you’re doing</a:t>
            </a:r>
            <a:endParaRPr b="1" i="1" sz="3500">
              <a:solidFill>
                <a:schemeClr val="lt1"/>
              </a:solidFill>
              <a:latin typeface="Caveat"/>
              <a:ea typeface="Caveat"/>
              <a:cs typeface="Caveat"/>
              <a:sym typeface="Caveat"/>
            </a:endParaRPr>
          </a:p>
          <a:p>
            <a:pPr indent="0" lvl="0" marL="4495800" marR="381000" rtl="0" algn="l">
              <a:lnSpc>
                <a:spcPct val="115000"/>
              </a:lnSpc>
              <a:spcBef>
                <a:spcPts val="1200"/>
              </a:spcBef>
              <a:spcAft>
                <a:spcPts val="0"/>
              </a:spcAft>
              <a:buSzPts val="1100"/>
              <a:buNone/>
            </a:pPr>
            <a:r>
              <a:rPr b="1" i="1" lang="en" sz="3500">
                <a:solidFill>
                  <a:schemeClr val="lt1"/>
                </a:solidFill>
                <a:latin typeface="Caveat"/>
                <a:ea typeface="Caveat"/>
                <a:cs typeface="Caveat"/>
                <a:sym typeface="Caveat"/>
              </a:rPr>
              <a:t>    </a:t>
            </a:r>
            <a:r>
              <a:rPr b="1" i="1" lang="en" sz="3500">
                <a:solidFill>
                  <a:schemeClr val="lt1"/>
                </a:solidFill>
                <a:latin typeface="Caveat"/>
                <a:ea typeface="Caveat"/>
                <a:cs typeface="Caveat"/>
                <a:sym typeface="Caveat"/>
              </a:rPr>
              <a:t>— </a:t>
            </a:r>
            <a:r>
              <a:rPr b="1" i="1" lang="en" sz="3500">
                <a:solidFill>
                  <a:schemeClr val="lt1"/>
                </a:solidFill>
                <a:latin typeface="Caveat"/>
                <a:ea typeface="Caveat"/>
                <a:cs typeface="Caveat"/>
                <a:sym typeface="Caveat"/>
              </a:rPr>
              <a:t>W. Edwards Deming</a:t>
            </a:r>
            <a:endParaRPr b="1" i="1" sz="3500">
              <a:solidFill>
                <a:schemeClr val="lt1"/>
              </a:solidFill>
              <a:latin typeface="Caveat"/>
              <a:ea typeface="Caveat"/>
              <a:cs typeface="Caveat"/>
              <a:sym typeface="Caveat"/>
            </a:endParaRPr>
          </a:p>
          <a:p>
            <a:pPr indent="0" lvl="0" marL="0" marR="0" rtl="0" algn="ctr">
              <a:lnSpc>
                <a:spcPct val="159952"/>
              </a:lnSpc>
              <a:spcBef>
                <a:spcPts val="1200"/>
              </a:spcBef>
              <a:spcAft>
                <a:spcPts val="0"/>
              </a:spcAft>
              <a:buNone/>
            </a:pPr>
            <a:r>
              <a:t/>
            </a:r>
            <a:endParaRPr sz="2000">
              <a:solidFill>
                <a:srgbClr val="CBD5E1"/>
              </a:solidFill>
              <a:latin typeface="Open Sans"/>
              <a:ea typeface="Open Sans"/>
              <a:cs typeface="Open Sans"/>
              <a:sym typeface="Open Sans"/>
            </a:endParaRPr>
          </a:p>
        </p:txBody>
      </p:sp>
      <p:sp>
        <p:nvSpPr>
          <p:cNvPr id="273" name="Google Shape;273;p45"/>
          <p:cNvSpPr txBox="1"/>
          <p:nvPr/>
        </p:nvSpPr>
        <p:spPr>
          <a:xfrm>
            <a:off x="580525" y="1039150"/>
            <a:ext cx="8366100" cy="538800"/>
          </a:xfrm>
          <a:prstGeom prst="rect">
            <a:avLst/>
          </a:prstGeom>
          <a:noFill/>
          <a:ln>
            <a:noFill/>
          </a:ln>
        </p:spPr>
        <p:txBody>
          <a:bodyPr anchorCtr="0" anchor="t" bIns="0" lIns="0" spcFirstLastPara="1" rIns="0" wrap="square" tIns="0">
            <a:spAutoFit/>
          </a:bodyPr>
          <a:lstStyle/>
          <a:p>
            <a:pPr indent="457200" lvl="0" marL="3200400" marR="0" rtl="0" algn="l">
              <a:lnSpc>
                <a:spcPct val="159952"/>
              </a:lnSpc>
              <a:spcBef>
                <a:spcPts val="0"/>
              </a:spcBef>
              <a:spcAft>
                <a:spcPts val="0"/>
              </a:spcAft>
              <a:buNone/>
            </a:pPr>
            <a:r>
              <a:rPr b="1" i="1" lang="en" sz="3500">
                <a:solidFill>
                  <a:schemeClr val="lt1"/>
                </a:solidFill>
                <a:latin typeface="Caveat"/>
                <a:ea typeface="Caveat"/>
                <a:cs typeface="Caveat"/>
                <a:sym typeface="Caveat"/>
              </a:rPr>
              <a:t>***</a:t>
            </a:r>
            <a:endParaRPr sz="2000">
              <a:solidFill>
                <a:srgbClr val="CBD5E1"/>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277" name="Shape 277"/>
        <p:cNvGrpSpPr/>
        <p:nvPr/>
      </p:nvGrpSpPr>
      <p:grpSpPr>
        <a:xfrm>
          <a:off x="0" y="0"/>
          <a:ext cx="0" cy="0"/>
          <a:chOff x="0" y="0"/>
          <a:chExt cx="0" cy="0"/>
        </a:xfrm>
      </p:grpSpPr>
      <p:sp>
        <p:nvSpPr>
          <p:cNvPr id="278" name="Google Shape;278;p46"/>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FROM SYSTEMS TO OPERATIONS</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CONNECTION TO WEEK 1</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279" name="Google Shape;279;p46"/>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280" name="Google Shape;280;p46"/>
          <p:cNvSpPr txBox="1"/>
          <p:nvPr/>
        </p:nvSpPr>
        <p:spPr>
          <a:xfrm>
            <a:off x="579750" y="2674125"/>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Last week introduced enterprise systems. This week explains what those systems actually automate: structured business processes and repeatable workflows.</a:t>
            </a:r>
            <a:endParaRPr>
              <a:solidFill>
                <a:schemeClr val="lt1"/>
              </a:solidFill>
            </a:endParaRPr>
          </a:p>
        </p:txBody>
      </p:sp>
      <p:pic>
        <p:nvPicPr>
          <p:cNvPr id="281" name="Google Shape;281;p46"/>
          <p:cNvPicPr preferRelativeResize="0"/>
          <p:nvPr/>
        </p:nvPicPr>
        <p:blipFill>
          <a:blip r:embed="rId3">
            <a:alphaModFix/>
          </a:blip>
          <a:stretch>
            <a:fillRect/>
          </a:stretch>
        </p:blipFill>
        <p:spPr>
          <a:xfrm>
            <a:off x="3548394" y="1309313"/>
            <a:ext cx="2047219" cy="136481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285" name="Shape 285"/>
        <p:cNvGrpSpPr/>
        <p:nvPr/>
      </p:nvGrpSpPr>
      <p:grpSpPr>
        <a:xfrm>
          <a:off x="0" y="0"/>
          <a:ext cx="0" cy="0"/>
          <a:chOff x="0" y="0"/>
          <a:chExt cx="0" cy="0"/>
        </a:xfrm>
      </p:grpSpPr>
      <p:sp>
        <p:nvSpPr>
          <p:cNvPr id="286" name="Google Shape;286;p47"/>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BUSINESS PROCESSES &amp; DIGITAL WORKFLOWS</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HOW WORK IS ORGANIZED AND EXECUTED</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287" name="Google Shape;287;p47"/>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288" name="Google Shape;288;p47"/>
          <p:cNvSpPr txBox="1"/>
          <p:nvPr/>
        </p:nvSpPr>
        <p:spPr>
          <a:xfrm>
            <a:off x="1203575" y="2738800"/>
            <a:ext cx="67368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How organizations structure work through business processes and how software systems transform those processes into controlled digital workflows?</a:t>
            </a:r>
            <a:endParaRPr>
              <a:solidFill>
                <a:schemeClr val="lt1"/>
              </a:solidFill>
            </a:endParaRPr>
          </a:p>
        </p:txBody>
      </p:sp>
      <p:pic>
        <p:nvPicPr>
          <p:cNvPr id="289" name="Google Shape;289;p47"/>
          <p:cNvPicPr preferRelativeResize="0"/>
          <p:nvPr/>
        </p:nvPicPr>
        <p:blipFill>
          <a:blip r:embed="rId3">
            <a:alphaModFix/>
          </a:blip>
          <a:stretch>
            <a:fillRect/>
          </a:stretch>
        </p:blipFill>
        <p:spPr>
          <a:xfrm>
            <a:off x="3906058" y="1239850"/>
            <a:ext cx="1331875" cy="1331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293" name="Shape 293"/>
        <p:cNvGrpSpPr/>
        <p:nvPr/>
      </p:nvGrpSpPr>
      <p:grpSpPr>
        <a:xfrm>
          <a:off x="0" y="0"/>
          <a:ext cx="0" cy="0"/>
          <a:chOff x="0" y="0"/>
          <a:chExt cx="0" cy="0"/>
        </a:xfrm>
      </p:grpSpPr>
      <p:sp>
        <p:nvSpPr>
          <p:cNvPr id="294" name="Google Shape;294;p48"/>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A BUSINESS PROCESS</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DEFINITION</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295" name="Google Shape;295;p48"/>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296" name="Google Shape;296;p48"/>
          <p:cNvSpPr txBox="1"/>
          <p:nvPr/>
        </p:nvSpPr>
        <p:spPr>
          <a:xfrm>
            <a:off x="579750" y="3228675"/>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200"/>
              </a:spcBef>
              <a:spcAft>
                <a:spcPts val="1200"/>
              </a:spcAft>
              <a:buClr>
                <a:schemeClr val="hlink"/>
              </a:buClr>
              <a:buSzPts val="1100"/>
              <a:buFont typeface="Arial"/>
              <a:buNone/>
            </a:pPr>
            <a:r>
              <a:rPr lang="en" sz="1900">
                <a:solidFill>
                  <a:schemeClr val="lt1"/>
                </a:solidFill>
              </a:rPr>
              <a:t>A business process is a structured sequence of activities designed to achieve a specific organizational goal, such as fulfilling an order, paying suppliers, or onboa</a:t>
            </a:r>
            <a:r>
              <a:rPr lang="en" sz="1900">
                <a:solidFill>
                  <a:schemeClr val="lt1"/>
                </a:solidFill>
              </a:rPr>
              <a:t>r</a:t>
            </a:r>
            <a:r>
              <a:rPr lang="en" sz="1900">
                <a:solidFill>
                  <a:schemeClr val="lt1"/>
                </a:solidFill>
              </a:rPr>
              <a:t>ding employees</a:t>
            </a:r>
            <a:endParaRPr sz="1900">
              <a:solidFill>
                <a:schemeClr val="lt1"/>
              </a:solidFill>
            </a:endParaRPr>
          </a:p>
        </p:txBody>
      </p:sp>
      <p:pic>
        <p:nvPicPr>
          <p:cNvPr id="297" name="Google Shape;297;p48"/>
          <p:cNvPicPr preferRelativeResize="0"/>
          <p:nvPr/>
        </p:nvPicPr>
        <p:blipFill>
          <a:blip r:embed="rId3">
            <a:alphaModFix/>
          </a:blip>
          <a:stretch>
            <a:fillRect/>
          </a:stretch>
        </p:blipFill>
        <p:spPr>
          <a:xfrm>
            <a:off x="3642375" y="1259575"/>
            <a:ext cx="1859250" cy="1859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01" name="Shape 301"/>
        <p:cNvGrpSpPr/>
        <p:nvPr/>
      </p:nvGrpSpPr>
      <p:grpSpPr>
        <a:xfrm>
          <a:off x="0" y="0"/>
          <a:ext cx="0" cy="0"/>
          <a:chOff x="0" y="0"/>
          <a:chExt cx="0" cy="0"/>
        </a:xfrm>
      </p:grpSpPr>
      <p:sp>
        <p:nvSpPr>
          <p:cNvPr id="302" name="Google Shape;302;p49"/>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CORE CHARACTERISTICS</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HOW PROCESSES BEHAVE</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03" name="Google Shape;303;p49"/>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304" name="Google Shape;304;p49"/>
          <p:cNvSpPr txBox="1"/>
          <p:nvPr/>
        </p:nvSpPr>
        <p:spPr>
          <a:xfrm>
            <a:off x="579750" y="1752900"/>
            <a:ext cx="7984500" cy="1637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Business processes are repeatable, goal-oriented, and measurable activities that define how work is performed within an organization. They involve multiple roles and departments that must coordinate to achieve a specific outcome, such as delivering a product, processing a payment, or supporting a customer</a:t>
            </a:r>
            <a:endParaRPr>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08" name="Shape 308"/>
        <p:cNvGrpSpPr/>
        <p:nvPr/>
      </p:nvGrpSpPr>
      <p:grpSpPr>
        <a:xfrm>
          <a:off x="0" y="0"/>
          <a:ext cx="0" cy="0"/>
          <a:chOff x="0" y="0"/>
          <a:chExt cx="0" cy="0"/>
        </a:xfrm>
      </p:grpSpPr>
      <p:sp>
        <p:nvSpPr>
          <p:cNvPr id="309" name="Google Shape;309;p50"/>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PROCESS EXECUTION AT SCALE</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 SYSTEMS ARE REQUIRED</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10" name="Google Shape;310;p50"/>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311" name="Google Shape;311;p50"/>
          <p:cNvSpPr txBox="1"/>
          <p:nvPr/>
        </p:nvSpPr>
        <p:spPr>
          <a:xfrm>
            <a:off x="579750" y="1752900"/>
            <a:ext cx="7984500" cy="1637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Because business processes are executed continuously and often at large scale, organizations standardize them and support them with digital systems. Software systems reduce errors, enforce consistency, maintain accountability, and enable organizations to monitor performance and improve processes over time</a:t>
            </a:r>
            <a:endParaRPr>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15" name="Shape 315"/>
        <p:cNvGrpSpPr/>
        <p:nvPr/>
      </p:nvGrpSpPr>
      <p:grpSpPr>
        <a:xfrm>
          <a:off x="0" y="0"/>
          <a:ext cx="0" cy="0"/>
          <a:chOff x="0" y="0"/>
          <a:chExt cx="0" cy="0"/>
        </a:xfrm>
      </p:grpSpPr>
      <p:sp>
        <p:nvSpPr>
          <p:cNvPr id="316" name="Google Shape;316;p51"/>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PROCESS IN PRACTICE</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AMAZON</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17" name="Google Shape;317;p51"/>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318" name="Google Shape;318;p51"/>
          <p:cNvSpPr txBox="1"/>
          <p:nvPr/>
        </p:nvSpPr>
        <p:spPr>
          <a:xfrm>
            <a:off x="325638" y="3034075"/>
            <a:ext cx="8492700" cy="10182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b="1" lang="en" sz="2200">
                <a:solidFill>
                  <a:schemeClr val="lt1"/>
                </a:solidFill>
                <a:latin typeface="Montserrat"/>
                <a:ea typeface="Montserrat"/>
                <a:cs typeface="Montserrat"/>
                <a:sym typeface="Montserrat"/>
              </a:rPr>
              <a:t> Order-to-Cash</a:t>
            </a:r>
            <a:br>
              <a:rPr lang="en" sz="1900">
                <a:solidFill>
                  <a:schemeClr val="lt1"/>
                </a:solidFill>
              </a:rPr>
            </a:br>
            <a:r>
              <a:rPr lang="en" sz="1900">
                <a:solidFill>
                  <a:schemeClr val="lt1"/>
                </a:solidFill>
              </a:rPr>
              <a:t>Millions of daily orders processed through integrated systems covering inventory, warehousing, shipping, billing, and customer communication</a:t>
            </a:r>
            <a:endParaRPr>
              <a:solidFill>
                <a:schemeClr val="lt1"/>
              </a:solidFill>
            </a:endParaRPr>
          </a:p>
        </p:txBody>
      </p:sp>
      <p:pic>
        <p:nvPicPr>
          <p:cNvPr id="319" name="Google Shape;319;p51"/>
          <p:cNvPicPr preferRelativeResize="0"/>
          <p:nvPr/>
        </p:nvPicPr>
        <p:blipFill>
          <a:blip r:embed="rId3">
            <a:alphaModFix/>
          </a:blip>
          <a:stretch>
            <a:fillRect/>
          </a:stretch>
        </p:blipFill>
        <p:spPr>
          <a:xfrm>
            <a:off x="3074775" y="1279500"/>
            <a:ext cx="2994426" cy="15478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23" name="Shape 323"/>
        <p:cNvGrpSpPr/>
        <p:nvPr/>
      </p:nvGrpSpPr>
      <p:grpSpPr>
        <a:xfrm>
          <a:off x="0" y="0"/>
          <a:ext cx="0" cy="0"/>
          <a:chOff x="0" y="0"/>
          <a:chExt cx="0" cy="0"/>
        </a:xfrm>
      </p:grpSpPr>
      <p:sp>
        <p:nvSpPr>
          <p:cNvPr id="324" name="Google Shape;324;p52"/>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AMAZON</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ORDER FULFILLMENT PROCESS</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25" name="Google Shape;325;p52"/>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326" name="Google Shape;326;p52"/>
          <p:cNvSpPr txBox="1"/>
          <p:nvPr/>
        </p:nvSpPr>
        <p:spPr>
          <a:xfrm>
            <a:off x="325638" y="1493350"/>
            <a:ext cx="8492700" cy="267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2200">
                <a:solidFill>
                  <a:schemeClr val="lt1"/>
                </a:solidFill>
                <a:latin typeface="Montserrat"/>
                <a:ea typeface="Montserrat"/>
                <a:cs typeface="Montserrat"/>
                <a:sym typeface="Montserrat"/>
              </a:rPr>
              <a:t>Amazon’s order fulfillment process integrates customer ordering, inventory availability checks, warehouse picking and packing, shipping coordination, billing, and customer notifications. These activities are executed through tightly integrated software systems that ensure each step is triggered automatically and completed in the correct sequence.</a:t>
            </a:r>
            <a:endParaRPr sz="2200">
              <a:solidFill>
                <a:schemeClr val="lt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30" name="Shape 330"/>
        <p:cNvGrpSpPr/>
        <p:nvPr/>
      </p:nvGrpSpPr>
      <p:grpSpPr>
        <a:xfrm>
          <a:off x="0" y="0"/>
          <a:ext cx="0" cy="0"/>
          <a:chOff x="0" y="0"/>
          <a:chExt cx="0" cy="0"/>
        </a:xfrm>
      </p:grpSpPr>
      <p:sp>
        <p:nvSpPr>
          <p:cNvPr id="331" name="Google Shape;331;p53"/>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AMAZON</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PROCESS AT SCALE</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32" name="Google Shape;332;p53"/>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333" name="Google Shape;333;p53"/>
          <p:cNvSpPr txBox="1"/>
          <p:nvPr/>
        </p:nvSpPr>
        <p:spPr>
          <a:xfrm>
            <a:off x="325638" y="1493350"/>
            <a:ext cx="8492700" cy="2285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2200">
                <a:solidFill>
                  <a:schemeClr val="lt1"/>
                </a:solidFill>
                <a:latin typeface="Montserrat"/>
                <a:ea typeface="Montserrat"/>
                <a:cs typeface="Montserrat"/>
                <a:sym typeface="Montserrat"/>
              </a:rPr>
              <a:t>Amazon processes millions of customer orders every day across global markets. This scale is achievable only because workflows are highly automated, standardized, and continuously monitored. Without digitally enforced processes, managing this volume with speed and accuracy would be impossible.</a:t>
            </a:r>
            <a:endParaRPr sz="2200">
              <a:solidFill>
                <a:schemeClr val="lt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37" name="Shape 337"/>
        <p:cNvGrpSpPr/>
        <p:nvPr/>
      </p:nvGrpSpPr>
      <p:grpSpPr>
        <a:xfrm>
          <a:off x="0" y="0"/>
          <a:ext cx="0" cy="0"/>
          <a:chOff x="0" y="0"/>
          <a:chExt cx="0" cy="0"/>
        </a:xfrm>
      </p:grpSpPr>
      <p:sp>
        <p:nvSpPr>
          <p:cNvPr id="338" name="Google Shape;338;p54"/>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PROCESS IN PRACTICE</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WALMART</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39" name="Google Shape;339;p54"/>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340" name="Google Shape;340;p54"/>
          <p:cNvSpPr txBox="1"/>
          <p:nvPr/>
        </p:nvSpPr>
        <p:spPr>
          <a:xfrm>
            <a:off x="325638" y="3034075"/>
            <a:ext cx="8492700" cy="10182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b="1" lang="en" sz="2200">
                <a:solidFill>
                  <a:schemeClr val="lt1"/>
                </a:solidFill>
                <a:latin typeface="Montserrat"/>
                <a:ea typeface="Montserrat"/>
                <a:cs typeface="Montserrat"/>
                <a:sym typeface="Montserrat"/>
              </a:rPr>
              <a:t> </a:t>
            </a:r>
            <a:r>
              <a:rPr b="1" lang="en" sz="2200">
                <a:solidFill>
                  <a:schemeClr val="lt1"/>
                </a:solidFill>
                <a:latin typeface="Montserrat"/>
                <a:ea typeface="Montserrat"/>
                <a:cs typeface="Montserrat"/>
                <a:sym typeface="Montserrat"/>
              </a:rPr>
              <a:t>Procure-to-Pay</a:t>
            </a:r>
            <a:br>
              <a:rPr lang="en" sz="1900">
                <a:solidFill>
                  <a:schemeClr val="lt1"/>
                </a:solidFill>
              </a:rPr>
            </a:br>
            <a:r>
              <a:rPr lang="en" sz="1900">
                <a:solidFill>
                  <a:schemeClr val="lt1"/>
                </a:solidFill>
              </a:rPr>
              <a:t>Purchases and payments managed across 100,000+ suppliers using standardized ERP workflows.</a:t>
            </a:r>
            <a:endParaRPr>
              <a:solidFill>
                <a:schemeClr val="lt1"/>
              </a:solidFill>
            </a:endParaRPr>
          </a:p>
        </p:txBody>
      </p:sp>
      <p:pic>
        <p:nvPicPr>
          <p:cNvPr id="341" name="Google Shape;341;p54"/>
          <p:cNvPicPr preferRelativeResize="0"/>
          <p:nvPr/>
        </p:nvPicPr>
        <p:blipFill>
          <a:blip r:embed="rId3">
            <a:alphaModFix/>
          </a:blip>
          <a:stretch>
            <a:fillRect/>
          </a:stretch>
        </p:blipFill>
        <p:spPr>
          <a:xfrm>
            <a:off x="3705013" y="1234775"/>
            <a:ext cx="1733975" cy="16373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45" name="Shape 345"/>
        <p:cNvGrpSpPr/>
        <p:nvPr/>
      </p:nvGrpSpPr>
      <p:grpSpPr>
        <a:xfrm>
          <a:off x="0" y="0"/>
          <a:ext cx="0" cy="0"/>
          <a:chOff x="0" y="0"/>
          <a:chExt cx="0" cy="0"/>
        </a:xfrm>
      </p:grpSpPr>
      <p:sp>
        <p:nvSpPr>
          <p:cNvPr id="346" name="Google Shape;346;p55"/>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WALMART</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PROCURE-TO-PAY PROCESS</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47" name="Google Shape;347;p55"/>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348" name="Google Shape;348;p55"/>
          <p:cNvSpPr txBox="1"/>
          <p:nvPr/>
        </p:nvSpPr>
        <p:spPr>
          <a:xfrm>
            <a:off x="325638" y="1493350"/>
            <a:ext cx="8492700" cy="1896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2200">
                <a:solidFill>
                  <a:schemeClr val="lt1"/>
                </a:solidFill>
                <a:latin typeface="Montserrat"/>
                <a:ea typeface="Montserrat"/>
                <a:cs typeface="Montserrat"/>
                <a:sym typeface="Montserrat"/>
              </a:rPr>
              <a:t>Walmart’s procure-to-pay process manages how goods are purchased from suppliers, received into inventory, invoiced, and paid. This process connects procurement, inventory management, finance, and supplier systems, ensuring that purchasing activities follow standardized rules and approvals</a:t>
            </a:r>
            <a:endParaRPr sz="2200">
              <a:solidFill>
                <a:schemeClr val="lt1"/>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52" name="Shape 352"/>
        <p:cNvGrpSpPr/>
        <p:nvPr/>
      </p:nvGrpSpPr>
      <p:grpSpPr>
        <a:xfrm>
          <a:off x="0" y="0"/>
          <a:ext cx="0" cy="0"/>
          <a:chOff x="0" y="0"/>
          <a:chExt cx="0" cy="0"/>
        </a:xfrm>
      </p:grpSpPr>
      <p:sp>
        <p:nvSpPr>
          <p:cNvPr id="353" name="Google Shape;353;p56"/>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WALMART</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PROCESS AT SCALE</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54" name="Google Shape;354;p56"/>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355" name="Google Shape;355;p56"/>
          <p:cNvSpPr txBox="1"/>
          <p:nvPr/>
        </p:nvSpPr>
        <p:spPr>
          <a:xfrm>
            <a:off x="325638" y="1493350"/>
            <a:ext cx="8492700" cy="2285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2200">
                <a:solidFill>
                  <a:schemeClr val="lt1"/>
                </a:solidFill>
                <a:latin typeface="Montserrat"/>
                <a:ea typeface="Montserrat"/>
                <a:cs typeface="Montserrat"/>
                <a:sym typeface="Montserrat"/>
              </a:rPr>
              <a:t>Walmart works with more than 100,000 suppliers worldwide, making manual purchasing and payment processes unmanageable. ERP-driven workflows allow Walmart to control spending, reduce errors, ensure timely payments, and maintain visibility across a highly complex global supply chain</a:t>
            </a:r>
            <a:endParaRPr sz="2200">
              <a:solidFill>
                <a:schemeClr val="lt1"/>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59" name="Shape 359"/>
        <p:cNvGrpSpPr/>
        <p:nvPr/>
      </p:nvGrpSpPr>
      <p:grpSpPr>
        <a:xfrm>
          <a:off x="0" y="0"/>
          <a:ext cx="0" cy="0"/>
          <a:chOff x="0" y="0"/>
          <a:chExt cx="0" cy="0"/>
        </a:xfrm>
      </p:grpSpPr>
      <p:sp>
        <p:nvSpPr>
          <p:cNvPr id="360" name="Google Shape;360;p57"/>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PROCESS IN PRACTICE</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IBM</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61" name="Google Shape;361;p57"/>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362" name="Google Shape;362;p57"/>
          <p:cNvSpPr txBox="1"/>
          <p:nvPr/>
        </p:nvSpPr>
        <p:spPr>
          <a:xfrm>
            <a:off x="325638" y="3034075"/>
            <a:ext cx="8492700" cy="10182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b="1" lang="en" sz="2200">
                <a:solidFill>
                  <a:schemeClr val="lt1"/>
                </a:solidFill>
                <a:latin typeface="Montserrat"/>
                <a:ea typeface="Montserrat"/>
                <a:cs typeface="Montserrat"/>
                <a:sym typeface="Montserrat"/>
              </a:rPr>
              <a:t> </a:t>
            </a:r>
            <a:r>
              <a:rPr b="1" lang="en" sz="2200">
                <a:solidFill>
                  <a:schemeClr val="lt1"/>
                </a:solidFill>
                <a:latin typeface="Montserrat"/>
                <a:ea typeface="Montserrat"/>
                <a:cs typeface="Montserrat"/>
                <a:sym typeface="Montserrat"/>
              </a:rPr>
              <a:t>Payroll &amp; HR</a:t>
            </a:r>
            <a:br>
              <a:rPr lang="en" sz="1900">
                <a:solidFill>
                  <a:schemeClr val="lt1"/>
                </a:solidFill>
              </a:rPr>
            </a:br>
            <a:r>
              <a:rPr lang="en" sz="1900">
                <a:solidFill>
                  <a:schemeClr val="lt1"/>
                </a:solidFill>
              </a:rPr>
              <a:t>Global workforce supported by structured HR and payroll processes ensuring accurate payments and regulatory compliance</a:t>
            </a:r>
            <a:endParaRPr>
              <a:solidFill>
                <a:schemeClr val="lt1"/>
              </a:solidFill>
            </a:endParaRPr>
          </a:p>
        </p:txBody>
      </p:sp>
      <p:pic>
        <p:nvPicPr>
          <p:cNvPr id="363" name="Google Shape;363;p57"/>
          <p:cNvPicPr preferRelativeResize="0"/>
          <p:nvPr/>
        </p:nvPicPr>
        <p:blipFill rotWithShape="1">
          <a:blip r:embed="rId3">
            <a:alphaModFix/>
          </a:blip>
          <a:srcRect b="2564" l="2714" r="0" t="2097"/>
          <a:stretch/>
        </p:blipFill>
        <p:spPr>
          <a:xfrm>
            <a:off x="3776400" y="1418575"/>
            <a:ext cx="1591200" cy="1559700"/>
          </a:xfrm>
          <a:prstGeom prst="ellipse">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67" name="Shape 367"/>
        <p:cNvGrpSpPr/>
        <p:nvPr/>
      </p:nvGrpSpPr>
      <p:grpSpPr>
        <a:xfrm>
          <a:off x="0" y="0"/>
          <a:ext cx="0" cy="0"/>
          <a:chOff x="0" y="0"/>
          <a:chExt cx="0" cy="0"/>
        </a:xfrm>
      </p:grpSpPr>
      <p:sp>
        <p:nvSpPr>
          <p:cNvPr id="368" name="Google Shape;368;p58"/>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IBM</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PAYROLL &amp; HR PROCESSES</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69" name="Google Shape;369;p58"/>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370" name="Google Shape;370;p58"/>
          <p:cNvSpPr txBox="1"/>
          <p:nvPr/>
        </p:nvSpPr>
        <p:spPr>
          <a:xfrm>
            <a:off x="325638" y="1493350"/>
            <a:ext cx="8492700" cy="1896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2200">
                <a:solidFill>
                  <a:schemeClr val="lt1"/>
                </a:solidFill>
                <a:latin typeface="Montserrat"/>
                <a:ea typeface="Montserrat"/>
                <a:cs typeface="Montserrat"/>
                <a:sym typeface="Montserrat"/>
              </a:rPr>
              <a:t>IBM’s payroll and human resources processes manage employee records, compensation, benefits, and compliance across multiple countries. These processes rely on structured workflows to ensure that employee data is accurate, approvals are enforced, and payroll is processed consistently</a:t>
            </a:r>
            <a:endParaRPr sz="2200">
              <a:solidFill>
                <a:schemeClr val="lt1"/>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74" name="Shape 374"/>
        <p:cNvGrpSpPr/>
        <p:nvPr/>
      </p:nvGrpSpPr>
      <p:grpSpPr>
        <a:xfrm>
          <a:off x="0" y="0"/>
          <a:ext cx="0" cy="0"/>
          <a:chOff x="0" y="0"/>
          <a:chExt cx="0" cy="0"/>
        </a:xfrm>
      </p:grpSpPr>
      <p:sp>
        <p:nvSpPr>
          <p:cNvPr id="375" name="Google Shape;375;p59"/>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IBM</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PROCESS AT SCALE</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76" name="Google Shape;376;p59"/>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377" name="Google Shape;377;p59"/>
          <p:cNvSpPr txBox="1"/>
          <p:nvPr/>
        </p:nvSpPr>
        <p:spPr>
          <a:xfrm>
            <a:off x="325638" y="1623600"/>
            <a:ext cx="8492700" cy="1896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2200">
                <a:solidFill>
                  <a:schemeClr val="lt1"/>
                </a:solidFill>
                <a:latin typeface="Montserrat"/>
                <a:ea typeface="Montserrat"/>
                <a:cs typeface="Montserrat"/>
                <a:sym typeface="Montserrat"/>
              </a:rPr>
              <a:t>IBM supports a global workforce of hundreds of thousands of employees, operating under different legal and regulatory environments. Digital HR and payroll workflows are essential to ensure accurate salary payments, regulatory compliance, and reliable reporting across regions</a:t>
            </a:r>
            <a:endParaRPr sz="2200">
              <a:solidFill>
                <a:schemeClr val="lt1"/>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81" name="Shape 381"/>
        <p:cNvGrpSpPr/>
        <p:nvPr/>
      </p:nvGrpSpPr>
      <p:grpSpPr>
        <a:xfrm>
          <a:off x="0" y="0"/>
          <a:ext cx="0" cy="0"/>
          <a:chOff x="0" y="0"/>
          <a:chExt cx="0" cy="0"/>
        </a:xfrm>
      </p:grpSpPr>
      <p:sp>
        <p:nvSpPr>
          <p:cNvPr id="382" name="Google Shape;382;p60"/>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FUNCTIONAL VS CROSS-FUNCTIONAL</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 SILOS FAIL</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83" name="Google Shape;383;p60"/>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384" name="Google Shape;384;p60"/>
          <p:cNvSpPr txBox="1"/>
          <p:nvPr/>
        </p:nvSpPr>
        <p:spPr>
          <a:xfrm>
            <a:off x="579750" y="1416600"/>
            <a:ext cx="7984500" cy="2310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Most real business processes cross departmental boundaries rather than remaining within a single function. A single customer order, for example, typically involves sales for order creation, inventory for availability and fulfillment, finance for invoicing and payment, logistics for delivery, and reporting systems for monitoring performance and outcomes. This cross-functional nature makes coordination and system integration essential for reliable and efficient operations.</a:t>
            </a:r>
            <a:endParaRPr>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88" name="Shape 388"/>
        <p:cNvGrpSpPr/>
        <p:nvPr/>
      </p:nvGrpSpPr>
      <p:grpSpPr>
        <a:xfrm>
          <a:off x="0" y="0"/>
          <a:ext cx="0" cy="0"/>
          <a:chOff x="0" y="0"/>
          <a:chExt cx="0" cy="0"/>
        </a:xfrm>
      </p:grpSpPr>
      <p:sp>
        <p:nvSpPr>
          <p:cNvPr id="389" name="Google Shape;389;p61"/>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WHY PROCESSES BREAK</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COMMON FAILURE POINTS</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90" name="Google Shape;390;p61"/>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pic>
        <p:nvPicPr>
          <p:cNvPr id="391" name="Google Shape;391;p61"/>
          <p:cNvPicPr preferRelativeResize="0"/>
          <p:nvPr/>
        </p:nvPicPr>
        <p:blipFill>
          <a:blip r:embed="rId3">
            <a:alphaModFix/>
          </a:blip>
          <a:stretch>
            <a:fillRect/>
          </a:stretch>
        </p:blipFill>
        <p:spPr>
          <a:xfrm>
            <a:off x="3290401" y="1418575"/>
            <a:ext cx="2563175" cy="2563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395" name="Shape 395"/>
        <p:cNvGrpSpPr/>
        <p:nvPr/>
      </p:nvGrpSpPr>
      <p:grpSpPr>
        <a:xfrm>
          <a:off x="0" y="0"/>
          <a:ext cx="0" cy="0"/>
          <a:chOff x="0" y="0"/>
          <a:chExt cx="0" cy="0"/>
        </a:xfrm>
      </p:grpSpPr>
      <p:sp>
        <p:nvSpPr>
          <p:cNvPr id="396" name="Google Shape;396;p62"/>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WHY PROCESSES BREAK</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COMMON FAILURE POINTS</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397" name="Google Shape;397;p62"/>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398" name="Google Shape;398;p62"/>
          <p:cNvSpPr txBox="1"/>
          <p:nvPr/>
        </p:nvSpPr>
        <p:spPr>
          <a:xfrm>
            <a:off x="579750" y="1416600"/>
            <a:ext cx="7984500" cy="2310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Business processes often fail due to unclear ownership, manual handoffs, duplicated data, inconsistent business rules, and poor system integration. When responsibilities are not clearly defined, tasks are delayed or missed, and when processes rely on manual steps or disconnected systems, errors and data inconsistencies increase. These weaknesses reduce efficiency, hide problems from management, and make processes difficult to control or improve.</a:t>
            </a:r>
            <a:endParaRPr>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02" name="Shape 402"/>
        <p:cNvGrpSpPr/>
        <p:nvPr/>
      </p:nvGrpSpPr>
      <p:grpSpPr>
        <a:xfrm>
          <a:off x="0" y="0"/>
          <a:ext cx="0" cy="0"/>
          <a:chOff x="0" y="0"/>
          <a:chExt cx="0" cy="0"/>
        </a:xfrm>
      </p:grpSpPr>
      <p:sp>
        <p:nvSpPr>
          <p:cNvPr id="403" name="Google Shape;403;p63"/>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DIGITAL WORKFLOWS</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PROCESS EXECUTION BY SOFTWARE</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404" name="Google Shape;404;p63"/>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405" name="Google Shape;405;p63"/>
          <p:cNvSpPr txBox="1"/>
          <p:nvPr/>
        </p:nvSpPr>
        <p:spPr>
          <a:xfrm>
            <a:off x="579750" y="1416600"/>
            <a:ext cx="7984500" cy="2310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 digital workflow is a business process that is executed, monitored, and controlled by software systems. It follows predefined steps, business rules, approvals, and system triggers that determine how tasks move from one stage to another, who is responsible at each step, and how data is processed. By automating execution and enforcing rules, digital workflows reduce manual errors, improve transparency, and ensure that processes are performed consistently across the organization.</a:t>
            </a:r>
            <a:endParaRPr>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09" name="Shape 409"/>
        <p:cNvGrpSpPr/>
        <p:nvPr/>
      </p:nvGrpSpPr>
      <p:grpSpPr>
        <a:xfrm>
          <a:off x="0" y="0"/>
          <a:ext cx="0" cy="0"/>
          <a:chOff x="0" y="0"/>
          <a:chExt cx="0" cy="0"/>
        </a:xfrm>
      </p:grpSpPr>
      <p:sp>
        <p:nvSpPr>
          <p:cNvPr id="410" name="Google Shape;410;p64"/>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MANUAL VS DIGITAL</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KEY DIFFERENCE</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411" name="Google Shape;411;p64"/>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
        <p:nvSpPr>
          <p:cNvPr id="412" name="Google Shape;412;p64"/>
          <p:cNvSpPr txBox="1"/>
          <p:nvPr/>
        </p:nvSpPr>
        <p:spPr>
          <a:xfrm>
            <a:off x="579750" y="1416600"/>
            <a:ext cx="7984500" cy="2310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Manual processes rely on emails, spreadsheets, and individual decisions, which makes them difficult to control, track, and standardize. In contrast, digital workflows rely on software systems that automatically log actions, enforce predefined business rules, manage approvals, and generate data in real time. This shift from manual to digital execution improves transparency, reduces errors, and enables organizations to monitor and optimize processes continuously</a:t>
            </a:r>
            <a:endParaRPr>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16" name="Shape 416"/>
        <p:cNvGrpSpPr/>
        <p:nvPr/>
      </p:nvGrpSpPr>
      <p:grpSpPr>
        <a:xfrm>
          <a:off x="0" y="0"/>
          <a:ext cx="0" cy="0"/>
          <a:chOff x="0" y="0"/>
          <a:chExt cx="0" cy="0"/>
        </a:xfrm>
      </p:grpSpPr>
      <p:sp>
        <p:nvSpPr>
          <p:cNvPr id="417" name="Google Shape;417;p65"/>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LIFE BEFORE ERP</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HOW COMPANIES OPERATED</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418" name="Google Shape;418;p65"/>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419" name="Google Shape;419;p65"/>
          <p:cNvSpPr txBox="1"/>
          <p:nvPr/>
        </p:nvSpPr>
        <p:spPr>
          <a:xfrm>
            <a:off x="579738" y="2686150"/>
            <a:ext cx="7984500" cy="13014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Before ERP systems, organizations managed their operations using isolated tools and manual coordination. Finance, inventory, sales, and HR worked independently, often relying on spreadsheets, emails, paper records, and department-specific software with no shared data foundation</a:t>
            </a:r>
            <a:endParaRPr>
              <a:solidFill>
                <a:schemeClr val="lt1"/>
              </a:solidFill>
            </a:endParaRPr>
          </a:p>
        </p:txBody>
      </p:sp>
      <p:pic>
        <p:nvPicPr>
          <p:cNvPr id="420" name="Google Shape;420;p65"/>
          <p:cNvPicPr preferRelativeResize="0"/>
          <p:nvPr/>
        </p:nvPicPr>
        <p:blipFill>
          <a:blip r:embed="rId3">
            <a:alphaModFix/>
          </a:blip>
          <a:stretch>
            <a:fillRect/>
          </a:stretch>
        </p:blipFill>
        <p:spPr>
          <a:xfrm>
            <a:off x="3801336" y="1030400"/>
            <a:ext cx="1541325" cy="1541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24" name="Shape 424"/>
        <p:cNvGrpSpPr/>
        <p:nvPr/>
      </p:nvGrpSpPr>
      <p:grpSpPr>
        <a:xfrm>
          <a:off x="0" y="0"/>
          <a:ext cx="0" cy="0"/>
          <a:chOff x="0" y="0"/>
          <a:chExt cx="0" cy="0"/>
        </a:xfrm>
      </p:grpSpPr>
      <p:sp>
        <p:nvSpPr>
          <p:cNvPr id="425" name="Google Shape;425;p66"/>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DEPARTMENTAL SILOS</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DISCONNECTED OPERATIONS</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426" name="Google Shape;426;p66"/>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427" name="Google Shape;427;p66"/>
          <p:cNvSpPr txBox="1"/>
          <p:nvPr/>
        </p:nvSpPr>
        <p:spPr>
          <a:xfrm>
            <a:off x="579750" y="2925600"/>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Each department maintained its own data, rules, and reports. Information moved slowly between teams through manual handoffs, creating delays, misunderstandings, and conflicting versions of the truth</a:t>
            </a:r>
            <a:endParaRPr>
              <a:solidFill>
                <a:schemeClr val="lt1"/>
              </a:solidFill>
            </a:endParaRPr>
          </a:p>
        </p:txBody>
      </p:sp>
      <p:pic>
        <p:nvPicPr>
          <p:cNvPr id="428" name="Google Shape;428;p66"/>
          <p:cNvPicPr preferRelativeResize="0"/>
          <p:nvPr/>
        </p:nvPicPr>
        <p:blipFill>
          <a:blip r:embed="rId3">
            <a:alphaModFix/>
          </a:blip>
          <a:stretch>
            <a:fillRect/>
          </a:stretch>
        </p:blipFill>
        <p:spPr>
          <a:xfrm>
            <a:off x="3679800" y="1028600"/>
            <a:ext cx="1784401" cy="17844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32" name="Shape 432"/>
        <p:cNvGrpSpPr/>
        <p:nvPr/>
      </p:nvGrpSpPr>
      <p:grpSpPr>
        <a:xfrm>
          <a:off x="0" y="0"/>
          <a:ext cx="0" cy="0"/>
          <a:chOff x="0" y="0"/>
          <a:chExt cx="0" cy="0"/>
        </a:xfrm>
      </p:grpSpPr>
      <p:sp>
        <p:nvSpPr>
          <p:cNvPr id="433" name="Google Shape;433;p67"/>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STRUCTURAL LIMITATIONS</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WHY THE OLD MODEL FAILED</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434" name="Google Shape;434;p67"/>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435" name="Google Shape;435;p67"/>
          <p:cNvSpPr txBox="1"/>
          <p:nvPr/>
        </p:nvSpPr>
        <p:spPr>
          <a:xfrm>
            <a:off x="579750" y="2721125"/>
            <a:ext cx="7984500" cy="13014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As companies grew, this fragmented approach became unmanageable. Data duplication increased, reporting accuracy declined, and management lost real-time visibility into operations, making strategic decision-making unreliable.</a:t>
            </a:r>
            <a:endParaRPr>
              <a:solidFill>
                <a:schemeClr val="lt1"/>
              </a:solidFill>
            </a:endParaRPr>
          </a:p>
        </p:txBody>
      </p:sp>
      <p:pic>
        <p:nvPicPr>
          <p:cNvPr id="436" name="Google Shape;436;p67"/>
          <p:cNvPicPr preferRelativeResize="0"/>
          <p:nvPr/>
        </p:nvPicPr>
        <p:blipFill>
          <a:blip r:embed="rId3">
            <a:alphaModFix/>
          </a:blip>
          <a:stretch>
            <a:fillRect/>
          </a:stretch>
        </p:blipFill>
        <p:spPr>
          <a:xfrm>
            <a:off x="3768588" y="1104875"/>
            <a:ext cx="1606835" cy="1616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40" name="Shape 440"/>
        <p:cNvGrpSpPr/>
        <p:nvPr/>
      </p:nvGrpSpPr>
      <p:grpSpPr>
        <a:xfrm>
          <a:off x="0" y="0"/>
          <a:ext cx="0" cy="0"/>
          <a:chOff x="0" y="0"/>
          <a:chExt cx="0" cy="0"/>
        </a:xfrm>
      </p:grpSpPr>
      <p:sp>
        <p:nvSpPr>
          <p:cNvPr id="441" name="Google Shape;441;p68"/>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OPERATIONAL RISKS</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REAL CONSEQUENCES</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442" name="Google Shape;442;p68"/>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443" name="Google Shape;443;p68"/>
          <p:cNvSpPr txBox="1"/>
          <p:nvPr/>
        </p:nvSpPr>
        <p:spPr>
          <a:xfrm>
            <a:off x="579750" y="3117450"/>
            <a:ext cx="7984500" cy="13014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Without integrated systems, companies faced inventory mismatches, delayed invoicing, payroll errors, compliance risks, and customer dissatisfaction. These were not technical failures, but structural process failures.</a:t>
            </a:r>
            <a:endParaRPr>
              <a:solidFill>
                <a:schemeClr val="lt1"/>
              </a:solidFill>
            </a:endParaRPr>
          </a:p>
        </p:txBody>
      </p:sp>
      <p:pic>
        <p:nvPicPr>
          <p:cNvPr id="444" name="Google Shape;444;p68"/>
          <p:cNvPicPr preferRelativeResize="0"/>
          <p:nvPr/>
        </p:nvPicPr>
        <p:blipFill>
          <a:blip r:embed="rId3">
            <a:alphaModFix/>
          </a:blip>
          <a:stretch>
            <a:fillRect/>
          </a:stretch>
        </p:blipFill>
        <p:spPr>
          <a:xfrm>
            <a:off x="3017400" y="1078925"/>
            <a:ext cx="3109200" cy="1875600"/>
          </a:xfrm>
          <a:prstGeom prst="roundRect">
            <a:avLst>
              <a:gd fmla="val 16667" name="adj"/>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48" name="Shape 448"/>
        <p:cNvGrpSpPr/>
        <p:nvPr/>
      </p:nvGrpSpPr>
      <p:grpSpPr>
        <a:xfrm>
          <a:off x="0" y="0"/>
          <a:ext cx="0" cy="0"/>
          <a:chOff x="0" y="0"/>
          <a:chExt cx="0" cy="0"/>
        </a:xfrm>
      </p:grpSpPr>
      <p:sp>
        <p:nvSpPr>
          <p:cNvPr id="449" name="Google Shape;449;p69"/>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ENTERPRISE RESOURCE PLANNING</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CORE DEFINITION</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450" name="Google Shape;450;p69"/>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451" name="Google Shape;451;p69"/>
          <p:cNvSpPr txBox="1"/>
          <p:nvPr/>
        </p:nvSpPr>
        <p:spPr>
          <a:xfrm>
            <a:off x="579750" y="2089200"/>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Enterprise Resource Planning (ERP) is an integrated information system that manages an organization’s core business processes through a shared database, standardized workflows, and centralized control mechanisms.</a:t>
            </a:r>
            <a:endParaRPr>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55" name="Shape 455"/>
        <p:cNvGrpSpPr/>
        <p:nvPr/>
      </p:nvGrpSpPr>
      <p:grpSpPr>
        <a:xfrm>
          <a:off x="0" y="0"/>
          <a:ext cx="0" cy="0"/>
          <a:chOff x="0" y="0"/>
          <a:chExt cx="0" cy="0"/>
        </a:xfrm>
      </p:grpSpPr>
      <p:sp>
        <p:nvSpPr>
          <p:cNvPr id="456" name="Google Shape;456;p70"/>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WHY ERP EXISTS</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BUSINESS MOTIVATION</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457" name="Google Shape;457;p70"/>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458" name="Google Shape;458;p70"/>
          <p:cNvSpPr txBox="1"/>
          <p:nvPr/>
        </p:nvSpPr>
        <p:spPr>
          <a:xfrm>
            <a:off x="579750" y="1921050"/>
            <a:ext cx="7984500" cy="13014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ERP systems exist to replace fragmented processes with unified workflows, eliminate data inconsistencies, enforce business rules, and provide leadership with a single, reliable view of organizational performance.</a:t>
            </a:r>
            <a:endParaRPr>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62" name="Shape 462"/>
        <p:cNvGrpSpPr/>
        <p:nvPr/>
      </p:nvGrpSpPr>
      <p:grpSpPr>
        <a:xfrm>
          <a:off x="0" y="0"/>
          <a:ext cx="0" cy="0"/>
          <a:chOff x="0" y="0"/>
          <a:chExt cx="0" cy="0"/>
        </a:xfrm>
      </p:grpSpPr>
      <p:sp>
        <p:nvSpPr>
          <p:cNvPr id="463" name="Google Shape;463;p71"/>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ERP AS A SYSTEM</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NOT JUST SOFTWARE</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464" name="Google Shape;464;p71"/>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465" name="Google Shape;465;p71"/>
          <p:cNvSpPr txBox="1"/>
          <p:nvPr/>
        </p:nvSpPr>
        <p:spPr>
          <a:xfrm>
            <a:off x="579750" y="2089200"/>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ERP is NOT a single application, but a coordinated system of modules that represent how a business actually operates. It formalizes processes into software logic.</a:t>
            </a:r>
            <a:endParaRPr>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69" name="Shape 469"/>
        <p:cNvGrpSpPr/>
        <p:nvPr/>
      </p:nvGrpSpPr>
      <p:grpSpPr>
        <a:xfrm>
          <a:off x="0" y="0"/>
          <a:ext cx="0" cy="0"/>
          <a:chOff x="0" y="0"/>
          <a:chExt cx="0" cy="0"/>
        </a:xfrm>
      </p:grpSpPr>
      <p:sp>
        <p:nvSpPr>
          <p:cNvPr id="470" name="Google Shape;470;p72"/>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CORE ERP PRINCIPLE</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SINGLE SOURCE OF TRUTH</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471" name="Google Shape;471;p72"/>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472" name="Google Shape;472;p72"/>
          <p:cNvSpPr txBox="1"/>
          <p:nvPr/>
        </p:nvSpPr>
        <p:spPr>
          <a:xfrm>
            <a:off x="579750" y="2089200"/>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All ERP modules share one central database. Data entered once is reused everywhere, ensuring consistency across finance, operations, HR, procurement, and reporting.</a:t>
            </a:r>
            <a:endParaRPr>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76" name="Shape 476"/>
        <p:cNvGrpSpPr/>
        <p:nvPr/>
      </p:nvGrpSpPr>
      <p:grpSpPr>
        <a:xfrm>
          <a:off x="0" y="0"/>
          <a:ext cx="0" cy="0"/>
          <a:chOff x="0" y="0"/>
          <a:chExt cx="0" cy="0"/>
        </a:xfrm>
      </p:grpSpPr>
      <p:sp>
        <p:nvSpPr>
          <p:cNvPr id="477" name="Google Shape;477;p73"/>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ERP IN ACTION</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END-TO-END FLOW</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478" name="Google Shape;478;p73"/>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479" name="Google Shape;479;p73"/>
          <p:cNvSpPr txBox="1"/>
          <p:nvPr/>
        </p:nvSpPr>
        <p:spPr>
          <a:xfrm>
            <a:off x="579750" y="2089200"/>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When a sales order is created, ERP systems automatically update inventory, generate accounting entries, trigger procurement if needed, and make the transaction available for management reporting</a:t>
            </a:r>
            <a:endParaRPr>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83" name="Shape 483"/>
        <p:cNvGrpSpPr/>
        <p:nvPr/>
      </p:nvGrpSpPr>
      <p:grpSpPr>
        <a:xfrm>
          <a:off x="0" y="0"/>
          <a:ext cx="0" cy="0"/>
          <a:chOff x="0" y="0"/>
          <a:chExt cx="0" cy="0"/>
        </a:xfrm>
      </p:grpSpPr>
      <p:sp>
        <p:nvSpPr>
          <p:cNvPr id="484" name="Google Shape;484;p74"/>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ERP MODULE STRUCTURE</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FUNCTIONAL DESIGN</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485" name="Google Shape;485;p74"/>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486" name="Google Shape;486;p74"/>
          <p:cNvSpPr txBox="1"/>
          <p:nvPr/>
        </p:nvSpPr>
        <p:spPr>
          <a:xfrm>
            <a:off x="579750" y="2089200"/>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Typical ERP modules include Finance, Procurement, Inventory, Sales, Manufacturing, and Human Resources. Modules are integrated by design, not connected as afterthoughts.</a:t>
            </a:r>
            <a:endParaRPr>
              <a:solidFill>
                <a:schemeClr val="l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490" name="Shape 490"/>
        <p:cNvGrpSpPr/>
        <p:nvPr/>
      </p:nvGrpSpPr>
      <p:grpSpPr>
        <a:xfrm>
          <a:off x="0" y="0"/>
          <a:ext cx="0" cy="0"/>
          <a:chOff x="0" y="0"/>
          <a:chExt cx="0" cy="0"/>
        </a:xfrm>
      </p:grpSpPr>
      <p:sp>
        <p:nvSpPr>
          <p:cNvPr id="491" name="Google Shape;491;p75"/>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REAL ERP PROVIDERS</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INDUSTRY STANDARDS</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492" name="Google Shape;492;p75"/>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493" name="Google Shape;493;p75"/>
          <p:cNvSpPr txBox="1"/>
          <p:nvPr/>
        </p:nvSpPr>
        <p:spPr>
          <a:xfrm>
            <a:off x="579750" y="1126075"/>
            <a:ext cx="7984500" cy="33195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SAP S/4HANA (large enterprises)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Oracle ERP Cloud (enterprise &amp; public sector)</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Microsoft Dynamics 365 (mid-to-large companies)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Oracle NetSuite (cloud-first businesses)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Odoo (SMEs and modular adoption)</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pic>
        <p:nvPicPr>
          <p:cNvPr id="494" name="Google Shape;494;p75"/>
          <p:cNvPicPr preferRelativeResize="0"/>
          <p:nvPr/>
        </p:nvPicPr>
        <p:blipFill rotWithShape="1">
          <a:blip r:embed="rId3">
            <a:alphaModFix/>
          </a:blip>
          <a:srcRect b="27716" l="0" r="0" t="33442"/>
          <a:stretch/>
        </p:blipFill>
        <p:spPr>
          <a:xfrm>
            <a:off x="116700" y="1217875"/>
            <a:ext cx="1940700" cy="619800"/>
          </a:xfrm>
          <a:prstGeom prst="flowChartAlternateProcess">
            <a:avLst/>
          </a:prstGeom>
          <a:noFill/>
          <a:ln>
            <a:noFill/>
          </a:ln>
        </p:spPr>
      </p:pic>
      <p:pic>
        <p:nvPicPr>
          <p:cNvPr id="495" name="Google Shape;495;p75"/>
          <p:cNvPicPr preferRelativeResize="0"/>
          <p:nvPr/>
        </p:nvPicPr>
        <p:blipFill rotWithShape="1">
          <a:blip r:embed="rId4">
            <a:alphaModFix/>
          </a:blip>
          <a:srcRect b="30714" l="0" r="0" t="30509"/>
          <a:stretch/>
        </p:blipFill>
        <p:spPr>
          <a:xfrm>
            <a:off x="6516448" y="4095275"/>
            <a:ext cx="2186100" cy="847800"/>
          </a:xfrm>
          <a:prstGeom prst="flowChartAlternateProcess">
            <a:avLst/>
          </a:prstGeom>
          <a:noFill/>
          <a:ln>
            <a:noFill/>
          </a:ln>
        </p:spPr>
      </p:pic>
      <p:pic>
        <p:nvPicPr>
          <p:cNvPr id="496" name="Google Shape;496;p75"/>
          <p:cNvPicPr preferRelativeResize="0"/>
          <p:nvPr/>
        </p:nvPicPr>
        <p:blipFill>
          <a:blip r:embed="rId5">
            <a:alphaModFix/>
          </a:blip>
          <a:stretch>
            <a:fillRect/>
          </a:stretch>
        </p:blipFill>
        <p:spPr>
          <a:xfrm>
            <a:off x="287175" y="4095275"/>
            <a:ext cx="2422200" cy="847800"/>
          </a:xfrm>
          <a:prstGeom prst="flowChartAlternateProcess">
            <a:avLst/>
          </a:prstGeom>
          <a:noFill/>
          <a:ln>
            <a:noFill/>
          </a:ln>
        </p:spPr>
      </p:pic>
      <p:pic>
        <p:nvPicPr>
          <p:cNvPr id="497" name="Google Shape;497;p75"/>
          <p:cNvPicPr preferRelativeResize="0"/>
          <p:nvPr/>
        </p:nvPicPr>
        <p:blipFill>
          <a:blip r:embed="rId6">
            <a:alphaModFix/>
          </a:blip>
          <a:stretch>
            <a:fillRect/>
          </a:stretch>
        </p:blipFill>
        <p:spPr>
          <a:xfrm>
            <a:off x="7206696" y="1309625"/>
            <a:ext cx="1739925" cy="6197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01" name="Shape 501"/>
        <p:cNvGrpSpPr/>
        <p:nvPr/>
      </p:nvGrpSpPr>
      <p:grpSpPr>
        <a:xfrm>
          <a:off x="0" y="0"/>
          <a:ext cx="0" cy="0"/>
          <a:chOff x="0" y="0"/>
          <a:chExt cx="0" cy="0"/>
        </a:xfrm>
      </p:grpSpPr>
      <p:sp>
        <p:nvSpPr>
          <p:cNvPr id="502" name="Google Shape;502;p76"/>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ERP AT SCALE</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REAL WORLD USAGE</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03" name="Google Shape;503;p76"/>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504" name="Google Shape;504;p76"/>
          <p:cNvSpPr txBox="1"/>
          <p:nvPr/>
        </p:nvSpPr>
        <p:spPr>
          <a:xfrm>
            <a:off x="579750" y="3033925"/>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SAP systems process over 87% of global commerce by value, supporting millions of transactions daily across manufacturing, logistics, finance, and retail organizations.</a:t>
            </a:r>
            <a:endParaRPr>
              <a:solidFill>
                <a:schemeClr val="lt1"/>
              </a:solidFill>
            </a:endParaRPr>
          </a:p>
        </p:txBody>
      </p:sp>
      <p:pic>
        <p:nvPicPr>
          <p:cNvPr id="505" name="Google Shape;505;p76"/>
          <p:cNvPicPr preferRelativeResize="0"/>
          <p:nvPr/>
        </p:nvPicPr>
        <p:blipFill>
          <a:blip r:embed="rId3">
            <a:alphaModFix/>
          </a:blip>
          <a:stretch>
            <a:fillRect/>
          </a:stretch>
        </p:blipFill>
        <p:spPr>
          <a:xfrm>
            <a:off x="3679800" y="1133550"/>
            <a:ext cx="1784401" cy="1784401"/>
          </a:xfrm>
          <a:prstGeom prst="rect">
            <a:avLst/>
          </a:prstGeom>
          <a:noFill/>
          <a:ln>
            <a:noFill/>
          </a:ln>
        </p:spPr>
      </p:pic>
      <p:pic>
        <p:nvPicPr>
          <p:cNvPr id="506" name="Google Shape;506;p76"/>
          <p:cNvPicPr preferRelativeResize="0"/>
          <p:nvPr/>
        </p:nvPicPr>
        <p:blipFill>
          <a:blip r:embed="rId4">
            <a:alphaModFix/>
          </a:blip>
          <a:stretch>
            <a:fillRect/>
          </a:stretch>
        </p:blipFill>
        <p:spPr>
          <a:xfrm>
            <a:off x="3702034" y="4115000"/>
            <a:ext cx="1739925" cy="6197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10" name="Shape 510"/>
        <p:cNvGrpSpPr/>
        <p:nvPr/>
      </p:nvGrpSpPr>
      <p:grpSpPr>
        <a:xfrm>
          <a:off x="0" y="0"/>
          <a:ext cx="0" cy="0"/>
          <a:chOff x="0" y="0"/>
          <a:chExt cx="0" cy="0"/>
        </a:xfrm>
      </p:grpSpPr>
      <p:sp>
        <p:nvSpPr>
          <p:cNvPr id="511" name="Google Shape;511;p77"/>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SAP S/4HANA</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REAL WORLD USAGE</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12" name="Google Shape;512;p77"/>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pic>
        <p:nvPicPr>
          <p:cNvPr id="513" name="Google Shape;513;p77"/>
          <p:cNvPicPr preferRelativeResize="0"/>
          <p:nvPr/>
        </p:nvPicPr>
        <p:blipFill>
          <a:blip r:embed="rId3">
            <a:alphaModFix/>
          </a:blip>
          <a:stretch>
            <a:fillRect/>
          </a:stretch>
        </p:blipFill>
        <p:spPr>
          <a:xfrm>
            <a:off x="914563" y="1033025"/>
            <a:ext cx="7314874" cy="40270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17" name="Shape 517"/>
        <p:cNvGrpSpPr/>
        <p:nvPr/>
      </p:nvGrpSpPr>
      <p:grpSpPr>
        <a:xfrm>
          <a:off x="0" y="0"/>
          <a:ext cx="0" cy="0"/>
          <a:chOff x="0" y="0"/>
          <a:chExt cx="0" cy="0"/>
        </a:xfrm>
      </p:grpSpPr>
      <p:sp>
        <p:nvSpPr>
          <p:cNvPr id="518" name="Google Shape;518;p78"/>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ERP IMPLEMENTATION</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MORE THAN INSTALLATION</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19" name="Google Shape;519;p78"/>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520" name="Google Shape;520;p78"/>
          <p:cNvSpPr txBox="1"/>
          <p:nvPr/>
        </p:nvSpPr>
        <p:spPr>
          <a:xfrm>
            <a:off x="579750" y="2089200"/>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ERP implementation involves process analysis, system configuration, data migration, integration, testing, and user training. Software alone does not fix broken processes.</a:t>
            </a:r>
            <a:endParaRPr>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24" name="Shape 524"/>
        <p:cNvGrpSpPr/>
        <p:nvPr/>
      </p:nvGrpSpPr>
      <p:grpSpPr>
        <a:xfrm>
          <a:off x="0" y="0"/>
          <a:ext cx="0" cy="0"/>
          <a:chOff x="0" y="0"/>
          <a:chExt cx="0" cy="0"/>
        </a:xfrm>
      </p:grpSpPr>
      <p:sp>
        <p:nvSpPr>
          <p:cNvPr id="525" name="Google Shape;525;p79"/>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MAINTENANCE &amp; GOVERNANCE</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ONGOING WORK</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26" name="Google Shape;526;p79"/>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527" name="Google Shape;527;p79"/>
          <p:cNvSpPr txBox="1"/>
          <p:nvPr/>
        </p:nvSpPr>
        <p:spPr>
          <a:xfrm>
            <a:off x="527250" y="2944200"/>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ERP systems require continuous governance: access control, performance monitoring, process optimization, compliance updates, and integration maintenance with external systems.</a:t>
            </a:r>
            <a:endParaRPr>
              <a:solidFill>
                <a:schemeClr val="lt1"/>
              </a:solidFill>
            </a:endParaRPr>
          </a:p>
        </p:txBody>
      </p:sp>
      <p:pic>
        <p:nvPicPr>
          <p:cNvPr id="528" name="Google Shape;528;p79"/>
          <p:cNvPicPr preferRelativeResize="0"/>
          <p:nvPr/>
        </p:nvPicPr>
        <p:blipFill>
          <a:blip r:embed="rId3">
            <a:alphaModFix/>
          </a:blip>
          <a:stretch>
            <a:fillRect/>
          </a:stretch>
        </p:blipFill>
        <p:spPr>
          <a:xfrm>
            <a:off x="3679800" y="1159800"/>
            <a:ext cx="1784401" cy="17844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32" name="Shape 532"/>
        <p:cNvGrpSpPr/>
        <p:nvPr/>
      </p:nvGrpSpPr>
      <p:grpSpPr>
        <a:xfrm>
          <a:off x="0" y="0"/>
          <a:ext cx="0" cy="0"/>
          <a:chOff x="0" y="0"/>
          <a:chExt cx="0" cy="0"/>
        </a:xfrm>
      </p:grpSpPr>
      <p:sp>
        <p:nvSpPr>
          <p:cNvPr id="533" name="Google Shape;533;p80"/>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ERP AND IT SPECIALISTS</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PROFESSIONAL ROLE</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34" name="Google Shape;534;p80"/>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535" name="Google Shape;535;p80"/>
          <p:cNvSpPr txBox="1"/>
          <p:nvPr/>
        </p:nvSpPr>
        <p:spPr>
          <a:xfrm>
            <a:off x="579750" y="2089200"/>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IT specialists configure ERP modules, manage integrations, ensure data integrity, enforce security rules, and translate business requirements into system behavior.</a:t>
            </a:r>
            <a:endParaRPr>
              <a:solidFill>
                <a:schemeClr val="l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39" name="Shape 539"/>
        <p:cNvGrpSpPr/>
        <p:nvPr/>
      </p:nvGrpSpPr>
      <p:grpSpPr>
        <a:xfrm>
          <a:off x="0" y="0"/>
          <a:ext cx="0" cy="0"/>
          <a:chOff x="0" y="0"/>
          <a:chExt cx="0" cy="0"/>
        </a:xfrm>
      </p:grpSpPr>
      <p:sp>
        <p:nvSpPr>
          <p:cNvPr id="540" name="Google Shape;540;p81"/>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ERP FOR IT CAREERS</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WHAT IT REALLY MEANS</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41" name="Google Shape;541;p81"/>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542" name="Google Shape;542;p81"/>
          <p:cNvSpPr txBox="1"/>
          <p:nvPr/>
        </p:nvSpPr>
        <p:spPr>
          <a:xfrm>
            <a:off x="579750" y="2089200"/>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ERP professionals must understand business logic, not just technology. Success depends on knowing how finance, operations, and data structures interact inside the system.</a:t>
            </a:r>
            <a:endParaRPr>
              <a:solidFill>
                <a:schemeClr val="l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46" name="Shape 546"/>
        <p:cNvGrpSpPr/>
        <p:nvPr/>
      </p:nvGrpSpPr>
      <p:grpSpPr>
        <a:xfrm>
          <a:off x="0" y="0"/>
          <a:ext cx="0" cy="0"/>
          <a:chOff x="0" y="0"/>
          <a:chExt cx="0" cy="0"/>
        </a:xfrm>
      </p:grpSpPr>
      <p:sp>
        <p:nvSpPr>
          <p:cNvPr id="547" name="Google Shape;547;p82"/>
          <p:cNvSpPr txBox="1"/>
          <p:nvPr/>
        </p:nvSpPr>
        <p:spPr>
          <a:xfrm>
            <a:off x="441450" y="279475"/>
            <a:ext cx="8261100" cy="846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WHAT IF</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ERP FAILS</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48" name="Google Shape;548;p82"/>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549" name="Google Shape;549;p82"/>
          <p:cNvSpPr txBox="1"/>
          <p:nvPr/>
        </p:nvSpPr>
        <p:spPr>
          <a:xfrm>
            <a:off x="579750" y="3020800"/>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Hershey’s ERP rollout disrupted order processing and inventory coordination, leading to shipment delays and lost revenue during peak demand due to misaligned processes and insufficient testing.</a:t>
            </a:r>
            <a:endParaRPr>
              <a:solidFill>
                <a:schemeClr val="lt1"/>
              </a:solidFill>
            </a:endParaRPr>
          </a:p>
        </p:txBody>
      </p:sp>
      <p:pic>
        <p:nvPicPr>
          <p:cNvPr id="550" name="Google Shape;550;p82"/>
          <p:cNvPicPr preferRelativeResize="0"/>
          <p:nvPr/>
        </p:nvPicPr>
        <p:blipFill rotWithShape="1">
          <a:blip r:embed="rId3">
            <a:alphaModFix/>
          </a:blip>
          <a:srcRect b="26182" l="0" r="0" t="16674"/>
          <a:stretch/>
        </p:blipFill>
        <p:spPr>
          <a:xfrm>
            <a:off x="2982600" y="1060150"/>
            <a:ext cx="3178800" cy="1816500"/>
          </a:xfrm>
          <a:prstGeom prst="roundRect">
            <a:avLst>
              <a:gd fmla="val 16667" name="adj"/>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54" name="Shape 554"/>
        <p:cNvGrpSpPr/>
        <p:nvPr/>
      </p:nvGrpSpPr>
      <p:grpSpPr>
        <a:xfrm>
          <a:off x="0" y="0"/>
          <a:ext cx="0" cy="0"/>
          <a:chOff x="0" y="0"/>
          <a:chExt cx="0" cy="0"/>
        </a:xfrm>
      </p:grpSpPr>
      <p:sp>
        <p:nvSpPr>
          <p:cNvPr id="555" name="Google Shape;555;p83"/>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FAILURE ANALYSIS</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WHAT WENT WRONG</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56" name="Google Shape;556;p83"/>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557" name="Google Shape;557;p83"/>
          <p:cNvSpPr txBox="1"/>
          <p:nvPr/>
        </p:nvSpPr>
        <p:spPr>
          <a:xfrm>
            <a:off x="527250" y="1992075"/>
            <a:ext cx="7984500" cy="9651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 system was technically functional, but business processes were poorly mapped, users were unprepared, and integrations were rushed. ERP failure was organizational, not technical.</a:t>
            </a:r>
            <a:endParaRPr>
              <a:solidFill>
                <a:schemeClr val="l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61" name="Shape 561"/>
        <p:cNvGrpSpPr/>
        <p:nvPr/>
      </p:nvGrpSpPr>
      <p:grpSpPr>
        <a:xfrm>
          <a:off x="0" y="0"/>
          <a:ext cx="0" cy="0"/>
          <a:chOff x="0" y="0"/>
          <a:chExt cx="0" cy="0"/>
        </a:xfrm>
      </p:grpSpPr>
      <p:sp>
        <p:nvSpPr>
          <p:cNvPr id="562" name="Google Shape;562;p84"/>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ACTIVITY</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ERP PROCESS TRACE</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63" name="Google Shape;563;p84"/>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564" name="Google Shape;564;p84"/>
          <p:cNvSpPr txBox="1"/>
          <p:nvPr/>
        </p:nvSpPr>
        <p:spPr>
          <a:xfrm>
            <a:off x="579750" y="1752900"/>
            <a:ext cx="7984500" cy="1637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Trace a single business transaction through an ERP system to understand how one action impacts multiple modules and data records.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 goal is to build precise system-thinking skills rather than abstract discussion.</a:t>
            </a:r>
            <a:endParaRPr sz="1900">
              <a:solidFill>
                <a:schemeClr val="lt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68" name="Shape 568"/>
        <p:cNvGrpSpPr/>
        <p:nvPr/>
      </p:nvGrpSpPr>
      <p:grpSpPr>
        <a:xfrm>
          <a:off x="0" y="0"/>
          <a:ext cx="0" cy="0"/>
          <a:chOff x="0" y="0"/>
          <a:chExt cx="0" cy="0"/>
        </a:xfrm>
      </p:grpSpPr>
      <p:sp>
        <p:nvSpPr>
          <p:cNvPr id="569" name="Google Shape;569;p85"/>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SCENARIO 0000</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ORDER-TO-CASH FLOW</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70" name="Google Shape;570;p85"/>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571" name="Google Shape;571;p85"/>
          <p:cNvSpPr txBox="1"/>
          <p:nvPr/>
        </p:nvSpPr>
        <p:spPr>
          <a:xfrm>
            <a:off x="579750" y="1752900"/>
            <a:ext cx="7984500" cy="1637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 customer places an order for 10 units of Product A at $100 per unit.</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Current inventory level is 15 units.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The company uses an ERP system with integrated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sales, inventory and finance modules.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75" name="Shape 575"/>
        <p:cNvGrpSpPr/>
        <p:nvPr/>
      </p:nvGrpSpPr>
      <p:grpSpPr>
        <a:xfrm>
          <a:off x="0" y="0"/>
          <a:ext cx="0" cy="0"/>
          <a:chOff x="0" y="0"/>
          <a:chExt cx="0" cy="0"/>
        </a:xfrm>
      </p:grpSpPr>
      <p:sp>
        <p:nvSpPr>
          <p:cNvPr id="576" name="Google Shape;576;p86"/>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SCENARIO 0000</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ORDER-TO-CASH FLOW</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77" name="Google Shape;577;p86"/>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578" name="Google Shape;578;p86"/>
          <p:cNvSpPr txBox="1"/>
          <p:nvPr/>
        </p:nvSpPr>
        <p:spPr>
          <a:xfrm>
            <a:off x="579750" y="1319900"/>
            <a:ext cx="7984500" cy="2646600"/>
          </a:xfrm>
          <a:prstGeom prst="rect">
            <a:avLst/>
          </a:prstGeom>
          <a:noFill/>
          <a:ln>
            <a:noFill/>
          </a:ln>
        </p:spPr>
        <p:txBody>
          <a:bodyPr anchorCtr="0" anchor="t" bIns="0" lIns="0" spcFirstLastPara="1" rIns="0" wrap="square" tIns="0">
            <a:spAutoFit/>
          </a:bodyPr>
          <a:lstStyle/>
          <a:p>
            <a:pPr indent="-349250" lvl="0" marL="1828800" rtl="0" algn="l">
              <a:lnSpc>
                <a:spcPct val="115000"/>
              </a:lnSpc>
              <a:spcBef>
                <a:spcPts val="0"/>
              </a:spcBef>
              <a:spcAft>
                <a:spcPts val="0"/>
              </a:spcAft>
              <a:buClr>
                <a:schemeClr val="lt1"/>
              </a:buClr>
              <a:buSzPts val="1900"/>
              <a:buAutoNum type="arabicPeriod"/>
            </a:pPr>
            <a:r>
              <a:rPr lang="en" sz="1900">
                <a:solidFill>
                  <a:schemeClr val="lt1"/>
                </a:solidFill>
              </a:rPr>
              <a:t>Which ERP modules are involved?</a:t>
            </a:r>
            <a:br>
              <a:rPr lang="en" sz="1900">
                <a:solidFill>
                  <a:schemeClr val="lt1"/>
                </a:solidFill>
              </a:rPr>
            </a:br>
            <a:endParaRPr sz="1900">
              <a:solidFill>
                <a:schemeClr val="lt1"/>
              </a:solidFill>
            </a:endParaRPr>
          </a:p>
          <a:p>
            <a:pPr indent="-349250" lvl="0" marL="1828800" rtl="0" algn="l">
              <a:lnSpc>
                <a:spcPct val="115000"/>
              </a:lnSpc>
              <a:spcBef>
                <a:spcPts val="0"/>
              </a:spcBef>
              <a:spcAft>
                <a:spcPts val="0"/>
              </a:spcAft>
              <a:buClr>
                <a:schemeClr val="lt1"/>
              </a:buClr>
              <a:buSzPts val="1900"/>
              <a:buAutoNum type="arabicPeriod"/>
            </a:pPr>
            <a:r>
              <a:rPr lang="en" sz="1900">
                <a:solidFill>
                  <a:schemeClr val="lt1"/>
                </a:solidFill>
              </a:rPr>
              <a:t>What happens to inventory quantity?</a:t>
            </a:r>
            <a:br>
              <a:rPr lang="en" sz="1900">
                <a:solidFill>
                  <a:schemeClr val="lt1"/>
                </a:solidFill>
              </a:rPr>
            </a:br>
            <a:endParaRPr sz="1900">
              <a:solidFill>
                <a:schemeClr val="lt1"/>
              </a:solidFill>
            </a:endParaRPr>
          </a:p>
          <a:p>
            <a:pPr indent="-349250" lvl="0" marL="1828800" rtl="0" algn="l">
              <a:lnSpc>
                <a:spcPct val="115000"/>
              </a:lnSpc>
              <a:spcBef>
                <a:spcPts val="0"/>
              </a:spcBef>
              <a:spcAft>
                <a:spcPts val="0"/>
              </a:spcAft>
              <a:buClr>
                <a:schemeClr val="lt1"/>
              </a:buClr>
              <a:buSzPts val="1900"/>
              <a:buAutoNum type="arabicPeriod"/>
            </a:pPr>
            <a:r>
              <a:rPr lang="en" sz="1900">
                <a:solidFill>
                  <a:schemeClr val="lt1"/>
                </a:solidFill>
              </a:rPr>
              <a:t>What accounting entries are created?</a:t>
            </a:r>
            <a:br>
              <a:rPr lang="en" sz="1900">
                <a:solidFill>
                  <a:schemeClr val="lt1"/>
                </a:solidFill>
              </a:rPr>
            </a:br>
            <a:endParaRPr sz="1900">
              <a:solidFill>
                <a:schemeClr val="lt1"/>
              </a:solidFill>
            </a:endParaRPr>
          </a:p>
          <a:p>
            <a:pPr indent="-349250" lvl="0" marL="1828800" rtl="0" algn="l">
              <a:lnSpc>
                <a:spcPct val="115000"/>
              </a:lnSpc>
              <a:spcBef>
                <a:spcPts val="0"/>
              </a:spcBef>
              <a:spcAft>
                <a:spcPts val="0"/>
              </a:spcAft>
              <a:buClr>
                <a:schemeClr val="lt1"/>
              </a:buClr>
              <a:buSzPts val="1900"/>
              <a:buAutoNum type="arabicPeriod"/>
            </a:pPr>
            <a:r>
              <a:rPr lang="en" sz="1900">
                <a:solidFill>
                  <a:schemeClr val="lt1"/>
                </a:solidFill>
              </a:rPr>
              <a:t>Whether procurement is triggered or not?</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82" name="Shape 582"/>
        <p:cNvGrpSpPr/>
        <p:nvPr/>
      </p:nvGrpSpPr>
      <p:grpSpPr>
        <a:xfrm>
          <a:off x="0" y="0"/>
          <a:ext cx="0" cy="0"/>
          <a:chOff x="0" y="0"/>
          <a:chExt cx="0" cy="0"/>
        </a:xfrm>
      </p:grpSpPr>
      <p:sp>
        <p:nvSpPr>
          <p:cNvPr id="583" name="Google Shape;583;p87"/>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SCENARIO 0000</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ORDER-TO-CASH FLOW</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84" name="Google Shape;584;p87"/>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585" name="Google Shape;585;p87"/>
          <p:cNvSpPr txBox="1"/>
          <p:nvPr/>
        </p:nvSpPr>
        <p:spPr>
          <a:xfrm>
            <a:off x="579750" y="1319900"/>
            <a:ext cx="7984500" cy="2982900"/>
          </a:xfrm>
          <a:prstGeom prst="rect">
            <a:avLst/>
          </a:prstGeom>
          <a:noFill/>
          <a:ln>
            <a:noFill/>
          </a:ln>
        </p:spPr>
        <p:txBody>
          <a:bodyPr anchorCtr="0" anchor="t" bIns="0" lIns="0" spcFirstLastPara="1" rIns="0" wrap="square" tIns="0">
            <a:spAutoFit/>
          </a:bodyPr>
          <a:lstStyle/>
          <a:p>
            <a:pPr indent="-349250" lvl="0" marL="457200" rtl="0" algn="l">
              <a:lnSpc>
                <a:spcPct val="115000"/>
              </a:lnSpc>
              <a:spcBef>
                <a:spcPts val="0"/>
              </a:spcBef>
              <a:spcAft>
                <a:spcPts val="0"/>
              </a:spcAft>
              <a:buClr>
                <a:schemeClr val="lt1"/>
              </a:buClr>
              <a:buSzPts val="1900"/>
              <a:buAutoNum type="arabicPeriod"/>
            </a:pPr>
            <a:r>
              <a:rPr lang="en" sz="1900">
                <a:solidFill>
                  <a:schemeClr val="lt1"/>
                </a:solidFill>
              </a:rPr>
              <a:t>Modules involved: sales, inventory and finance</a:t>
            </a:r>
            <a:br>
              <a:rPr lang="en" sz="1900">
                <a:solidFill>
                  <a:schemeClr val="lt1"/>
                </a:solidFill>
              </a:rPr>
            </a:br>
            <a:endParaRPr sz="1900">
              <a:solidFill>
                <a:schemeClr val="lt1"/>
              </a:solidFill>
            </a:endParaRPr>
          </a:p>
          <a:p>
            <a:pPr indent="-349250" lvl="0" marL="457200" rtl="0" algn="l">
              <a:lnSpc>
                <a:spcPct val="115000"/>
              </a:lnSpc>
              <a:spcBef>
                <a:spcPts val="0"/>
              </a:spcBef>
              <a:spcAft>
                <a:spcPts val="0"/>
              </a:spcAft>
              <a:buClr>
                <a:schemeClr val="lt1"/>
              </a:buClr>
              <a:buSzPts val="1900"/>
              <a:buAutoNum type="arabicPeriod"/>
            </a:pPr>
            <a:r>
              <a:rPr lang="en" sz="1900">
                <a:solidFill>
                  <a:schemeClr val="lt1"/>
                </a:solidFill>
              </a:rPr>
              <a:t>Inventory update: Stock decreases from 15 to 5 units</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a:p>
            <a:pPr indent="-349250" lvl="0" marL="457200" rtl="0" algn="l">
              <a:lnSpc>
                <a:spcPct val="115000"/>
              </a:lnSpc>
              <a:spcBef>
                <a:spcPts val="0"/>
              </a:spcBef>
              <a:spcAft>
                <a:spcPts val="0"/>
              </a:spcAft>
              <a:buClr>
                <a:schemeClr val="lt1"/>
              </a:buClr>
              <a:buSzPts val="1900"/>
              <a:buAutoNum type="arabicPeriod"/>
            </a:pPr>
            <a:r>
              <a:rPr lang="en" sz="1900">
                <a:solidFill>
                  <a:schemeClr val="lt1"/>
                </a:solidFill>
              </a:rPr>
              <a:t>Accounting entry: Revenue of $1,000 recorded; accounts receivable created.</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a:p>
            <a:pPr indent="-349250" lvl="0" marL="457200" rtl="0" algn="l">
              <a:lnSpc>
                <a:spcPct val="115000"/>
              </a:lnSpc>
              <a:spcBef>
                <a:spcPts val="0"/>
              </a:spcBef>
              <a:spcAft>
                <a:spcPts val="0"/>
              </a:spcAft>
              <a:buClr>
                <a:schemeClr val="lt1"/>
              </a:buClr>
              <a:buSzPts val="1900"/>
              <a:buAutoNum type="arabicPeriod"/>
            </a:pPr>
            <a:r>
              <a:rPr lang="en" sz="1900">
                <a:solidFill>
                  <a:schemeClr val="lt1"/>
                </a:solidFill>
              </a:rPr>
              <a:t>Procurement: Not triggered (sufficient inventory available)</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89" name="Shape 589"/>
        <p:cNvGrpSpPr/>
        <p:nvPr/>
      </p:nvGrpSpPr>
      <p:grpSpPr>
        <a:xfrm>
          <a:off x="0" y="0"/>
          <a:ext cx="0" cy="0"/>
          <a:chOff x="0" y="0"/>
          <a:chExt cx="0" cy="0"/>
        </a:xfrm>
      </p:grpSpPr>
      <p:sp>
        <p:nvSpPr>
          <p:cNvPr id="590" name="Google Shape;590;p88"/>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STEP-BY-STEP VALIDATION</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RECAP</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91" name="Google Shape;591;p88"/>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592" name="Google Shape;592;p88"/>
          <p:cNvSpPr txBox="1"/>
          <p:nvPr/>
        </p:nvSpPr>
        <p:spPr>
          <a:xfrm>
            <a:off x="579750" y="1584750"/>
            <a:ext cx="7984500" cy="19740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Order: 10 units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Price: $100/unit</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Inventory available: 15 units</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596" name="Shape 596"/>
        <p:cNvGrpSpPr/>
        <p:nvPr/>
      </p:nvGrpSpPr>
      <p:grpSpPr>
        <a:xfrm>
          <a:off x="0" y="0"/>
          <a:ext cx="0" cy="0"/>
          <a:chOff x="0" y="0"/>
          <a:chExt cx="0" cy="0"/>
        </a:xfrm>
      </p:grpSpPr>
      <p:sp>
        <p:nvSpPr>
          <p:cNvPr id="597" name="Google Shape;597;p89"/>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STEP-BY-STEP VALIDATION</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ERP MODULES INVOLVED</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598" name="Google Shape;598;p89"/>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599" name="Google Shape;599;p89"/>
          <p:cNvSpPr txBox="1"/>
          <p:nvPr/>
        </p:nvSpPr>
        <p:spPr>
          <a:xfrm>
            <a:off x="579750" y="1584750"/>
            <a:ext cx="7984500" cy="19740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Sales → order creation</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Inventory / Materials Management → stock check &amp; reservation</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Finance / Accounting → financial postings</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603" name="Shape 603"/>
        <p:cNvGrpSpPr/>
        <p:nvPr/>
      </p:nvGrpSpPr>
      <p:grpSpPr>
        <a:xfrm>
          <a:off x="0" y="0"/>
          <a:ext cx="0" cy="0"/>
          <a:chOff x="0" y="0"/>
          <a:chExt cx="0" cy="0"/>
        </a:xfrm>
      </p:grpSpPr>
      <p:sp>
        <p:nvSpPr>
          <p:cNvPr id="604" name="Google Shape;604;p90"/>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STEP-BY-STEP VALIDATION</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INVENTORY UPDATE</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605" name="Google Shape;605;p90"/>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606" name="Google Shape;606;p90"/>
          <p:cNvSpPr txBox="1"/>
          <p:nvPr/>
        </p:nvSpPr>
        <p:spPr>
          <a:xfrm>
            <a:off x="579750" y="1416600"/>
            <a:ext cx="7984500" cy="2310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Two possible stages:</a:t>
            </a:r>
            <a:endParaRPr sz="1900">
              <a:solidFill>
                <a:schemeClr val="lt1"/>
              </a:solidFill>
            </a:endParaRPr>
          </a:p>
          <a:p>
            <a:pPr indent="-349250" lvl="0" marL="1371600" rtl="0" algn="l">
              <a:lnSpc>
                <a:spcPct val="115000"/>
              </a:lnSpc>
              <a:spcBef>
                <a:spcPts val="0"/>
              </a:spcBef>
              <a:spcAft>
                <a:spcPts val="0"/>
              </a:spcAft>
              <a:buClr>
                <a:schemeClr val="lt1"/>
              </a:buClr>
              <a:buSzPts val="1900"/>
              <a:buAutoNum type="arabicParenBoth"/>
            </a:pPr>
            <a:r>
              <a:rPr lang="en" sz="1900">
                <a:solidFill>
                  <a:schemeClr val="lt1"/>
                </a:solidFill>
              </a:rPr>
              <a:t>At sales order creation → inventory is reserved</a:t>
            </a:r>
            <a:endParaRPr sz="1900">
              <a:solidFill>
                <a:schemeClr val="lt1"/>
              </a:solidFill>
            </a:endParaRPr>
          </a:p>
          <a:p>
            <a:pPr indent="-349250" lvl="0" marL="1371600" rtl="0" algn="l">
              <a:lnSpc>
                <a:spcPct val="115000"/>
              </a:lnSpc>
              <a:spcBef>
                <a:spcPts val="0"/>
              </a:spcBef>
              <a:spcAft>
                <a:spcPts val="0"/>
              </a:spcAft>
              <a:buClr>
                <a:schemeClr val="lt1"/>
              </a:buClr>
              <a:buSzPts val="1900"/>
              <a:buAutoNum type="arabicParenBoth"/>
            </a:pPr>
            <a:r>
              <a:rPr lang="en" sz="1900">
                <a:solidFill>
                  <a:schemeClr val="lt1"/>
                </a:solidFill>
              </a:rPr>
              <a:t>At goods issue / shipment → inventory is physically reduced</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rPr lang="en" sz="1900">
                <a:solidFill>
                  <a:schemeClr val="lt1"/>
                </a:solidFill>
              </a:rPr>
              <a:t>Final result after shipment:	Inventory goes from 15 → 5 units</a:t>
            </a:r>
            <a:endParaRPr sz="1900">
              <a:solidFill>
                <a:schemeClr val="lt1"/>
              </a:solidFill>
            </a:endParaRPr>
          </a:p>
          <a:p>
            <a:pPr indent="0" lvl="0" marL="0" rtl="0" algn="l">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That’s standard ERP behavior</a:t>
            </a:r>
            <a:endParaRPr sz="1900">
              <a:solidFill>
                <a:schemeClr val="lt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610" name="Shape 610"/>
        <p:cNvGrpSpPr/>
        <p:nvPr/>
      </p:nvGrpSpPr>
      <p:grpSpPr>
        <a:xfrm>
          <a:off x="0" y="0"/>
          <a:ext cx="0" cy="0"/>
          <a:chOff x="0" y="0"/>
          <a:chExt cx="0" cy="0"/>
        </a:xfrm>
      </p:grpSpPr>
      <p:sp>
        <p:nvSpPr>
          <p:cNvPr id="611" name="Google Shape;611;p91"/>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STEP-BY-STEP VALIDATION</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ACCOUNTING ENTRY</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612" name="Google Shape;612;p91"/>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613" name="Google Shape;613;p91"/>
          <p:cNvSpPr txBox="1"/>
          <p:nvPr/>
        </p:nvSpPr>
        <p:spPr>
          <a:xfrm>
            <a:off x="579750" y="1508450"/>
            <a:ext cx="7984500" cy="19740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At goods issue → Cost of Goods Sold (COGS) posted</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At invoice creation → Revenue = $1,000</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Accounts Receivable = $1,000</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617" name="Shape 617"/>
        <p:cNvGrpSpPr/>
        <p:nvPr/>
      </p:nvGrpSpPr>
      <p:grpSpPr>
        <a:xfrm>
          <a:off x="0" y="0"/>
          <a:ext cx="0" cy="0"/>
          <a:chOff x="0" y="0"/>
          <a:chExt cx="0" cy="0"/>
        </a:xfrm>
      </p:grpSpPr>
      <p:sp>
        <p:nvSpPr>
          <p:cNvPr id="618" name="Google Shape;618;p92"/>
          <p:cNvSpPr txBox="1"/>
          <p:nvPr/>
        </p:nvSpPr>
        <p:spPr>
          <a:xfrm>
            <a:off x="441450" y="279475"/>
            <a:ext cx="8261100" cy="1139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STEP-BY-STEP VALIDATION</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PROCUREMENT TRIGGER</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p:txBody>
      </p:sp>
      <p:cxnSp>
        <p:nvCxnSpPr>
          <p:cNvPr id="619" name="Google Shape;619;p92"/>
          <p:cNvCxnSpPr/>
          <p:nvPr/>
        </p:nvCxnSpPr>
        <p:spPr>
          <a:xfrm>
            <a:off x="3097050" y="916000"/>
            <a:ext cx="2949900" cy="0"/>
          </a:xfrm>
          <a:prstGeom prst="straightConnector1">
            <a:avLst/>
          </a:prstGeom>
          <a:noFill/>
          <a:ln cap="flat" cmpd="sng" w="76200">
            <a:solidFill>
              <a:schemeClr val="lt1"/>
            </a:solidFill>
            <a:prstDash val="solid"/>
            <a:round/>
            <a:headEnd len="med" w="med" type="none"/>
            <a:tailEnd len="med" w="med" type="none"/>
          </a:ln>
        </p:spPr>
      </p:cxnSp>
      <p:sp>
        <p:nvSpPr>
          <p:cNvPr id="620" name="Google Shape;620;p92"/>
          <p:cNvSpPr txBox="1"/>
          <p:nvPr/>
        </p:nvSpPr>
        <p:spPr>
          <a:xfrm>
            <a:off x="579750" y="1508450"/>
            <a:ext cx="7984500" cy="1637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Inventory remaining after order: 5 units</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Since stock ≥ 0 and no reorder rule mentioned → no procurement triggered</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t/>
            </a:r>
            <a:endParaRPr sz="1900">
              <a:solidFill>
                <a:schemeClr val="lt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35000">
              <a:srgbClr val="003863"/>
            </a:gs>
            <a:gs pos="78000">
              <a:srgbClr val="0E1C27"/>
            </a:gs>
            <a:gs pos="100000">
              <a:schemeClr val="dk2"/>
            </a:gs>
          </a:gsLst>
          <a:lin ang="5400012" scaled="0"/>
        </a:gradFill>
      </p:bgPr>
    </p:bg>
    <p:spTree>
      <p:nvGrpSpPr>
        <p:cNvPr id="624" name="Shape 624"/>
        <p:cNvGrpSpPr/>
        <p:nvPr/>
      </p:nvGrpSpPr>
      <p:grpSpPr>
        <a:xfrm>
          <a:off x="0" y="0"/>
          <a:ext cx="0" cy="0"/>
          <a:chOff x="0" y="0"/>
          <a:chExt cx="0" cy="0"/>
        </a:xfrm>
      </p:grpSpPr>
      <p:sp>
        <p:nvSpPr>
          <p:cNvPr id="625" name="Google Shape;625;p93"/>
          <p:cNvSpPr txBox="1"/>
          <p:nvPr/>
        </p:nvSpPr>
        <p:spPr>
          <a:xfrm>
            <a:off x="441450" y="279475"/>
            <a:ext cx="8261100" cy="31569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100"/>
              <a:buNone/>
            </a:pPr>
            <a:r>
              <a:rPr b="1" lang="en" sz="2400">
                <a:solidFill>
                  <a:schemeClr val="lt1"/>
                </a:solidFill>
                <a:latin typeface="Montserrat"/>
                <a:ea typeface="Montserrat"/>
                <a:cs typeface="Montserrat"/>
                <a:sym typeface="Montserrat"/>
              </a:rPr>
              <a:t>NEXT WEEK PREVIEW</a:t>
            </a:r>
            <a:br>
              <a:rPr b="1" lang="en" sz="2700">
                <a:solidFill>
                  <a:schemeClr val="lt1"/>
                </a:solidFill>
                <a:latin typeface="Montserrat"/>
                <a:ea typeface="Montserrat"/>
                <a:cs typeface="Montserrat"/>
                <a:sym typeface="Montserrat"/>
              </a:rPr>
            </a:br>
            <a:r>
              <a:rPr b="1" lang="en" sz="1200">
                <a:solidFill>
                  <a:schemeClr val="lt1"/>
                </a:solidFill>
                <a:latin typeface="Montserrat"/>
                <a:ea typeface="Montserrat"/>
                <a:cs typeface="Montserrat"/>
                <a:sym typeface="Montserrat"/>
              </a:rPr>
              <a:t>WHAT’S COMING</a:t>
            </a:r>
            <a:endParaRPr b="1" sz="1200">
              <a:solidFill>
                <a:schemeClr val="lt1"/>
              </a:solidFill>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sz="1900">
              <a:solidFill>
                <a:schemeClr val="lt1"/>
              </a:solidFill>
            </a:endParaRPr>
          </a:p>
          <a:p>
            <a:pPr indent="457200" lvl="0" marL="0" rtl="0" algn="ctr">
              <a:lnSpc>
                <a:spcPct val="115000"/>
              </a:lnSpc>
              <a:spcBef>
                <a:spcPts val="0"/>
              </a:spcBef>
              <a:spcAft>
                <a:spcPts val="0"/>
              </a:spcAft>
              <a:buNone/>
            </a:pPr>
            <a:r>
              <a:t/>
            </a:r>
            <a:endParaRPr sz="1900">
              <a:solidFill>
                <a:schemeClr val="lt1"/>
              </a:solidFill>
            </a:endParaRPr>
          </a:p>
          <a:p>
            <a:pPr indent="457200" lvl="0" marL="0" rtl="0" algn="ctr">
              <a:lnSpc>
                <a:spcPct val="115000"/>
              </a:lnSpc>
              <a:spcBef>
                <a:spcPts val="0"/>
              </a:spcBef>
              <a:spcAft>
                <a:spcPts val="0"/>
              </a:spcAft>
              <a:buNone/>
            </a:pPr>
            <a:r>
              <a:t/>
            </a:r>
            <a:endParaRPr sz="1900">
              <a:solidFill>
                <a:schemeClr val="lt1"/>
              </a:solidFill>
            </a:endParaRPr>
          </a:p>
          <a:p>
            <a:pPr indent="0" lvl="0" marL="0" rtl="0" algn="l">
              <a:lnSpc>
                <a:spcPct val="115000"/>
              </a:lnSpc>
              <a:spcBef>
                <a:spcPts val="0"/>
              </a:spcBef>
              <a:spcAft>
                <a:spcPts val="0"/>
              </a:spcAft>
              <a:buNone/>
            </a:pPr>
            <a:r>
              <a:t/>
            </a:r>
            <a:endParaRPr sz="1900">
              <a:solidFill>
                <a:schemeClr val="lt1"/>
              </a:solidFill>
            </a:endParaRPr>
          </a:p>
          <a:p>
            <a:pPr indent="0" lvl="0" marL="0" rtl="0" algn="ctr">
              <a:lnSpc>
                <a:spcPct val="115000"/>
              </a:lnSpc>
              <a:spcBef>
                <a:spcPts val="0"/>
              </a:spcBef>
              <a:spcAft>
                <a:spcPts val="0"/>
              </a:spcAft>
              <a:buClr>
                <a:schemeClr val="hlink"/>
              </a:buClr>
              <a:buSzPts val="1100"/>
              <a:buFont typeface="Arial"/>
              <a:buNone/>
            </a:pPr>
            <a:r>
              <a:rPr lang="en" sz="1900">
                <a:solidFill>
                  <a:schemeClr val="lt1"/>
                </a:solidFill>
              </a:rPr>
              <a:t>Customer Relationship Management (CRM) systems</a:t>
            </a:r>
            <a:endParaRPr sz="1900">
              <a:solidFill>
                <a:schemeClr val="lt1"/>
              </a:solidFill>
            </a:endParaRPr>
          </a:p>
          <a:p>
            <a:pPr indent="0" lvl="0" marL="0" rtl="0" algn="ctr">
              <a:lnSpc>
                <a:spcPct val="115000"/>
              </a:lnSpc>
              <a:spcBef>
                <a:spcPts val="0"/>
              </a:spcBef>
              <a:spcAft>
                <a:spcPts val="0"/>
              </a:spcAft>
              <a:buNone/>
            </a:pPr>
            <a:r>
              <a:t/>
            </a:r>
            <a:endParaRPr sz="1900">
              <a:solidFill>
                <a:schemeClr val="lt1"/>
              </a:solidFill>
            </a:endParaRPr>
          </a:p>
          <a:p>
            <a:pPr indent="457200" lvl="0" marL="0" rtl="0" algn="ctr">
              <a:lnSpc>
                <a:spcPct val="115000"/>
              </a:lnSpc>
              <a:spcBef>
                <a:spcPts val="0"/>
              </a:spcBef>
              <a:spcAft>
                <a:spcPts val="0"/>
              </a:spcAft>
              <a:buNone/>
            </a:pPr>
            <a:r>
              <a:t/>
            </a:r>
            <a:endParaRPr sz="1900">
              <a:solidFill>
                <a:schemeClr val="lt1"/>
              </a:solidFill>
            </a:endParaRPr>
          </a:p>
          <a:p>
            <a:pPr indent="457200" lvl="0" marL="0" rtl="0" algn="ctr">
              <a:lnSpc>
                <a:spcPct val="115000"/>
              </a:lnSpc>
              <a:spcBef>
                <a:spcPts val="0"/>
              </a:spcBef>
              <a:spcAft>
                <a:spcPts val="0"/>
              </a:spcAft>
              <a:buNone/>
            </a:pPr>
            <a:r>
              <a:t/>
            </a:r>
            <a:endParaRPr sz="1900">
              <a:solidFill>
                <a:schemeClr val="lt1"/>
              </a:solidFill>
            </a:endParaRPr>
          </a:p>
        </p:txBody>
      </p:sp>
      <p:cxnSp>
        <p:nvCxnSpPr>
          <p:cNvPr id="626" name="Google Shape;626;p93"/>
          <p:cNvCxnSpPr/>
          <p:nvPr/>
        </p:nvCxnSpPr>
        <p:spPr>
          <a:xfrm>
            <a:off x="3097050" y="1072800"/>
            <a:ext cx="2949900" cy="0"/>
          </a:xfrm>
          <a:prstGeom prst="straightConnector1">
            <a:avLst/>
          </a:prstGeom>
          <a:noFill/>
          <a:ln cap="flat" cmpd="sng" w="76200">
            <a:solidFill>
              <a:schemeClr val="lt1"/>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