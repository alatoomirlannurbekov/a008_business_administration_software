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4"/>
    <p:sldMasterId id="214748369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y="5143500" cx="9144000"/>
  <p:notesSz cx="6858000" cy="9144000"/>
  <p:embeddedFontLst>
    <p:embeddedFont>
      <p:font typeface="DM Sans Medium"/>
      <p:regular r:id="rId48"/>
      <p:bold r:id="rId49"/>
      <p:italic r:id="rId50"/>
      <p:boldItalic r:id="rId51"/>
    </p:embeddedFont>
    <p:embeddedFont>
      <p:font typeface="Caveat"/>
      <p:regular r:id="rId52"/>
      <p:bold r:id="rId53"/>
    </p:embeddedFont>
    <p:embeddedFont>
      <p:font typeface="Montserrat"/>
      <p:regular r:id="rId54"/>
      <p:bold r:id="rId55"/>
      <p:italic r:id="rId56"/>
      <p:boldItalic r:id="rId57"/>
    </p:embeddedFont>
    <p:embeddedFont>
      <p:font typeface="Merriweather"/>
      <p:regular r:id="rId58"/>
      <p:bold r:id="rId59"/>
      <p:italic r:id="rId60"/>
      <p:boldItalic r:id="rId61"/>
    </p:embeddedFont>
    <p:embeddedFont>
      <p:font typeface="DM Sans"/>
      <p:regular r:id="rId62"/>
      <p:bold r:id="rId63"/>
      <p:italic r:id="rId64"/>
      <p:boldItalic r:id="rId65"/>
    </p:embeddedFont>
    <p:embeddedFont>
      <p:font typeface="Open Sans Light"/>
      <p:regular r:id="rId66"/>
      <p:bold r:id="rId67"/>
      <p:italic r:id="rId68"/>
      <p:boldItalic r:id="rId69"/>
    </p:embeddedFont>
    <p:embeddedFont>
      <p:font typeface="Open Sans"/>
      <p:regular r:id="rId70"/>
      <p:bold r:id="rId71"/>
      <p:italic r:id="rId72"/>
      <p:boldItalic r:id="rId7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DMSansMedium-regular.fntdata"/><Relationship Id="rId47" Type="http://schemas.openxmlformats.org/officeDocument/2006/relationships/slide" Target="slides/slide41.xml"/><Relationship Id="rId49" Type="http://schemas.openxmlformats.org/officeDocument/2006/relationships/font" Target="fonts/DMSansMedium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OpenSans-boldItalic.fntdata"/><Relationship Id="rId72" Type="http://schemas.openxmlformats.org/officeDocument/2006/relationships/font" Target="fonts/OpenSans-italic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OpenSans-bold.fntdata"/><Relationship Id="rId70" Type="http://schemas.openxmlformats.org/officeDocument/2006/relationships/font" Target="fonts/OpenSans-regular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DMSans-regular.fntdata"/><Relationship Id="rId61" Type="http://schemas.openxmlformats.org/officeDocument/2006/relationships/font" Target="fonts/Merriweather-boldItalic.fntdata"/><Relationship Id="rId20" Type="http://schemas.openxmlformats.org/officeDocument/2006/relationships/slide" Target="slides/slide14.xml"/><Relationship Id="rId64" Type="http://schemas.openxmlformats.org/officeDocument/2006/relationships/font" Target="fonts/DMSans-italic.fntdata"/><Relationship Id="rId63" Type="http://schemas.openxmlformats.org/officeDocument/2006/relationships/font" Target="fonts/DMSans-bold.fntdata"/><Relationship Id="rId22" Type="http://schemas.openxmlformats.org/officeDocument/2006/relationships/slide" Target="slides/slide16.xml"/><Relationship Id="rId66" Type="http://schemas.openxmlformats.org/officeDocument/2006/relationships/font" Target="fonts/OpenSansLight-regular.fntdata"/><Relationship Id="rId21" Type="http://schemas.openxmlformats.org/officeDocument/2006/relationships/slide" Target="slides/slide15.xml"/><Relationship Id="rId65" Type="http://schemas.openxmlformats.org/officeDocument/2006/relationships/font" Target="fonts/DMSans-boldItalic.fntdata"/><Relationship Id="rId24" Type="http://schemas.openxmlformats.org/officeDocument/2006/relationships/slide" Target="slides/slide18.xml"/><Relationship Id="rId68" Type="http://schemas.openxmlformats.org/officeDocument/2006/relationships/font" Target="fonts/OpenSansLight-italic.fntdata"/><Relationship Id="rId23" Type="http://schemas.openxmlformats.org/officeDocument/2006/relationships/slide" Target="slides/slide17.xml"/><Relationship Id="rId67" Type="http://schemas.openxmlformats.org/officeDocument/2006/relationships/font" Target="fonts/OpenSansLight-bold.fntdata"/><Relationship Id="rId60" Type="http://schemas.openxmlformats.org/officeDocument/2006/relationships/font" Target="fonts/Merriweather-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OpenSansLight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DMSansMedium-boldItalic.fntdata"/><Relationship Id="rId50" Type="http://schemas.openxmlformats.org/officeDocument/2006/relationships/font" Target="fonts/DMSansMedium-italic.fntdata"/><Relationship Id="rId53" Type="http://schemas.openxmlformats.org/officeDocument/2006/relationships/font" Target="fonts/Caveat-bold.fntdata"/><Relationship Id="rId52" Type="http://schemas.openxmlformats.org/officeDocument/2006/relationships/font" Target="fonts/Caveat-regular.fntdata"/><Relationship Id="rId11" Type="http://schemas.openxmlformats.org/officeDocument/2006/relationships/slide" Target="slides/slide5.xml"/><Relationship Id="rId55" Type="http://schemas.openxmlformats.org/officeDocument/2006/relationships/font" Target="fonts/Montserrat-bold.fntdata"/><Relationship Id="rId10" Type="http://schemas.openxmlformats.org/officeDocument/2006/relationships/slide" Target="slides/slide4.xml"/><Relationship Id="rId54" Type="http://schemas.openxmlformats.org/officeDocument/2006/relationships/font" Target="fonts/Montserrat-regular.fntdata"/><Relationship Id="rId13" Type="http://schemas.openxmlformats.org/officeDocument/2006/relationships/slide" Target="slides/slide7.xml"/><Relationship Id="rId57" Type="http://schemas.openxmlformats.org/officeDocument/2006/relationships/font" Target="fonts/Montserrat-boldItalic.fntdata"/><Relationship Id="rId12" Type="http://schemas.openxmlformats.org/officeDocument/2006/relationships/slide" Target="slides/slide6.xml"/><Relationship Id="rId56" Type="http://schemas.openxmlformats.org/officeDocument/2006/relationships/font" Target="fonts/Montserrat-italic.fntdata"/><Relationship Id="rId15" Type="http://schemas.openxmlformats.org/officeDocument/2006/relationships/slide" Target="slides/slide9.xml"/><Relationship Id="rId59" Type="http://schemas.openxmlformats.org/officeDocument/2006/relationships/font" Target="fonts/Merriweather-bold.fntdata"/><Relationship Id="rId14" Type="http://schemas.openxmlformats.org/officeDocument/2006/relationships/slide" Target="slides/slide8.xml"/><Relationship Id="rId58" Type="http://schemas.openxmlformats.org/officeDocument/2006/relationships/font" Target="fonts/Merriweather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b9476a149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b9476a149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be11693f5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be11693f55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c6d352fc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c6d352fc0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ccbdd5cf0b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ccbdd5cf0b_0_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ccbdd5cf0b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ccbdd5cf0b_0_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ccbdd5cf0b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ccbdd5cf0b_0_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ccbdd5cf0b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3ccbdd5cf0b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ccbdd5cf0b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ccbdd5cf0b_0_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ccbdd5cf0b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ccbdd5cf0b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ccbdd5cf0b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ccbdd5cf0b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ccbdd5cf0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ccbdd5cf0b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ccbdd5cf0b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3ccbdd5cf0b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ccbdd5cf0b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3ccbdd5cf0b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ccbdd5cf0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g3ccbdd5cf0b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ccbdd5cf0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3ccbdd5cf0b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ccbdd5cf0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3ccbdd5cf0b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ccbdd5cf0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3ccbdd5cf0b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86d2f5560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386d2f55609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ccbdd5cf0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g3ccbdd5cf0b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ccbdd5cf0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ccbdd5cf0b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ccbdd5cf0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g3ccbdd5cf0b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ccbdd5cf0b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g3ccbdd5cf0b_0_1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ccbdd5cf0b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3ccbdd5cf0b_0_1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ccbdd5cf0b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g3ccbdd5cf0b_0_1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ccbdd5cf0b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g3ccbdd5cf0b_0_1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ccbdd5cf0b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g3ccbdd5cf0b_0_1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ccbdd5cf0b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g3ccbdd5cf0b_0_1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ccbdd5cf0b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g3ccbdd5cf0b_0_1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ccbdd5cf0b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g3ccbdd5cf0b_0_1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ccbdd5cf0b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g3ccbdd5cf0b_0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ccbdd5cf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g3ccbdd5cf0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ccbdd5cf0b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g3ccbdd5cf0b_0_1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ccbdd5cf0b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g3ccbdd5cf0b_0_1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ccbdd5cf0b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g3ccbdd5cf0b_0_1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ccbdd5cf0b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g3ccbdd5cf0b_0_1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ccbdd5cf0b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g3ccbdd5cf0b_0_1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ccbdd5cf0b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g3ccbdd5cf0b_0_1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ccbdd5cf0b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g3ccbdd5cf0b_0_2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ccbdd5cf0b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g3ccbdd5cf0b_0_2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ccbdd5cf0b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g3ccbdd5cf0b_0_1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be11693f55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g3be11693f55_0_4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" name="Google Shape;99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" name="Google Shape;100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" name="Google Shape;101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" name="Google Shape;102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" name="Google Shape;103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7" name="Google Shape;107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5" name="Google Shape;115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" name="Google Shape;122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" name="Google Shape;123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" name="Google Shape;124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2" name="Google Shape;132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" name="Google Shape;133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4" name="Google Shape;134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5" name="Google Shape;135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" name="Google Shape;142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" name="Google Shape;148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9" name="Google Shape;159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73" name="Google Shape;173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slide" type="title">
  <p:cSld name="TITLE">
    <p:bg>
      <p:bgPr>
        <a:solidFill>
          <a:schemeClr val="dk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/>
          <p:nvPr>
            <p:ph idx="1" type="body"/>
          </p:nvPr>
        </p:nvSpPr>
        <p:spPr>
          <a:xfrm>
            <a:off x="196951" y="4737750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8" name="Google Shape;178;p35"/>
          <p:cNvSpPr txBox="1"/>
          <p:nvPr>
            <p:ph type="ctrTitle"/>
          </p:nvPr>
        </p:nvSpPr>
        <p:spPr>
          <a:xfrm>
            <a:off x="196950" y="223825"/>
            <a:ext cx="8011800" cy="18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0"/>
              <a:buNone/>
              <a:defRPr sz="675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9" name="Google Shape;179;p35"/>
          <p:cNvSpPr txBox="1"/>
          <p:nvPr>
            <p:ph idx="2" type="subTitle"/>
          </p:nvPr>
        </p:nvSpPr>
        <p:spPr>
          <a:xfrm>
            <a:off x="196950" y="2171250"/>
            <a:ext cx="3986700" cy="5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DM Sans Medium"/>
              <a:buNone/>
              <a:defRPr sz="185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0" name="Google Shape;180;p35"/>
          <p:cNvSpPr/>
          <p:nvPr>
            <p:ph idx="3" type="pic"/>
          </p:nvPr>
        </p:nvSpPr>
        <p:spPr>
          <a:xfrm>
            <a:off x="4437578" y="2171250"/>
            <a:ext cx="4509600" cy="27756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81" name="Google Shape;181;p35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number" type="secHead">
  <p:cSld name="SECTION_HEADER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6"/>
          <p:cNvSpPr txBox="1"/>
          <p:nvPr>
            <p:ph type="title"/>
          </p:nvPr>
        </p:nvSpPr>
        <p:spPr>
          <a:xfrm>
            <a:off x="511953" y="5885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4" name="Google Shape;184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36"/>
          <p:cNvSpPr txBox="1"/>
          <p:nvPr>
            <p:ph idx="2" type="title"/>
          </p:nvPr>
        </p:nvSpPr>
        <p:spPr>
          <a:xfrm>
            <a:off x="511953" y="14303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6" name="Google Shape;186;p36"/>
          <p:cNvSpPr txBox="1"/>
          <p:nvPr>
            <p:ph idx="3" type="title"/>
          </p:nvPr>
        </p:nvSpPr>
        <p:spPr>
          <a:xfrm>
            <a:off x="511953" y="22721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7" name="Google Shape;187;p36"/>
          <p:cNvSpPr txBox="1"/>
          <p:nvPr>
            <p:ph idx="4" type="title"/>
          </p:nvPr>
        </p:nvSpPr>
        <p:spPr>
          <a:xfrm>
            <a:off x="511953" y="31139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8" name="Google Shape;188;p36"/>
          <p:cNvSpPr txBox="1"/>
          <p:nvPr>
            <p:ph idx="5" type="title"/>
          </p:nvPr>
        </p:nvSpPr>
        <p:spPr>
          <a:xfrm>
            <a:off x="511953" y="39557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9" name="Google Shape;189;p36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36"/>
          <p:cNvSpPr txBox="1"/>
          <p:nvPr>
            <p:ph idx="6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 type="tx">
  <p:cSld name="TITLE_AND_BODY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37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94" name="Google Shape;194;p37"/>
          <p:cNvSpPr txBox="1"/>
          <p:nvPr>
            <p:ph idx="2" type="body"/>
          </p:nvPr>
        </p:nvSpPr>
        <p:spPr>
          <a:xfrm>
            <a:off x="196951" y="196725"/>
            <a:ext cx="18591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37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TITLE_AND_BODY_1">
    <p:bg>
      <p:bgPr>
        <a:solidFill>
          <a:schemeClr val="dk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8" name="Google Shape;198;p38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99" name="Google Shape;199;p38"/>
          <p:cNvSpPr txBox="1"/>
          <p:nvPr>
            <p:ph idx="2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0" name="Google Shape;200;p38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1" type="twoColTx">
  <p:cSld name="TITLE_AND_TWO_COLUMNS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9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203" name="Google Shape;203;p39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4" name="Google Shape;204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39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06" name="Google Shape;206;p39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7" name="Google Shape;207;p39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2">
  <p:cSld name="TITLE_AND_TWO_COLUMNS_1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0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40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1" name="Google Shape;211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40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13" name="Google Shape;213;p40"/>
          <p:cNvSpPr txBox="1"/>
          <p:nvPr>
            <p:ph idx="3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4" name="Google Shape;214;p40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5" name="Google Shape;215;p40"/>
          <p:cNvSpPr txBox="1"/>
          <p:nvPr>
            <p:ph idx="5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chart">
  <p:cSld name="SECTION_TITLE_AND_DESCRIPTION">
    <p:bg>
      <p:bgPr>
        <a:solidFill>
          <a:schemeClr val="lt2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1"/>
          <p:cNvSpPr/>
          <p:nvPr/>
        </p:nvSpPr>
        <p:spPr>
          <a:xfrm>
            <a:off x="4305000" y="-125"/>
            <a:ext cx="4839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8" name="Google Shape;21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9" name="Google Shape;219;p41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0" name="Google Shape;220;p41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1" name="Google Shape;221;p41"/>
          <p:cNvSpPr txBox="1"/>
          <p:nvPr>
            <p:ph idx="2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22" name="Google Shape;222;p41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pendix">
  <p:cSld name="CAPTION_ONLY">
    <p:bg>
      <p:bgPr>
        <a:solidFill>
          <a:schemeClr val="lt2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42"/>
          <p:cNvSpPr txBox="1"/>
          <p:nvPr>
            <p:ph idx="1" type="body"/>
          </p:nvPr>
        </p:nvSpPr>
        <p:spPr>
          <a:xfrm>
            <a:off x="2030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6" name="Google Shape;226;p42"/>
          <p:cNvSpPr txBox="1"/>
          <p:nvPr>
            <p:ph idx="2" type="body"/>
          </p:nvPr>
        </p:nvSpPr>
        <p:spPr>
          <a:xfrm>
            <a:off x="2030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7" name="Google Shape;227;p42"/>
          <p:cNvSpPr txBox="1"/>
          <p:nvPr>
            <p:ph idx="3" type="body"/>
          </p:nvPr>
        </p:nvSpPr>
        <p:spPr>
          <a:xfrm>
            <a:off x="2030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8" name="Google Shape;228;p42"/>
          <p:cNvSpPr txBox="1"/>
          <p:nvPr>
            <p:ph idx="4" type="body"/>
          </p:nvPr>
        </p:nvSpPr>
        <p:spPr>
          <a:xfrm>
            <a:off x="2030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9" name="Google Shape;229;p42"/>
          <p:cNvSpPr txBox="1"/>
          <p:nvPr>
            <p:ph idx="5" type="body"/>
          </p:nvPr>
        </p:nvSpPr>
        <p:spPr>
          <a:xfrm>
            <a:off x="2030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0" name="Google Shape;230;p42"/>
          <p:cNvSpPr txBox="1"/>
          <p:nvPr>
            <p:ph idx="6" type="body"/>
          </p:nvPr>
        </p:nvSpPr>
        <p:spPr>
          <a:xfrm>
            <a:off x="2030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1" name="Google Shape;231;p42"/>
          <p:cNvSpPr txBox="1"/>
          <p:nvPr>
            <p:ph idx="7" type="body"/>
          </p:nvPr>
        </p:nvSpPr>
        <p:spPr>
          <a:xfrm>
            <a:off x="2030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2" name="Google Shape;232;p42"/>
          <p:cNvSpPr txBox="1"/>
          <p:nvPr>
            <p:ph idx="8" type="body"/>
          </p:nvPr>
        </p:nvSpPr>
        <p:spPr>
          <a:xfrm>
            <a:off x="2030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3" name="Google Shape;233;p42"/>
          <p:cNvSpPr txBox="1"/>
          <p:nvPr>
            <p:ph idx="9" type="body"/>
          </p:nvPr>
        </p:nvSpPr>
        <p:spPr>
          <a:xfrm>
            <a:off x="2030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4" name="Google Shape;234;p42"/>
          <p:cNvSpPr txBox="1"/>
          <p:nvPr>
            <p:ph idx="13" type="body"/>
          </p:nvPr>
        </p:nvSpPr>
        <p:spPr>
          <a:xfrm>
            <a:off x="32496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5" name="Google Shape;235;p42"/>
          <p:cNvSpPr txBox="1"/>
          <p:nvPr>
            <p:ph idx="14" type="body"/>
          </p:nvPr>
        </p:nvSpPr>
        <p:spPr>
          <a:xfrm>
            <a:off x="32496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6" name="Google Shape;236;p42"/>
          <p:cNvSpPr txBox="1"/>
          <p:nvPr>
            <p:ph idx="15" type="body"/>
          </p:nvPr>
        </p:nvSpPr>
        <p:spPr>
          <a:xfrm>
            <a:off x="32496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7" name="Google Shape;237;p42"/>
          <p:cNvSpPr txBox="1"/>
          <p:nvPr>
            <p:ph idx="16" type="body"/>
          </p:nvPr>
        </p:nvSpPr>
        <p:spPr>
          <a:xfrm>
            <a:off x="32496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8" name="Google Shape;238;p42"/>
          <p:cNvSpPr txBox="1"/>
          <p:nvPr>
            <p:ph idx="17" type="body"/>
          </p:nvPr>
        </p:nvSpPr>
        <p:spPr>
          <a:xfrm>
            <a:off x="32496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9" name="Google Shape;239;p42"/>
          <p:cNvSpPr txBox="1"/>
          <p:nvPr>
            <p:ph idx="18" type="body"/>
          </p:nvPr>
        </p:nvSpPr>
        <p:spPr>
          <a:xfrm>
            <a:off x="32496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0" name="Google Shape;240;p42"/>
          <p:cNvSpPr txBox="1"/>
          <p:nvPr>
            <p:ph idx="19" type="body"/>
          </p:nvPr>
        </p:nvSpPr>
        <p:spPr>
          <a:xfrm>
            <a:off x="32496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1" name="Google Shape;241;p42"/>
          <p:cNvSpPr txBox="1"/>
          <p:nvPr>
            <p:ph idx="20" type="body"/>
          </p:nvPr>
        </p:nvSpPr>
        <p:spPr>
          <a:xfrm>
            <a:off x="32496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2" name="Google Shape;242;p42"/>
          <p:cNvSpPr txBox="1"/>
          <p:nvPr>
            <p:ph idx="21" type="body"/>
          </p:nvPr>
        </p:nvSpPr>
        <p:spPr>
          <a:xfrm>
            <a:off x="32496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3" name="Google Shape;243;p42"/>
          <p:cNvSpPr txBox="1"/>
          <p:nvPr>
            <p:ph idx="22" type="body"/>
          </p:nvPr>
        </p:nvSpPr>
        <p:spPr>
          <a:xfrm>
            <a:off x="62962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4" name="Google Shape;244;p42"/>
          <p:cNvSpPr txBox="1"/>
          <p:nvPr>
            <p:ph idx="23" type="body"/>
          </p:nvPr>
        </p:nvSpPr>
        <p:spPr>
          <a:xfrm>
            <a:off x="62962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5" name="Google Shape;245;p42"/>
          <p:cNvSpPr txBox="1"/>
          <p:nvPr>
            <p:ph idx="24" type="body"/>
          </p:nvPr>
        </p:nvSpPr>
        <p:spPr>
          <a:xfrm>
            <a:off x="62962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6" name="Google Shape;246;p42"/>
          <p:cNvSpPr txBox="1"/>
          <p:nvPr>
            <p:ph idx="25" type="body"/>
          </p:nvPr>
        </p:nvSpPr>
        <p:spPr>
          <a:xfrm>
            <a:off x="62962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7" name="Google Shape;247;p42"/>
          <p:cNvSpPr txBox="1"/>
          <p:nvPr>
            <p:ph idx="26" type="body"/>
          </p:nvPr>
        </p:nvSpPr>
        <p:spPr>
          <a:xfrm>
            <a:off x="62962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8" name="Google Shape;248;p42"/>
          <p:cNvSpPr txBox="1"/>
          <p:nvPr>
            <p:ph idx="27" type="body"/>
          </p:nvPr>
        </p:nvSpPr>
        <p:spPr>
          <a:xfrm>
            <a:off x="62962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9" name="Google Shape;249;p42"/>
          <p:cNvSpPr txBox="1"/>
          <p:nvPr>
            <p:ph idx="28" type="body"/>
          </p:nvPr>
        </p:nvSpPr>
        <p:spPr>
          <a:xfrm>
            <a:off x="62962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0" name="Google Shape;250;p42"/>
          <p:cNvSpPr txBox="1"/>
          <p:nvPr>
            <p:ph idx="29" type="body"/>
          </p:nvPr>
        </p:nvSpPr>
        <p:spPr>
          <a:xfrm>
            <a:off x="62962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1" name="Google Shape;251;p42"/>
          <p:cNvSpPr txBox="1"/>
          <p:nvPr>
            <p:ph idx="30" type="body"/>
          </p:nvPr>
        </p:nvSpPr>
        <p:spPr>
          <a:xfrm>
            <a:off x="62962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2" name="Google Shape;252;p42"/>
          <p:cNvSpPr txBox="1"/>
          <p:nvPr>
            <p:ph idx="31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53" name="Google Shape;253;p42"/>
          <p:cNvSpPr txBox="1"/>
          <p:nvPr>
            <p:ph idx="3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>
  <p:cSld name="CUSTOM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43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7" name="Google Shape;257;p43"/>
          <p:cNvSpPr txBox="1"/>
          <p:nvPr>
            <p:ph idx="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DM Sans"/>
              <a:buChar char="○"/>
              <a:defRPr sz="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24">
          <p15:clr>
            <a:srgbClr val="E46962"/>
          </p15:clr>
        </p15:guide>
        <p15:guide id="2" orient="horz" pos="124">
          <p15:clr>
            <a:srgbClr val="E46962"/>
          </p15:clr>
        </p15:guide>
        <p15:guide id="3" pos="5636">
          <p15:clr>
            <a:srgbClr val="E46962"/>
          </p15:clr>
        </p15:guide>
        <p15:guide id="4" orient="horz" pos="3116">
          <p15:clr>
            <a:srgbClr val="E46962"/>
          </p15:clr>
        </p15:guide>
        <p15:guide id="5" pos="1296">
          <p15:clr>
            <a:srgbClr val="E46962"/>
          </p15:clr>
        </p15:guide>
        <p15:guide id="6" pos="446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4"/>
          <p:cNvSpPr txBox="1"/>
          <p:nvPr>
            <p:ph type="ctrTitle"/>
          </p:nvPr>
        </p:nvSpPr>
        <p:spPr>
          <a:xfrm>
            <a:off x="284400" y="2325500"/>
            <a:ext cx="8575200" cy="11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latin typeface="Verdana"/>
                <a:ea typeface="Verdana"/>
                <a:cs typeface="Verdana"/>
                <a:sym typeface="Verdana"/>
              </a:rPr>
              <a:t>BUSINESS ADMINISTRATION </a:t>
            </a:r>
            <a:endParaRPr sz="39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rgbClr val="9900FF"/>
                </a:solidFill>
                <a:latin typeface="Verdana"/>
                <a:ea typeface="Verdana"/>
                <a:cs typeface="Verdana"/>
                <a:sym typeface="Verdana"/>
              </a:rPr>
              <a:t>SOFTWARE</a:t>
            </a:r>
            <a:endParaRPr sz="3800">
              <a:solidFill>
                <a:srgbClr val="9900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63" name="Google Shape;263;p44" title="College_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47238" y="304225"/>
            <a:ext cx="1249524" cy="1249524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44"/>
          <p:cNvSpPr txBox="1"/>
          <p:nvPr/>
        </p:nvSpPr>
        <p:spPr>
          <a:xfrm>
            <a:off x="2514600" y="1613596"/>
            <a:ext cx="4114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0B981"/>
                </a:solidFill>
                <a:latin typeface="Open Sans"/>
                <a:ea typeface="Open Sans"/>
                <a:cs typeface="Open Sans"/>
                <a:sym typeface="Open Sans"/>
              </a:rPr>
              <a:t>ALA-TOO INTERNATIONAL UNIVERSITY</a:t>
            </a:r>
            <a:endParaRPr/>
          </a:p>
        </p:txBody>
      </p:sp>
      <p:cxnSp>
        <p:nvCxnSpPr>
          <p:cNvPr id="265" name="Google Shape;265;p44"/>
          <p:cNvCxnSpPr/>
          <p:nvPr/>
        </p:nvCxnSpPr>
        <p:spPr>
          <a:xfrm flipH="1" rot="10800000">
            <a:off x="2336050" y="2115500"/>
            <a:ext cx="4612200" cy="3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44"/>
          <p:cNvCxnSpPr/>
          <p:nvPr/>
        </p:nvCxnSpPr>
        <p:spPr>
          <a:xfrm>
            <a:off x="2994450" y="3630105"/>
            <a:ext cx="3155100" cy="8100"/>
          </a:xfrm>
          <a:prstGeom prst="straightConnector1">
            <a:avLst/>
          </a:prstGeom>
          <a:noFill/>
          <a:ln cap="flat" cmpd="sng" w="38100">
            <a:solidFill>
              <a:srgbClr val="A700F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" name="Google Shape;267;p44"/>
          <p:cNvSpPr txBox="1"/>
          <p:nvPr/>
        </p:nvSpPr>
        <p:spPr>
          <a:xfrm>
            <a:off x="3175300" y="3925408"/>
            <a:ext cx="293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94A3B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Spring Semeste</a:t>
            </a:r>
            <a:r>
              <a:rPr b="0" i="0" lang="en" sz="1800" u="none" cap="none" strike="noStrike">
                <a:solidFill>
                  <a:srgbClr val="94A3B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</a:t>
            </a:r>
            <a:r>
              <a:rPr b="0" i="0" lang="en" sz="1800" u="none" cap="none" strike="noStrike">
                <a:solidFill>
                  <a:srgbClr val="94A3B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2025-2026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5"/>
          <p:cNvSpPr txBox="1"/>
          <p:nvPr/>
        </p:nvSpPr>
        <p:spPr>
          <a:xfrm>
            <a:off x="197375" y="1728700"/>
            <a:ext cx="8833800" cy="18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810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i="1" lang="en" sz="35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What gets measured gets managed.</a:t>
            </a:r>
            <a:endParaRPr b="1" i="1" sz="3500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0" lvl="0" marL="0" marR="38100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i="1" lang="en" sz="35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— </a:t>
            </a:r>
            <a:r>
              <a:rPr b="1" i="1" lang="en" sz="35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Peter Drucker</a:t>
            </a:r>
            <a:endParaRPr b="1" i="1" sz="3500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0" lvl="0" marL="0" marR="0" rtl="0" algn="ctr">
              <a:lnSpc>
                <a:spcPct val="159952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CBD5E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3" name="Google Shape;273;p45"/>
          <p:cNvSpPr txBox="1"/>
          <p:nvPr/>
        </p:nvSpPr>
        <p:spPr>
          <a:xfrm>
            <a:off x="580525" y="1039150"/>
            <a:ext cx="8366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457200" lvl="0" marL="320040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5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***</a:t>
            </a:r>
            <a:endParaRPr sz="2000">
              <a:solidFill>
                <a:srgbClr val="CBD5E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6"/>
          <p:cNvSpPr txBox="1"/>
          <p:nvPr/>
        </p:nvSpPr>
        <p:spPr>
          <a:xfrm>
            <a:off x="441450" y="11875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WAS PROMISED LAST WEEK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ERP/CRM DATA → DASHBOARDS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279" name="Google Shape;279;p46"/>
          <p:cNvCxnSpPr/>
          <p:nvPr/>
        </p:nvCxnSpPr>
        <p:spPr>
          <a:xfrm>
            <a:off x="3097050" y="722743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0" name="Google Shape;280;p46"/>
          <p:cNvSpPr txBox="1"/>
          <p:nvPr/>
        </p:nvSpPr>
        <p:spPr>
          <a:xfrm>
            <a:off x="579750" y="1416600"/>
            <a:ext cx="7984500" cy="23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Last lecture ended with a promise: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How data from ERP and CRM systems becomes KPIs, reports and dashboards used by managers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Today’s lesson delivers that promise and explains how dashboards can be correct or dangerously misleading.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7"/>
          <p:cNvSpPr txBox="1"/>
          <p:nvPr/>
        </p:nvSpPr>
        <p:spPr>
          <a:xfrm>
            <a:off x="441450" y="11875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DESIGN KPIS THAT MATTER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TODAY’S TARGET SKILL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286" name="Google Shape;286;p47"/>
          <p:cNvCxnSpPr/>
          <p:nvPr/>
        </p:nvCxnSpPr>
        <p:spPr>
          <a:xfrm>
            <a:off x="3097050" y="722743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7" name="Google Shape;287;p47"/>
          <p:cNvSpPr txBox="1"/>
          <p:nvPr/>
        </p:nvSpPr>
        <p:spPr>
          <a:xfrm>
            <a:off x="579750" y="921475"/>
            <a:ext cx="7984500" cy="3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By the end of today, you should be able to: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Explain what a KPI is (formally and practically)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Explain the difference between a metric, KPI, report and dashboard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Explain why “</a:t>
            </a:r>
            <a:r>
              <a:rPr b="1" lang="en" sz="1900">
                <a:solidFill>
                  <a:srgbClr val="00FF00"/>
                </a:solidFill>
              </a:rPr>
              <a:t>nice dashboards</a:t>
            </a:r>
            <a:r>
              <a:rPr lang="en" sz="1900">
                <a:solidFill>
                  <a:schemeClr val="lt1"/>
                </a:solidFill>
              </a:rPr>
              <a:t>” can still lead to wrong decisions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Build simple KPI + decision logic (as if you are building the backend of a dashboard)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8"/>
          <p:cNvSpPr txBox="1"/>
          <p:nvPr/>
        </p:nvSpPr>
        <p:spPr>
          <a:xfrm>
            <a:off x="441450" y="11875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WHY MANAGERS NEED DASHBOARDS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HUMANS CAN’T READ LOGS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293" name="Google Shape;293;p48"/>
          <p:cNvCxnSpPr/>
          <p:nvPr/>
        </p:nvCxnSpPr>
        <p:spPr>
          <a:xfrm>
            <a:off x="3097050" y="722743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4" name="Google Shape;294;p48"/>
          <p:cNvSpPr txBox="1"/>
          <p:nvPr/>
        </p:nvSpPr>
        <p:spPr>
          <a:xfrm>
            <a:off x="579750" y="954950"/>
            <a:ext cx="7984500" cy="3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ERP/CRM systems store thousands of records per day: orders, invoices, leads, calls, deliveries.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Managers cannot read logs like IT people. They need answers fast: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Are we OK?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What is getting worse?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What must be fixed today, not next month?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Dashboards exist to compress complexity into decisions.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9"/>
          <p:cNvSpPr txBox="1"/>
          <p:nvPr/>
        </p:nvSpPr>
        <p:spPr>
          <a:xfrm>
            <a:off x="441450" y="11875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GAME HUD VS RAW GAME DATA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ANALOGY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00" name="Google Shape;300;p49"/>
          <p:cNvCxnSpPr/>
          <p:nvPr/>
        </p:nvCxnSpPr>
        <p:spPr>
          <a:xfrm>
            <a:off x="3097050" y="722743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1" name="Google Shape;301;p49"/>
          <p:cNvSpPr txBox="1"/>
          <p:nvPr/>
        </p:nvSpPr>
        <p:spPr>
          <a:xfrm>
            <a:off x="660100" y="864075"/>
            <a:ext cx="7984500" cy="3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In a game, the computer calculates hundreds of variables every second.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The player does not see all of that. The player sees a HUD: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health bar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ammo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minimap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mission objective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 dashboard is a business HUD.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It shows only what matters to decide the next move.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0"/>
          <p:cNvSpPr txBox="1"/>
          <p:nvPr/>
        </p:nvSpPr>
        <p:spPr>
          <a:xfrm>
            <a:off x="441450" y="11875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DIGITAL TRANSFORMATION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FROM MANUAL TO CONTROLLED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07" name="Google Shape;307;p50"/>
          <p:cNvCxnSpPr/>
          <p:nvPr/>
        </p:nvCxnSpPr>
        <p:spPr>
          <a:xfrm>
            <a:off x="3097050" y="722743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8" name="Google Shape;308;p50"/>
          <p:cNvSpPr txBox="1"/>
          <p:nvPr/>
        </p:nvSpPr>
        <p:spPr>
          <a:xfrm>
            <a:off x="579750" y="875550"/>
            <a:ext cx="7984500" cy="3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Digital transformation means moving from “</a:t>
            </a:r>
            <a:r>
              <a:rPr b="1" lang="en" sz="1900">
                <a:solidFill>
                  <a:srgbClr val="00FF00"/>
                </a:solidFill>
              </a:rPr>
              <a:t>people-based operations</a:t>
            </a:r>
            <a:r>
              <a:rPr lang="en" sz="1900">
                <a:solidFill>
                  <a:schemeClr val="lt1"/>
                </a:solidFill>
              </a:rPr>
              <a:t>” to “</a:t>
            </a:r>
            <a:r>
              <a:rPr b="1" lang="en" sz="1900">
                <a:solidFill>
                  <a:srgbClr val="00FF00"/>
                </a:solidFill>
              </a:rPr>
              <a:t>system-based operations</a:t>
            </a:r>
            <a:r>
              <a:rPr lang="en" sz="1900">
                <a:solidFill>
                  <a:schemeClr val="lt1"/>
                </a:solidFill>
              </a:rPr>
              <a:t>”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It is not about buying computers, it is about changing how work happens: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work is standardized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steps are recorded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rules are enforced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performance becomes measurable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If work is not recorded digitally, dashboards cannot be trusted.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1"/>
          <p:cNvSpPr txBox="1"/>
          <p:nvPr/>
        </p:nvSpPr>
        <p:spPr>
          <a:xfrm>
            <a:off x="441450" y="11875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DIGITALIZATION VS AUTOMATION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WHOLE PROCESS VS ONE STEP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14" name="Google Shape;314;p51"/>
          <p:cNvCxnSpPr/>
          <p:nvPr/>
        </p:nvCxnSpPr>
        <p:spPr>
          <a:xfrm>
            <a:off x="3097050" y="722743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5" name="Google Shape;315;p51"/>
          <p:cNvSpPr txBox="1"/>
          <p:nvPr/>
        </p:nvSpPr>
        <p:spPr>
          <a:xfrm>
            <a:off x="579750" y="1128150"/>
            <a:ext cx="7984500" cy="3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Automation</a:t>
            </a:r>
            <a:r>
              <a:rPr lang="en" sz="1900">
                <a:solidFill>
                  <a:schemeClr val="lt1"/>
                </a:solidFill>
              </a:rPr>
              <a:t> is when one step becomes faster.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Example: sending an invoice email automatically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Digitalization </a:t>
            </a:r>
            <a:r>
              <a:rPr lang="en" sz="1900">
                <a:solidFill>
                  <a:schemeClr val="lt1"/>
                </a:solidFill>
              </a:rPr>
              <a:t>is when the entire workflow becomes controlled.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Example: invoice created → approved → issued → payment tracked → overdue flagged → report updated.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Dashboards rely on digitalization because dashboards need data from the full workflow, not only one task.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2"/>
          <p:cNvSpPr txBox="1"/>
          <p:nvPr/>
        </p:nvSpPr>
        <p:spPr>
          <a:xfrm>
            <a:off x="441450" y="11875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SPREADSHEETS ARE STAGE 1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EXCEL AS EARLY SYSTEM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21" name="Google Shape;321;p52"/>
          <p:cNvCxnSpPr/>
          <p:nvPr/>
        </p:nvCxnSpPr>
        <p:spPr>
          <a:xfrm>
            <a:off x="3097050" y="722743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2" name="Google Shape;322;p52"/>
          <p:cNvSpPr txBox="1"/>
          <p:nvPr/>
        </p:nvSpPr>
        <p:spPr>
          <a:xfrm>
            <a:off x="579750" y="815100"/>
            <a:ext cx="7984500" cy="39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Many businesses start with Excel/Google Sheets for: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inventory lists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simple budgets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sales tracking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customer contacts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This is normal. Spreadsheets are quick, flexible, and cheap.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But they are not designed for scale, control, or single truth.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3"/>
          <p:cNvSpPr txBox="1"/>
          <p:nvPr/>
        </p:nvSpPr>
        <p:spPr>
          <a:xfrm>
            <a:off x="441450" y="11875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WHY EXCEL BREAKS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MULTIPLE VERSIONS AND ERRORS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28" name="Google Shape;328;p53"/>
          <p:cNvCxnSpPr/>
          <p:nvPr/>
        </p:nvCxnSpPr>
        <p:spPr>
          <a:xfrm>
            <a:off x="3097050" y="722743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9" name="Google Shape;329;p53"/>
          <p:cNvSpPr txBox="1"/>
          <p:nvPr/>
        </p:nvSpPr>
        <p:spPr>
          <a:xfrm>
            <a:off x="579750" y="1105175"/>
            <a:ext cx="7984500" cy="3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Example: group project files → Final, Final2, Final_REAL, Final_FINAL.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ONLY THE LAST EDITOR kinda knows which one is correct.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Same in business: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multiple sheet copies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manual edits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formulas changed accidentally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no audit trail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When a company grows, Excel becomes a risk, not a tool.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4"/>
          <p:cNvSpPr txBox="1"/>
          <p:nvPr/>
        </p:nvSpPr>
        <p:spPr>
          <a:xfrm>
            <a:off x="441450" y="11875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ACCOUNTING SYSTEMS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MONEY BECOMES DATA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35" name="Google Shape;335;p54"/>
          <p:cNvCxnSpPr/>
          <p:nvPr/>
        </p:nvCxnSpPr>
        <p:spPr>
          <a:xfrm>
            <a:off x="3097050" y="722743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6" name="Google Shape;336;p54"/>
          <p:cNvSpPr txBox="1"/>
          <p:nvPr/>
        </p:nvSpPr>
        <p:spPr>
          <a:xfrm>
            <a:off x="579750" y="829625"/>
            <a:ext cx="7984500" cy="39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Accounting software turns financial events into structured records: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Invoices </a:t>
            </a:r>
            <a:r>
              <a:rPr lang="en" sz="1900">
                <a:solidFill>
                  <a:schemeClr val="lt1"/>
                </a:solidFill>
              </a:rPr>
              <a:t>(sum of issued sales bills for goods or services)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Payments</a:t>
            </a:r>
            <a:r>
              <a:rPr lang="en" sz="1900">
                <a:solidFill>
                  <a:schemeClr val="lt1"/>
                </a:solidFill>
              </a:rPr>
              <a:t> (total money received from customers)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Expenses</a:t>
            </a:r>
            <a:r>
              <a:rPr lang="en" sz="1900">
                <a:solidFill>
                  <a:schemeClr val="lt1"/>
                </a:solidFill>
              </a:rPr>
              <a:t> (sum of all recorded business costs)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Taxes </a:t>
            </a:r>
            <a:r>
              <a:rPr lang="en" sz="1900">
                <a:solidFill>
                  <a:schemeClr val="lt1"/>
                </a:solidFill>
              </a:rPr>
              <a:t>(percentage of taxable income owed to the government)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Profit/Loss reports</a:t>
            </a:r>
            <a:r>
              <a:rPr lang="en" sz="1900">
                <a:solidFill>
                  <a:schemeClr val="lt1"/>
                </a:solidFill>
              </a:rPr>
              <a:t> (revenue minus expenses for a specific period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Accounting systems are the “</a:t>
            </a:r>
            <a:r>
              <a:rPr b="1" lang="en" sz="1900">
                <a:solidFill>
                  <a:srgbClr val="00FF00"/>
                </a:solidFill>
              </a:rPr>
              <a:t>official memory</a:t>
            </a:r>
            <a:r>
              <a:rPr lang="en" sz="1900">
                <a:solidFill>
                  <a:schemeClr val="lt1"/>
                </a:solidFill>
              </a:rPr>
              <a:t>” of money.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Dashboards need this because financial KPIs must be based on verified records, not guesses.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5"/>
          <p:cNvSpPr txBox="1"/>
          <p:nvPr/>
        </p:nvSpPr>
        <p:spPr>
          <a:xfrm>
            <a:off x="441450" y="11875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ACCOUNTING FEEDS DASHBOARDS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FINANCIAL TRUTH SOURCE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42" name="Google Shape;342;p55"/>
          <p:cNvCxnSpPr/>
          <p:nvPr/>
        </p:nvCxnSpPr>
        <p:spPr>
          <a:xfrm>
            <a:off x="3097050" y="722743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" name="Google Shape;343;p55"/>
          <p:cNvSpPr txBox="1"/>
          <p:nvPr/>
        </p:nvSpPr>
        <p:spPr>
          <a:xfrm>
            <a:off x="248300" y="913425"/>
            <a:ext cx="8584500" cy="39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Sales may say: We sold a lot.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Accounting answers: How much cash came in? What was the profit?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Examples of dashboard KPIs that require accounting data: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Gross profit </a:t>
            </a:r>
            <a:r>
              <a:rPr lang="en" sz="1900">
                <a:solidFill>
                  <a:schemeClr val="lt1"/>
                </a:solidFill>
              </a:rPr>
              <a:t>(revenue minus cost of goods sold)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Net income</a:t>
            </a:r>
            <a:r>
              <a:rPr lang="en" sz="1900">
                <a:solidFill>
                  <a:schemeClr val="lt1"/>
                </a:solidFill>
              </a:rPr>
              <a:t> (final profit after all expenses)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Cash collected vs invoiced</a:t>
            </a:r>
            <a:r>
              <a:rPr lang="en" sz="1900">
                <a:solidFill>
                  <a:schemeClr val="lt1"/>
                </a:solidFill>
              </a:rPr>
              <a:t> (money received vs invoices issued)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Expense trends </a:t>
            </a:r>
            <a:r>
              <a:rPr lang="en" sz="1900">
                <a:solidFill>
                  <a:schemeClr val="lt1"/>
                </a:solidFill>
              </a:rPr>
              <a:t>(how company costs change over time)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If accounting data is delayed or incomplete, dashboards look nice but are wrong.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6"/>
          <p:cNvSpPr txBox="1"/>
          <p:nvPr/>
        </p:nvSpPr>
        <p:spPr>
          <a:xfrm>
            <a:off x="441450" y="11875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ERP SYSTEMS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OPERATIONS + FINANCE IN ONE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49" name="Google Shape;349;p56"/>
          <p:cNvCxnSpPr/>
          <p:nvPr/>
        </p:nvCxnSpPr>
        <p:spPr>
          <a:xfrm>
            <a:off x="3097050" y="722743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0" name="Google Shape;350;p56"/>
          <p:cNvSpPr txBox="1"/>
          <p:nvPr/>
        </p:nvSpPr>
        <p:spPr>
          <a:xfrm>
            <a:off x="283775" y="808822"/>
            <a:ext cx="8549100" cy="39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ERP systems integrate operations with finance and standardize processes across departments. ERP makes operations measurable because it records events like: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Inventory movement</a:t>
            </a:r>
            <a:r>
              <a:rPr lang="en" sz="1900">
                <a:solidFill>
                  <a:schemeClr val="lt1"/>
                </a:solidFill>
              </a:rPr>
              <a:t> (quantity of items added to or removed from stock)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Procurement orders</a:t>
            </a:r>
            <a:r>
              <a:rPr lang="en" sz="1900">
                <a:solidFill>
                  <a:schemeClr val="lt1"/>
                </a:solidFill>
              </a:rPr>
              <a:t> (total value or number of purchase orders issued to suppliers)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Warehouse actions </a:t>
            </a:r>
            <a:r>
              <a:rPr lang="en" sz="1900">
                <a:solidFill>
                  <a:schemeClr val="lt1"/>
                </a:solidFill>
              </a:rPr>
              <a:t>(count of picking, packing, and storage operations performed)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Production status</a:t>
            </a:r>
            <a:r>
              <a:rPr lang="en" sz="1900">
                <a:solidFill>
                  <a:schemeClr val="lt1"/>
                </a:solidFill>
              </a:rPr>
              <a:t>(number of units produced vs planned production target)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Shipping and delivery </a:t>
            </a:r>
            <a:r>
              <a:rPr lang="en" sz="1900">
                <a:solidFill>
                  <a:schemeClr val="lt1"/>
                </a:solidFill>
              </a:rPr>
              <a:t>(orders shipped or delivered within a time period)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ERP is the foundation for operational KPIs.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7"/>
          <p:cNvSpPr txBox="1"/>
          <p:nvPr/>
        </p:nvSpPr>
        <p:spPr>
          <a:xfrm>
            <a:off x="441450" y="11875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CRM SYSTEMS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CUSTOMERS AND PIPELINE DATA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56" name="Google Shape;356;p57"/>
          <p:cNvCxnSpPr/>
          <p:nvPr/>
        </p:nvCxnSpPr>
        <p:spPr>
          <a:xfrm>
            <a:off x="3097050" y="722743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7" name="Google Shape;357;p57"/>
          <p:cNvSpPr txBox="1"/>
          <p:nvPr/>
        </p:nvSpPr>
        <p:spPr>
          <a:xfrm>
            <a:off x="197375" y="769950"/>
            <a:ext cx="8652900" cy="3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CRM provides demand signals and revenue forecasting data used in dashboards. </a:t>
            </a:r>
            <a:r>
              <a:rPr lang="en" sz="1900">
                <a:solidFill>
                  <a:schemeClr val="lt1"/>
                </a:solidFill>
              </a:rPr>
              <a:t>CRM systems manage customer-related activity: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Leads and opportunities</a:t>
            </a:r>
            <a:r>
              <a:rPr lang="en" sz="1900">
                <a:solidFill>
                  <a:schemeClr val="lt1"/>
                </a:solidFill>
              </a:rPr>
              <a:t> (number of potential and qualified customers)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Pipeline stages</a:t>
            </a:r>
            <a:r>
              <a:rPr lang="en" sz="1900">
                <a:solidFill>
                  <a:schemeClr val="lt1"/>
                </a:solidFill>
              </a:rPr>
              <a:t> (current step of a deal in the sales process)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Deal values and probabilities</a:t>
            </a:r>
            <a:r>
              <a:rPr lang="en" sz="1900">
                <a:solidFill>
                  <a:srgbClr val="00FF00"/>
                </a:solidFill>
              </a:rPr>
              <a:t> </a:t>
            </a:r>
            <a:r>
              <a:rPr lang="en" sz="1900">
                <a:solidFill>
                  <a:schemeClr val="lt1"/>
                </a:solidFill>
              </a:rPr>
              <a:t>(deal revenue adjusted by chance of closing)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Interaction history</a:t>
            </a:r>
            <a:r>
              <a:rPr lang="en" sz="1900">
                <a:solidFill>
                  <a:schemeClr val="lt1"/>
                </a:solidFill>
              </a:rPr>
              <a:t> (calls/emails/meetings) (record of customer communications)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8"/>
          <p:cNvSpPr txBox="1"/>
          <p:nvPr/>
        </p:nvSpPr>
        <p:spPr>
          <a:xfrm>
            <a:off x="441450" y="11875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DASHBOARDS DEPEND ON SYSTEMS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KEY POINT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63" name="Google Shape;363;p58"/>
          <p:cNvCxnSpPr/>
          <p:nvPr/>
        </p:nvCxnSpPr>
        <p:spPr>
          <a:xfrm>
            <a:off x="3097050" y="722743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4" name="Google Shape;364;p58"/>
          <p:cNvSpPr txBox="1"/>
          <p:nvPr/>
        </p:nvSpPr>
        <p:spPr>
          <a:xfrm>
            <a:off x="579750" y="1097675"/>
            <a:ext cx="7984500" cy="3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Dashboards </a:t>
            </a:r>
            <a:r>
              <a:rPr b="1" lang="en" sz="1900">
                <a:solidFill>
                  <a:schemeClr val="lt1"/>
                </a:solidFill>
              </a:rPr>
              <a:t>DO NOT</a:t>
            </a:r>
            <a:r>
              <a:rPr lang="en" sz="1900">
                <a:solidFill>
                  <a:schemeClr val="lt1"/>
                </a:solidFill>
              </a:rPr>
              <a:t> create accuracy.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They display what systems record.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If the system data is messy, the dashboard becomes a confident lie.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Good dashboards start with good processes and clean data sources.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pic>
        <p:nvPicPr>
          <p:cNvPr id="365" name="Google Shape;365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1773" y="1431025"/>
            <a:ext cx="5275349" cy="264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9"/>
          <p:cNvSpPr txBox="1"/>
          <p:nvPr/>
        </p:nvSpPr>
        <p:spPr>
          <a:xfrm>
            <a:off x="441450" y="11875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RECEIPTS VS MEMORY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ANALOGY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71" name="Google Shape;371;p59"/>
          <p:cNvCxnSpPr/>
          <p:nvPr/>
        </p:nvCxnSpPr>
        <p:spPr>
          <a:xfrm>
            <a:off x="3097050" y="722743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2" name="Google Shape;372;p59"/>
          <p:cNvSpPr txBox="1"/>
          <p:nvPr/>
        </p:nvSpPr>
        <p:spPr>
          <a:xfrm>
            <a:off x="579750" y="1248450"/>
            <a:ext cx="79845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If you try to remember spending from memory, you will be wrong.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If you check bank statements and receipts, you can prove the truth.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ERP/CRM/Accounting are receipts.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Dashboards are a summary of receipts.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KPI CORE: DEFINITION + STRUCTURE</a:t>
            </a:r>
            <a:endParaRPr b="1" sz="19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0"/>
          <p:cNvSpPr txBox="1"/>
          <p:nvPr/>
        </p:nvSpPr>
        <p:spPr>
          <a:xfrm>
            <a:off x="441450" y="11875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IS A KPI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FORMAL DEFINITION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78" name="Google Shape;378;p60"/>
          <p:cNvCxnSpPr/>
          <p:nvPr/>
        </p:nvCxnSpPr>
        <p:spPr>
          <a:xfrm>
            <a:off x="3097050" y="722743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9" name="Google Shape;379;p60"/>
          <p:cNvSpPr txBox="1"/>
          <p:nvPr/>
        </p:nvSpPr>
        <p:spPr>
          <a:xfrm>
            <a:off x="533825" y="910007"/>
            <a:ext cx="79845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pic>
        <p:nvPicPr>
          <p:cNvPr id="380" name="Google Shape;380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4592" y="1497025"/>
            <a:ext cx="2682950" cy="268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1"/>
          <p:cNvSpPr txBox="1"/>
          <p:nvPr/>
        </p:nvSpPr>
        <p:spPr>
          <a:xfrm>
            <a:off x="441450" y="11875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IS A KPI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FORMAL DEFINITION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86" name="Google Shape;386;p61"/>
          <p:cNvCxnSpPr/>
          <p:nvPr/>
        </p:nvCxnSpPr>
        <p:spPr>
          <a:xfrm>
            <a:off x="3097050" y="722743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7" name="Google Shape;387;p61"/>
          <p:cNvSpPr txBox="1"/>
          <p:nvPr/>
        </p:nvSpPr>
        <p:spPr>
          <a:xfrm>
            <a:off x="533825" y="910007"/>
            <a:ext cx="7984500" cy="39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 KPI (Key Performance Indicator) is a measurable value used to evaluate how effectively a business objective is being achieved.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 KPI is tied to: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G</a:t>
            </a:r>
            <a:r>
              <a:rPr b="1" lang="en" sz="1900">
                <a:solidFill>
                  <a:srgbClr val="00FF00"/>
                </a:solidFill>
              </a:rPr>
              <a:t>oal</a:t>
            </a:r>
            <a:r>
              <a:rPr lang="en" sz="1900">
                <a:solidFill>
                  <a:schemeClr val="lt1"/>
                </a:solidFill>
              </a:rPr>
              <a:t> (the business objective being pursued)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 Method of measurement</a:t>
            </a:r>
            <a:r>
              <a:rPr lang="en" sz="1900">
                <a:solidFill>
                  <a:schemeClr val="lt1"/>
                </a:solidFill>
              </a:rPr>
              <a:t> (how performance is calculated)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 </a:t>
            </a:r>
            <a:r>
              <a:rPr b="1" lang="en" sz="1900">
                <a:solidFill>
                  <a:srgbClr val="00FF00"/>
                </a:solidFill>
              </a:rPr>
              <a:t>Target / threshold </a:t>
            </a:r>
            <a:r>
              <a:rPr lang="en" sz="1900">
                <a:solidFill>
                  <a:schemeClr val="lt1"/>
                </a:solidFill>
              </a:rPr>
              <a:t>(the value that defines success or risk)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 </a:t>
            </a:r>
            <a:r>
              <a:rPr b="1" lang="en" sz="1900">
                <a:solidFill>
                  <a:srgbClr val="00FF00"/>
                </a:solidFill>
              </a:rPr>
              <a:t>Decision action</a:t>
            </a:r>
            <a:r>
              <a:rPr lang="en" sz="1900">
                <a:solidFill>
                  <a:schemeClr val="lt1"/>
                </a:solidFill>
              </a:rPr>
              <a:t> (the response triggered when limits are reached)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KPIs are designed to guide decisions, not to decorate reports.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62"/>
          <p:cNvSpPr txBox="1"/>
          <p:nvPr/>
        </p:nvSpPr>
        <p:spPr>
          <a:xfrm>
            <a:off x="441450" y="11875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KPI VS METRIC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NOT ALL NUMBERS MATTER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93" name="Google Shape;393;p62"/>
          <p:cNvCxnSpPr/>
          <p:nvPr/>
        </p:nvCxnSpPr>
        <p:spPr>
          <a:xfrm>
            <a:off x="3097050" y="722743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4" name="Google Shape;394;p62"/>
          <p:cNvSpPr txBox="1"/>
          <p:nvPr/>
        </p:nvSpPr>
        <p:spPr>
          <a:xfrm>
            <a:off x="579750" y="1257850"/>
            <a:ext cx="7984500" cy="3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 metric is any measurement.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Example: number of calls made, number of website visits.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 KPI is a metric that directly supports an objective and triggers action.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Example: conversion rate in the sales funnel because it predicts revenue.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If the number does not affect decisions, it should not be a KPI.</a:t>
            </a:r>
            <a:endParaRPr b="1" sz="19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3"/>
          <p:cNvSpPr txBox="1"/>
          <p:nvPr/>
        </p:nvSpPr>
        <p:spPr>
          <a:xfrm>
            <a:off x="441450" y="11875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KPI STRUCTURE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MAKES IT VALID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00" name="Google Shape;400;p63"/>
          <p:cNvCxnSpPr/>
          <p:nvPr/>
        </p:nvCxnSpPr>
        <p:spPr>
          <a:xfrm>
            <a:off x="3097050" y="722743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1" name="Google Shape;401;p63"/>
          <p:cNvSpPr txBox="1"/>
          <p:nvPr/>
        </p:nvSpPr>
        <p:spPr>
          <a:xfrm>
            <a:off x="579750" y="875575"/>
            <a:ext cx="7984500" cy="3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 KPI must: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Link to an objective </a:t>
            </a:r>
            <a:r>
              <a:rPr lang="en" sz="1900">
                <a:solidFill>
                  <a:schemeClr val="lt1"/>
                </a:solidFill>
              </a:rPr>
              <a:t>(what goal does it support?)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Have ownership</a:t>
            </a:r>
            <a:r>
              <a:rPr lang="en" sz="1900">
                <a:solidFill>
                  <a:schemeClr val="lt1"/>
                </a:solidFill>
              </a:rPr>
              <a:t> (who is accountable?)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Have measurable limits</a:t>
            </a:r>
            <a:r>
              <a:rPr lang="en" sz="1900">
                <a:solidFill>
                  <a:schemeClr val="lt1"/>
                </a:solidFill>
              </a:rPr>
              <a:t> (what is OK vs NOT OK?)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Trigger action </a:t>
            </a:r>
            <a:r>
              <a:rPr lang="en" sz="1900">
                <a:solidFill>
                  <a:schemeClr val="lt1"/>
                </a:solidFill>
              </a:rPr>
              <a:t>(what do we do when it fails?)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Without ownership and action, KPIs become “statistics” with no business value.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64"/>
          <p:cNvSpPr txBox="1"/>
          <p:nvPr/>
        </p:nvSpPr>
        <p:spPr>
          <a:xfrm>
            <a:off x="441450" y="11875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KPI ANALOGY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EXAM SCORE WITH THRESHOLD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07" name="Google Shape;407;p64"/>
          <p:cNvCxnSpPr/>
          <p:nvPr/>
        </p:nvCxnSpPr>
        <p:spPr>
          <a:xfrm>
            <a:off x="3097050" y="722743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8" name="Google Shape;408;p64"/>
          <p:cNvSpPr txBox="1"/>
          <p:nvPr/>
        </p:nvSpPr>
        <p:spPr>
          <a:xfrm>
            <a:off x="579750" y="1380725"/>
            <a:ext cx="79845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Objective: pass the course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KPI: exam score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Threshold: 50% to pass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If score &lt; 50% → action is required (study plan, консультация, retake preparation)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This is exactly how business KPIs work: threshold + response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5"/>
          <p:cNvSpPr txBox="1"/>
          <p:nvPr/>
        </p:nvSpPr>
        <p:spPr>
          <a:xfrm>
            <a:off x="441450" y="11875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LEADING KPIs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EARLY WARNING SIGNALS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14" name="Google Shape;414;p65"/>
          <p:cNvCxnSpPr/>
          <p:nvPr/>
        </p:nvCxnSpPr>
        <p:spPr>
          <a:xfrm>
            <a:off x="3097050" y="722743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5" name="Google Shape;415;p65"/>
          <p:cNvSpPr txBox="1"/>
          <p:nvPr/>
        </p:nvSpPr>
        <p:spPr>
          <a:xfrm>
            <a:off x="579750" y="841125"/>
            <a:ext cx="7984500" cy="43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Leading KPIs predict what will happen later.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They show problems early, before revenue or profit changes.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Examples: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conversion rate dropping predicts future revenue decline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sales cycle length increasing predicts delayed cash flow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customer engagement falling predicts churn risk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Leading KPIs allow intervention before damage becomes permanent.</a:t>
            </a:r>
            <a:endParaRPr b="1" sz="19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6"/>
          <p:cNvSpPr txBox="1"/>
          <p:nvPr/>
        </p:nvSpPr>
        <p:spPr>
          <a:xfrm>
            <a:off x="441450" y="11875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LAGGING KPIs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CONFIRMING RESULTS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21" name="Google Shape;421;p66"/>
          <p:cNvCxnSpPr/>
          <p:nvPr/>
        </p:nvCxnSpPr>
        <p:spPr>
          <a:xfrm>
            <a:off x="3097050" y="722743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2" name="Google Shape;422;p66"/>
          <p:cNvSpPr txBox="1"/>
          <p:nvPr/>
        </p:nvSpPr>
        <p:spPr>
          <a:xfrm>
            <a:off x="625675" y="772225"/>
            <a:ext cx="7984500" cy="39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Lagging KPIs measure outcomes after they occur.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They confirm how the business performed in the past.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Examples: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revenue</a:t>
            </a:r>
            <a:r>
              <a:rPr lang="en" sz="1900">
                <a:solidFill>
                  <a:schemeClr val="lt1"/>
                </a:solidFill>
              </a:rPr>
              <a:t> (total money from sales)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gross profit</a:t>
            </a:r>
            <a:r>
              <a:rPr lang="en" sz="1900">
                <a:solidFill>
                  <a:schemeClr val="lt1"/>
                </a:solidFill>
              </a:rPr>
              <a:t> (revenue minus direct costs)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net income </a:t>
            </a:r>
            <a:r>
              <a:rPr lang="en" sz="1900">
                <a:solidFill>
                  <a:schemeClr val="lt1"/>
                </a:solidFill>
              </a:rPr>
              <a:t>(profit after all costs and taxes)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churn rate </a:t>
            </a:r>
            <a:r>
              <a:rPr lang="en" sz="1900">
                <a:solidFill>
                  <a:schemeClr val="lt1"/>
                </a:solidFill>
              </a:rPr>
              <a:t>(customers who already left)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Lagging KPIs are important for truth, but they often arrive too late to prevent problems.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67"/>
          <p:cNvSpPr txBox="1"/>
          <p:nvPr/>
        </p:nvSpPr>
        <p:spPr>
          <a:xfrm>
            <a:off x="441450" y="11875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HEALTHY DASHBOARD MIX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LEADING + LAGGING TOGETHER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28" name="Google Shape;428;p67"/>
          <p:cNvCxnSpPr/>
          <p:nvPr/>
        </p:nvCxnSpPr>
        <p:spPr>
          <a:xfrm>
            <a:off x="3097050" y="722743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9" name="Google Shape;429;p67"/>
          <p:cNvSpPr txBox="1"/>
          <p:nvPr/>
        </p:nvSpPr>
        <p:spPr>
          <a:xfrm>
            <a:off x="579750" y="910000"/>
            <a:ext cx="7984500" cy="39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 healthy dashboard includes: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Leading KPIs to predict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Lagging KPIs to confirm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Example: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If you only look at final exam results, you find out too late.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If you also track weekly quizzes, attendance, and assignments, you can fix issues early.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Same idea in business: early signals + final outcomes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68"/>
          <p:cNvSpPr txBox="1"/>
          <p:nvPr/>
        </p:nvSpPr>
        <p:spPr>
          <a:xfrm>
            <a:off x="441450" y="11875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THRESHOLDS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WHEN KPI BECOMES CONTROL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35" name="Google Shape;435;p68"/>
          <p:cNvCxnSpPr/>
          <p:nvPr/>
        </p:nvCxnSpPr>
        <p:spPr>
          <a:xfrm>
            <a:off x="3097050" y="722743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6" name="Google Shape;436;p68"/>
          <p:cNvSpPr txBox="1"/>
          <p:nvPr/>
        </p:nvSpPr>
        <p:spPr>
          <a:xfrm>
            <a:off x="579750" y="965350"/>
            <a:ext cx="7984500" cy="43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KPIs must include thresholds to trigger action.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Without limits, dashboards become passive.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Examples: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late deliveries &gt; 3% → investigate logistics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margin &lt; 15% → review costs and pricing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conversion &lt; 10% → fix sales qualification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Thresholds convert measurement into control.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69"/>
          <p:cNvSpPr txBox="1"/>
          <p:nvPr/>
        </p:nvSpPr>
        <p:spPr>
          <a:xfrm>
            <a:off x="441450" y="11875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KPI LIFECYCLE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KPIS MUST EVOLVE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42" name="Google Shape;442;p69"/>
          <p:cNvCxnSpPr/>
          <p:nvPr/>
        </p:nvCxnSpPr>
        <p:spPr>
          <a:xfrm>
            <a:off x="3097050" y="722743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3" name="Google Shape;443;p69"/>
          <p:cNvSpPr txBox="1"/>
          <p:nvPr/>
        </p:nvSpPr>
        <p:spPr>
          <a:xfrm>
            <a:off x="579750" y="965350"/>
            <a:ext cx="7984500" cy="3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KPIs must change when strategy changes.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Example: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Early stage: focus on growth → track acquisition and conversion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Later stage: focus on profitability → track margin and cost efficiency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Static KPIs mislead teams into optimizing outdated goals.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Companies must review KPIs regularly to stay aligned with reality.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70"/>
          <p:cNvSpPr txBox="1"/>
          <p:nvPr/>
        </p:nvSpPr>
        <p:spPr>
          <a:xfrm>
            <a:off x="441450" y="11875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KPI GAMING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WRONG KPI → WRONG BEHAVIOR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49" name="Google Shape;449;p70"/>
          <p:cNvCxnSpPr/>
          <p:nvPr/>
        </p:nvCxnSpPr>
        <p:spPr>
          <a:xfrm>
            <a:off x="3097050" y="722743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0" name="Google Shape;450;p70"/>
          <p:cNvSpPr txBox="1"/>
          <p:nvPr/>
        </p:nvSpPr>
        <p:spPr>
          <a:xfrm>
            <a:off x="266050" y="965350"/>
            <a:ext cx="8575500" cy="39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If performance is measured only by “calls per day,” calls increase, but quality decreases.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People optimize what you measure.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Better KPI design focuses on outcomes: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qualified opportunities </a:t>
            </a:r>
            <a:r>
              <a:rPr lang="en" sz="1900">
                <a:solidFill>
                  <a:schemeClr val="lt1"/>
                </a:solidFill>
              </a:rPr>
              <a:t>(sales prospects that meet buying criteria)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conversion rate</a:t>
            </a:r>
            <a:r>
              <a:rPr lang="en" sz="1900">
                <a:solidFill>
                  <a:schemeClr val="lt1"/>
                </a:solidFill>
              </a:rPr>
              <a:t> (percentage of prospects that become customers)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revenue per salesperson </a:t>
            </a:r>
            <a:r>
              <a:rPr lang="en" sz="1900">
                <a:solidFill>
                  <a:schemeClr val="lt1"/>
                </a:solidFill>
              </a:rPr>
              <a:t>(average sales generated by each salesperson)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customer satisfaction</a:t>
            </a:r>
            <a:r>
              <a:rPr lang="en" sz="1900">
                <a:solidFill>
                  <a:schemeClr val="lt1"/>
                </a:solidFill>
              </a:rPr>
              <a:t> (customer rating of service or product quality)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KPIs shape behavior like rules shape a game.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DASHBOARDS: SAFE DESIGN, TRUST, CONSISTENCY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71"/>
          <p:cNvSpPr txBox="1"/>
          <p:nvPr/>
        </p:nvSpPr>
        <p:spPr>
          <a:xfrm>
            <a:off x="441450" y="11875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REPORTS VS DASHBOARDS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PAST VS INTERVENTION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56" name="Google Shape;456;p71"/>
          <p:cNvCxnSpPr/>
          <p:nvPr/>
        </p:nvCxnSpPr>
        <p:spPr>
          <a:xfrm>
            <a:off x="3097050" y="722743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7" name="Google Shape;457;p71"/>
          <p:cNvSpPr txBox="1"/>
          <p:nvPr/>
        </p:nvSpPr>
        <p:spPr>
          <a:xfrm>
            <a:off x="579750" y="965350"/>
            <a:ext cx="7984500" cy="3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Reports explain history: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“What happened last month?”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They are static and used for documentation.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Dashboards enable intervention: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“What is happening now?”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They are dynamic and used to trigger action.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Report = history book.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Dashboard = control panel.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72"/>
          <p:cNvSpPr txBox="1"/>
          <p:nvPr/>
        </p:nvSpPr>
        <p:spPr>
          <a:xfrm>
            <a:off x="441450" y="11875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DASHBOARD DESIGN RULE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ONE ROLE, ONE PURPOSE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63" name="Google Shape;463;p72"/>
          <p:cNvCxnSpPr/>
          <p:nvPr/>
        </p:nvCxnSpPr>
        <p:spPr>
          <a:xfrm>
            <a:off x="3097050" y="722743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4" name="Google Shape;464;p72"/>
          <p:cNvSpPr txBox="1"/>
          <p:nvPr/>
        </p:nvSpPr>
        <p:spPr>
          <a:xfrm>
            <a:off x="579750" y="965350"/>
            <a:ext cx="7984500" cy="3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Dashboards must be role-specific.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Example: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Warehouse dashboard: fulfillment time, inventory aging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Sales manager dashboard: conversion, pipeline velocity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CFO dashboard: margin, cash flow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If you build one dashboard for everyone, it becomes clutter and nobody trusts it.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73"/>
          <p:cNvSpPr txBox="1"/>
          <p:nvPr/>
        </p:nvSpPr>
        <p:spPr>
          <a:xfrm>
            <a:off x="441450" y="11875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WHY NUMBERS DISAGREE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MULTIPLE DEFINITIONS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70" name="Google Shape;470;p73"/>
          <p:cNvCxnSpPr/>
          <p:nvPr/>
        </p:nvCxnSpPr>
        <p:spPr>
          <a:xfrm>
            <a:off x="3097050" y="722743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1" name="Google Shape;471;p73"/>
          <p:cNvSpPr txBox="1"/>
          <p:nvPr/>
        </p:nvSpPr>
        <p:spPr>
          <a:xfrm>
            <a:off x="579750" y="965350"/>
            <a:ext cx="7984500" cy="3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Sales revenue ≠ Finance revenue when definitions differ.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Example: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CRM counts revenue when a deal is “won”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Accounting counts revenue when invoice is issued/paid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Both might be correct by their own rules, but management needs one consistent truth.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74"/>
          <p:cNvSpPr txBox="1"/>
          <p:nvPr/>
        </p:nvSpPr>
        <p:spPr>
          <a:xfrm>
            <a:off x="441450" y="11875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IT RESPONSIBILITY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ONE VERSION OF TRUTH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77" name="Google Shape;477;p74"/>
          <p:cNvCxnSpPr/>
          <p:nvPr/>
        </p:nvCxnSpPr>
        <p:spPr>
          <a:xfrm>
            <a:off x="3097050" y="722743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8" name="Google Shape;478;p74"/>
          <p:cNvSpPr txBox="1"/>
          <p:nvPr/>
        </p:nvSpPr>
        <p:spPr>
          <a:xfrm>
            <a:off x="579750" y="965350"/>
            <a:ext cx="7984500" cy="39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IT must enforce: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standard metric definitions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consistent calculation logic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shared time periods and currency rules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documented data sources (ERP/CRM/Accounting)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Without this governance, dashboards become political arguments instead of decision tools.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75"/>
          <p:cNvSpPr txBox="1"/>
          <p:nvPr/>
        </p:nvSpPr>
        <p:spPr>
          <a:xfrm>
            <a:off x="441450" y="11875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TRENDS OVER SNAPSHOTS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DIRECTION IS THE SIGNAL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84" name="Google Shape;484;p75"/>
          <p:cNvCxnSpPr/>
          <p:nvPr/>
        </p:nvCxnSpPr>
        <p:spPr>
          <a:xfrm>
            <a:off x="3097050" y="722743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5" name="Google Shape;485;p75"/>
          <p:cNvSpPr txBox="1"/>
          <p:nvPr/>
        </p:nvSpPr>
        <p:spPr>
          <a:xfrm>
            <a:off x="579750" y="1151100"/>
            <a:ext cx="7984500" cy="38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 single number is a snapshot.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 trend shows direction.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Example: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Revenue: 1.2M → 1.1M → 1.0M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Snapshot “1.0M” can look fine, but the trend is a warning.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Trends are what drive strategy and planning.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6"/>
          <p:cNvSpPr txBox="1"/>
          <p:nvPr/>
        </p:nvSpPr>
        <p:spPr>
          <a:xfrm>
            <a:off x="441450" y="11875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MISLEADING DASHBOARD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WHEN IT LOOKS “OK”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91" name="Google Shape;491;p76"/>
          <p:cNvCxnSpPr/>
          <p:nvPr/>
        </p:nvCxnSpPr>
        <p:spPr>
          <a:xfrm>
            <a:off x="3097050" y="722743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2" name="Google Shape;492;p76"/>
          <p:cNvSpPr txBox="1"/>
          <p:nvPr/>
        </p:nvSpPr>
        <p:spPr>
          <a:xfrm>
            <a:off x="625675" y="965350"/>
            <a:ext cx="7984500" cy="39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Revenue appears stable.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Lead volume is increasing.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But: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conversion is falling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margins are shrinking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This is dangerous because activity is rising, but efficiency is collapsing.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The business can look stable while profitability slowly dies.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77"/>
          <p:cNvSpPr txBox="1"/>
          <p:nvPr/>
        </p:nvSpPr>
        <p:spPr>
          <a:xfrm>
            <a:off x="441450" y="11875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BUSINESS CONSEQUENCE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WRONG DECISION IMPACT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98" name="Google Shape;498;p77"/>
          <p:cNvCxnSpPr/>
          <p:nvPr/>
        </p:nvCxnSpPr>
        <p:spPr>
          <a:xfrm>
            <a:off x="3097050" y="722743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9" name="Google Shape;499;p77"/>
          <p:cNvSpPr txBox="1"/>
          <p:nvPr/>
        </p:nvSpPr>
        <p:spPr>
          <a:xfrm>
            <a:off x="579750" y="852600"/>
            <a:ext cx="7984500" cy="3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If management increases marketing based on “more leads”: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marketing spend rises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sales team workload rises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conversion stays weak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costs increase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Profit shrinks even if revenue stays stable.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 dashboard interpretation failure becomes a financial failure.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GAME: TWO CONNECTED CODING TASKS (CLEAR + </a:t>
            </a:r>
            <a:r>
              <a:rPr lang="en" sz="1900">
                <a:solidFill>
                  <a:schemeClr val="lt1"/>
                </a:solidFill>
              </a:rPr>
              <a:t>GRADABLE</a:t>
            </a:r>
            <a:r>
              <a:rPr lang="en" sz="1900">
                <a:solidFill>
                  <a:schemeClr val="lt1"/>
                </a:solidFill>
              </a:rPr>
              <a:t>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78"/>
          <p:cNvSpPr txBox="1"/>
          <p:nvPr/>
        </p:nvSpPr>
        <p:spPr>
          <a:xfrm>
            <a:off x="441450" y="11875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CODING GAME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BUILD A MINI DASHBOARD ENGINE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05" name="Google Shape;505;p78"/>
          <p:cNvCxnSpPr/>
          <p:nvPr/>
        </p:nvCxnSpPr>
        <p:spPr>
          <a:xfrm>
            <a:off x="3097050" y="722743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6" name="Google Shape;506;p78"/>
          <p:cNvSpPr txBox="1"/>
          <p:nvPr/>
        </p:nvSpPr>
        <p:spPr>
          <a:xfrm>
            <a:off x="579750" y="1248450"/>
            <a:ext cx="7984500" cy="3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You will build the logic behind a dashboard, not just formulas.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Task 1 computes KPI values from pipeline + costs.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Task 2 takes Task 1 output and produces exactly one management decision.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This models how analytics systems work: data → KPI → action.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79"/>
          <p:cNvSpPr txBox="1"/>
          <p:nvPr/>
        </p:nvSpPr>
        <p:spPr>
          <a:xfrm>
            <a:off x="441450" y="11875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TASK 1 INPUT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PIPELINE + COST DATA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12" name="Google Shape;512;p79"/>
          <p:cNvCxnSpPr/>
          <p:nvPr/>
        </p:nvCxnSpPr>
        <p:spPr>
          <a:xfrm>
            <a:off x="3097050" y="722743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3" name="Google Shape;513;p79"/>
          <p:cNvSpPr txBox="1"/>
          <p:nvPr/>
        </p:nvSpPr>
        <p:spPr>
          <a:xfrm>
            <a:off x="579750" y="965350"/>
            <a:ext cx="7984500" cy="38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Given input values (single scenario):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Leads = 200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Opportunity rate = 30%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Close rate = 20%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Deal value = 2000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Marketing cost = 6000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Operational cost = 9000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Goal: convert this raw input into KPI metrics a dashboard would display.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80"/>
          <p:cNvSpPr txBox="1"/>
          <p:nvPr/>
        </p:nvSpPr>
        <p:spPr>
          <a:xfrm>
            <a:off x="441450" y="11875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TASK 1 CALCULATIONS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MUST BE COMPUTED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19" name="Google Shape;519;p80"/>
          <p:cNvCxnSpPr/>
          <p:nvPr/>
        </p:nvCxnSpPr>
        <p:spPr>
          <a:xfrm>
            <a:off x="3097050" y="722743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0" name="Google Shape;520;p80"/>
          <p:cNvSpPr txBox="1"/>
          <p:nvPr/>
        </p:nvSpPr>
        <p:spPr>
          <a:xfrm>
            <a:off x="487375" y="874925"/>
            <a:ext cx="7984500" cy="38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Compute step-by-step: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Opportunities = Leads × Opportunity rate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Closed deals = Opportunities × Close rate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Revenue = Closed deals × Deal value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Profit = Revenue − (Marketing cost + Operational cost)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CAC = Marketing cost ÷ Closed deals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Output must follow exact format: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REVENUE=____ PROFIT=____ CAC=____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81"/>
          <p:cNvSpPr txBox="1"/>
          <p:nvPr/>
        </p:nvSpPr>
        <p:spPr>
          <a:xfrm>
            <a:off x="441450" y="11875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TASK 1 ANSWER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VALIDATION NUMBERS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26" name="Google Shape;526;p81"/>
          <p:cNvCxnSpPr/>
          <p:nvPr/>
        </p:nvCxnSpPr>
        <p:spPr>
          <a:xfrm>
            <a:off x="3097050" y="722743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" name="Google Shape;527;p81"/>
          <p:cNvSpPr txBox="1"/>
          <p:nvPr/>
        </p:nvSpPr>
        <p:spPr>
          <a:xfrm>
            <a:off x="579750" y="1033850"/>
            <a:ext cx="7984500" cy="38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Opportunities = 200 × 0.30 = 60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Closed deals = 60 × 0.20 = 12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Revenue = 12 × 2000 = 24000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Profit = 24000 − (6000 + 9000) = 9000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CAC = 6000 ÷ 12 = 500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Expected output: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REVENUE=24000 PROFIT=9000 CAC=500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82"/>
          <p:cNvSpPr txBox="1"/>
          <p:nvPr/>
        </p:nvSpPr>
        <p:spPr>
          <a:xfrm>
            <a:off x="441450" y="11875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TASK 2 RULES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FROM KPI TO DECISION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33" name="Google Shape;533;p82"/>
          <p:cNvCxnSpPr/>
          <p:nvPr/>
        </p:nvCxnSpPr>
        <p:spPr>
          <a:xfrm>
            <a:off x="3097050" y="722743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4" name="Google Shape;534;p82"/>
          <p:cNvSpPr txBox="1"/>
          <p:nvPr/>
        </p:nvSpPr>
        <p:spPr>
          <a:xfrm>
            <a:off x="579750" y="965350"/>
            <a:ext cx="7984500" cy="39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Using Task 1 output, print exactly one decision: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Rules: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If PROFIT &lt; 0 → CUT COSTS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Else if CAC &gt; 700 → IMPROVE CONVERSION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Else → SCALE MARKETING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This simulates how dashboards lead to actions.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83"/>
          <p:cNvSpPr txBox="1"/>
          <p:nvPr/>
        </p:nvSpPr>
        <p:spPr>
          <a:xfrm>
            <a:off x="441450" y="118750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TASK 2 ANSWER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ONE CORRECT DECISION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40" name="Google Shape;540;p83"/>
          <p:cNvCxnSpPr/>
          <p:nvPr/>
        </p:nvCxnSpPr>
        <p:spPr>
          <a:xfrm>
            <a:off x="3097050" y="722743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1" name="Google Shape;541;p83"/>
          <p:cNvSpPr txBox="1"/>
          <p:nvPr/>
        </p:nvSpPr>
        <p:spPr>
          <a:xfrm>
            <a:off x="579750" y="1048725"/>
            <a:ext cx="7984500" cy="3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From Task 1: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PROFIT = 9000 (positive)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CAC = 500 (not high)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So decision must be: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SCALE MARKETING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One correct output = easy grading.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84"/>
          <p:cNvSpPr txBox="1"/>
          <p:nvPr/>
        </p:nvSpPr>
        <p:spPr>
          <a:xfrm>
            <a:off x="441450" y="279475"/>
            <a:ext cx="8261100" cy="45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NEXT WEEK PREVIEW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PRACTICE DASHBOARD DESIGN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</a:rPr>
              <a:t>How to …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</a:t>
            </a:r>
            <a:r>
              <a:rPr lang="en" sz="1900">
                <a:solidFill>
                  <a:schemeClr val="lt1"/>
                </a:solidFill>
              </a:rPr>
              <a:t>hoose KPIs for a role (Sales / Operations / Finance)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</a:t>
            </a:r>
            <a:r>
              <a:rPr lang="en" sz="1900">
                <a:solidFill>
                  <a:schemeClr val="lt1"/>
                </a:solidFill>
              </a:rPr>
              <a:t>et thresholds and actions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P</a:t>
            </a:r>
            <a:r>
              <a:rPr lang="en" sz="1900">
                <a:solidFill>
                  <a:schemeClr val="lt1"/>
                </a:solidFill>
              </a:rPr>
              <a:t>revent “multiple truths” with a KPI definition table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B</a:t>
            </a:r>
            <a:r>
              <a:rPr lang="en" sz="1900">
                <a:solidFill>
                  <a:schemeClr val="lt1"/>
                </a:solidFill>
              </a:rPr>
              <a:t>uild a small dashboard model (even on paper) before any software</a:t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47" name="Google Shape;547;p84"/>
          <p:cNvCxnSpPr/>
          <p:nvPr/>
        </p:nvCxnSpPr>
        <p:spPr>
          <a:xfrm>
            <a:off x="3097050" y="10728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cience Presentation">
  <a:themeElements>
    <a:clrScheme name="Simple Light">
      <a:dk1>
        <a:srgbClr val="005088"/>
      </a:dk1>
      <a:lt1>
        <a:srgbClr val="F3F0DF"/>
      </a:lt1>
      <a:dk2>
        <a:srgbClr val="121212"/>
      </a:dk2>
      <a:lt2>
        <a:srgbClr val="D0E0E3"/>
      </a:lt2>
      <a:accent1>
        <a:srgbClr val="11CAA0"/>
      </a:accent1>
      <a:accent2>
        <a:srgbClr val="6D6D6B"/>
      </a:accent2>
      <a:accent3>
        <a:srgbClr val="FFFFFF"/>
      </a:accent3>
      <a:accent4>
        <a:srgbClr val="656839"/>
      </a:accent4>
      <a:accent5>
        <a:srgbClr val="774936"/>
      </a:accent5>
      <a:accent6>
        <a:srgbClr val="C492B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