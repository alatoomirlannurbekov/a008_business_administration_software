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y="5143500" cx="9144000"/>
  <p:notesSz cx="6858000" cy="9144000"/>
  <p:embeddedFontLst>
    <p:embeddedFont>
      <p:font typeface="DM Sans Medium"/>
      <p:regular r:id="rId53"/>
      <p:bold r:id="rId54"/>
      <p:italic r:id="rId55"/>
      <p:boldItalic r:id="rId56"/>
    </p:embeddedFont>
    <p:embeddedFont>
      <p:font typeface="Caveat"/>
      <p:regular r:id="rId57"/>
      <p:bold r:id="rId58"/>
    </p:embeddedFont>
    <p:embeddedFont>
      <p:font typeface="Montserrat"/>
      <p:regular r:id="rId59"/>
      <p:bold r:id="rId60"/>
      <p:italic r:id="rId61"/>
      <p:boldItalic r:id="rId62"/>
    </p:embeddedFont>
    <p:embeddedFont>
      <p:font typeface="Merriweather"/>
      <p:regular r:id="rId63"/>
      <p:bold r:id="rId64"/>
      <p:italic r:id="rId65"/>
      <p:boldItalic r:id="rId66"/>
    </p:embeddedFont>
    <p:embeddedFont>
      <p:font typeface="DM Sans"/>
      <p:regular r:id="rId67"/>
      <p:bold r:id="rId68"/>
      <p:italic r:id="rId69"/>
      <p:boldItalic r:id="rId70"/>
    </p:embeddedFont>
    <p:embeddedFont>
      <p:font typeface="Open Sans Light"/>
      <p:regular r:id="rId71"/>
      <p:bold r:id="rId72"/>
      <p:italic r:id="rId73"/>
      <p:boldItalic r:id="rId74"/>
    </p:embeddedFont>
    <p:embeddedFont>
      <p:font typeface="Open Sans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CA9566-8E32-47FF-A0F8-638F1794F773}">
  <a:tblStyle styleId="{CECA9566-8E32-47FF-A0F8-638F1794F7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OpenSansLight-italic.fntdata"/><Relationship Id="rId72" Type="http://schemas.openxmlformats.org/officeDocument/2006/relationships/font" Target="fonts/OpenSansLight-bold.fntdata"/><Relationship Id="rId31" Type="http://schemas.openxmlformats.org/officeDocument/2006/relationships/slide" Target="slides/slide24.xml"/><Relationship Id="rId75" Type="http://schemas.openxmlformats.org/officeDocument/2006/relationships/font" Target="fonts/OpenSans-regular.fntdata"/><Relationship Id="rId30" Type="http://schemas.openxmlformats.org/officeDocument/2006/relationships/slide" Target="slides/slide23.xml"/><Relationship Id="rId74" Type="http://schemas.openxmlformats.org/officeDocument/2006/relationships/font" Target="fonts/OpenSansLight-boldItalic.fntdata"/><Relationship Id="rId33" Type="http://schemas.openxmlformats.org/officeDocument/2006/relationships/slide" Target="slides/slide26.xml"/><Relationship Id="rId77" Type="http://schemas.openxmlformats.org/officeDocument/2006/relationships/font" Target="fonts/OpenSans-italic.fntdata"/><Relationship Id="rId32" Type="http://schemas.openxmlformats.org/officeDocument/2006/relationships/slide" Target="slides/slide25.xml"/><Relationship Id="rId76" Type="http://schemas.openxmlformats.org/officeDocument/2006/relationships/font" Target="fonts/OpenSans-bold.fntdata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8" Type="http://schemas.openxmlformats.org/officeDocument/2006/relationships/font" Target="fonts/OpenSans-boldItalic.fntdata"/><Relationship Id="rId71" Type="http://schemas.openxmlformats.org/officeDocument/2006/relationships/font" Target="fonts/OpenSansLight-regular.fntdata"/><Relationship Id="rId70" Type="http://schemas.openxmlformats.org/officeDocument/2006/relationships/font" Target="fonts/DMSans-bold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slide" Target="slides/slide13.xml"/><Relationship Id="rId64" Type="http://schemas.openxmlformats.org/officeDocument/2006/relationships/font" Target="fonts/Merriweather-bold.fntdata"/><Relationship Id="rId63" Type="http://schemas.openxmlformats.org/officeDocument/2006/relationships/font" Target="fonts/Merriweather-regular.fntdata"/><Relationship Id="rId22" Type="http://schemas.openxmlformats.org/officeDocument/2006/relationships/slide" Target="slides/slide15.xml"/><Relationship Id="rId66" Type="http://schemas.openxmlformats.org/officeDocument/2006/relationships/font" Target="fonts/Merriweather-boldItalic.fntdata"/><Relationship Id="rId21" Type="http://schemas.openxmlformats.org/officeDocument/2006/relationships/slide" Target="slides/slide14.xml"/><Relationship Id="rId65" Type="http://schemas.openxmlformats.org/officeDocument/2006/relationships/font" Target="fonts/Merriweather-italic.fntdata"/><Relationship Id="rId24" Type="http://schemas.openxmlformats.org/officeDocument/2006/relationships/slide" Target="slides/slide17.xml"/><Relationship Id="rId68" Type="http://schemas.openxmlformats.org/officeDocument/2006/relationships/font" Target="fonts/DMSans-bold.fntdata"/><Relationship Id="rId23" Type="http://schemas.openxmlformats.org/officeDocument/2006/relationships/slide" Target="slides/slide16.xml"/><Relationship Id="rId67" Type="http://schemas.openxmlformats.org/officeDocument/2006/relationships/font" Target="fonts/DMSans-regular.fntdata"/><Relationship Id="rId60" Type="http://schemas.openxmlformats.org/officeDocument/2006/relationships/font" Target="fonts/Montserrat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DMSans-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font" Target="fonts/DMSansMedium-regular.fntdata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DMSansMedium-italic.fntdata"/><Relationship Id="rId10" Type="http://schemas.openxmlformats.org/officeDocument/2006/relationships/slide" Target="slides/slide3.xml"/><Relationship Id="rId54" Type="http://schemas.openxmlformats.org/officeDocument/2006/relationships/font" Target="fonts/DMSansMedium-bold.fntdata"/><Relationship Id="rId13" Type="http://schemas.openxmlformats.org/officeDocument/2006/relationships/slide" Target="slides/slide6.xml"/><Relationship Id="rId57" Type="http://schemas.openxmlformats.org/officeDocument/2006/relationships/font" Target="fonts/Caveat-regular.fntdata"/><Relationship Id="rId12" Type="http://schemas.openxmlformats.org/officeDocument/2006/relationships/slide" Target="slides/slide5.xml"/><Relationship Id="rId56" Type="http://schemas.openxmlformats.org/officeDocument/2006/relationships/font" Target="fonts/DMSansMedium-boldItalic.fntdata"/><Relationship Id="rId15" Type="http://schemas.openxmlformats.org/officeDocument/2006/relationships/slide" Target="slides/slide8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7.xml"/><Relationship Id="rId58" Type="http://schemas.openxmlformats.org/officeDocument/2006/relationships/font" Target="fonts/Caveat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76a14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476a14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e11693f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e11693f5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6d352fc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6d352fc0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e703e22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ce703e229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e125e432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ce125e4327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e125e432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ce125e432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e125e432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ce125e4327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e125e432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ce125e4327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e125e432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ce125e4327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e125e432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ce125e432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e125e432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ce125e4327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e125e432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ce125e432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e125e432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ce125e432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ce125e43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ce125e432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e703e229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ce703e229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e125e432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ce125e432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e125e432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ce125e4327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ce125e432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ce125e4327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e125e432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ce125e4327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e125e43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ce125e432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e125e432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ce125e4327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ce125e432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ce125e4327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ce125e432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ce125e4327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e125e432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ce125e4327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e125e4327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ce125e4327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e125e432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ce125e4327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e125e4327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ce125e4327_0_2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e125e432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ce125e4327_0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e125e4327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ce125e4327_0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ce125e4327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ce125e4327_0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e703e229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ce703e2290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e125e432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ce125e4327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ce125e4327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ce125e4327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e125e432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ce125e4327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e125e4327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ce125e4327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e125e4327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ce125e4327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e125e4327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ce125e4327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ce125e432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ce125e4327_0_2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ce125e432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ce125e4327_0_2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ce125e4327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ce125e4327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e125e4327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ce125e4327_0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ce125e4327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ce125e4327_0_3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ce125e4327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ce125e4327_0_3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ce125e4327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ce125e4327_0_3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e11693f5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be11693f55_0_4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284400" y="2325500"/>
            <a:ext cx="85752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BUSINESS ADMINISTRATION 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SOFTWARE</a:t>
            </a:r>
            <a:endParaRPr sz="3800">
              <a:solidFill>
                <a:srgbClr val="99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44" title="College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238" y="304225"/>
            <a:ext cx="1249524" cy="12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514600" y="1613596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ALA-TOO INTERNATIONAL UNIVERSITY</a:t>
            </a:r>
            <a:endParaRPr/>
          </a:p>
        </p:txBody>
      </p:sp>
      <p:cxnSp>
        <p:nvCxnSpPr>
          <p:cNvPr id="265" name="Google Shape;265;p44"/>
          <p:cNvCxnSpPr/>
          <p:nvPr/>
        </p:nvCxnSpPr>
        <p:spPr>
          <a:xfrm flipH="1" rot="10800000">
            <a:off x="2336050" y="2115500"/>
            <a:ext cx="46122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4"/>
          <p:cNvCxnSpPr/>
          <p:nvPr/>
        </p:nvCxnSpPr>
        <p:spPr>
          <a:xfrm>
            <a:off x="2994450" y="3630105"/>
            <a:ext cx="3155100" cy="8100"/>
          </a:xfrm>
          <a:prstGeom prst="straightConnector1">
            <a:avLst/>
          </a:prstGeom>
          <a:noFill/>
          <a:ln cap="flat" cmpd="sng" w="38100">
            <a:solidFill>
              <a:srgbClr val="A700F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4"/>
          <p:cNvSpPr txBox="1"/>
          <p:nvPr/>
        </p:nvSpPr>
        <p:spPr>
          <a:xfrm>
            <a:off x="3175300" y="3925408"/>
            <a:ext cx="29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Spring Semeste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155100" y="1294175"/>
            <a:ext cx="8833800" cy="24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The goal is to turn data into information, and information into insight.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— </a:t>
            </a: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Carly Fiorina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388950" y="799700"/>
            <a:ext cx="8366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320040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***</a:t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TODAY’S STRUCTURE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TWO CONNECTED PARTS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9" name="Google Shape;279;p46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46"/>
          <p:cNvSpPr txBox="1"/>
          <p:nvPr/>
        </p:nvSpPr>
        <p:spPr>
          <a:xfrm>
            <a:off x="579750" y="1390050"/>
            <a:ext cx="7984500" cy="27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</a:rPr>
              <a:t>PART 1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-34925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Choosing KPIs for different roles</a:t>
            </a:r>
            <a:endParaRPr sz="1900">
              <a:solidFill>
                <a:schemeClr val="lt1"/>
              </a:solidFill>
            </a:endParaRPr>
          </a:p>
          <a:p>
            <a:pPr indent="-34925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Setting thresholds and linked actions</a:t>
            </a:r>
            <a:endParaRPr sz="1900">
              <a:solidFill>
                <a:schemeClr val="lt1"/>
              </a:solidFill>
            </a:endParaRPr>
          </a:p>
          <a:p>
            <a:pPr indent="-34925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Preventing “multiple truths” through KPI definition tables</a:t>
            </a:r>
            <a:endParaRPr sz="1900">
              <a:solidFill>
                <a:schemeClr val="lt1"/>
              </a:solidFill>
            </a:endParaRPr>
          </a:p>
          <a:p>
            <a:pPr indent="-34925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Designing a small dashboard model before touching software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TODAY’S STRUCTURE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TWO CONNECTED PARTS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6" name="Google Shape;286;p47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47"/>
          <p:cNvSpPr txBox="1"/>
          <p:nvPr/>
        </p:nvSpPr>
        <p:spPr>
          <a:xfrm>
            <a:off x="579750" y="1088875"/>
            <a:ext cx="79845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</a:rPr>
              <a:t>PART 2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-34925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What is the 1C:Enterprise ?</a:t>
            </a:r>
            <a:endParaRPr sz="1900">
              <a:solidFill>
                <a:schemeClr val="lt1"/>
              </a:solidFill>
            </a:endParaRPr>
          </a:p>
          <a:p>
            <a:pPr indent="-34925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How the system is structured?</a:t>
            </a:r>
            <a:endParaRPr sz="1900">
              <a:solidFill>
                <a:schemeClr val="lt1"/>
              </a:solidFill>
            </a:endParaRPr>
          </a:p>
          <a:p>
            <a:pPr indent="-34925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How users interact with it?</a:t>
            </a:r>
            <a:endParaRPr sz="1900">
              <a:solidFill>
                <a:schemeClr val="lt1"/>
              </a:solidFill>
            </a:endParaRPr>
          </a:p>
          <a:p>
            <a:pPr indent="-34925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How IT world should understand it professionally?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THIS MATTERS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SOFTWARE MUST SUPPORT DECISIONS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3" name="Google Shape;293;p48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8"/>
          <p:cNvSpPr txBox="1"/>
          <p:nvPr/>
        </p:nvSpPr>
        <p:spPr>
          <a:xfrm>
            <a:off x="579750" y="98892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Business software does not create value simply by storing data.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Its real value appears when that data becomes usable for control, comparison, evaluation, and action.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 example:</a:t>
            </a:r>
            <a:endParaRPr sz="1900">
              <a:solidFill>
                <a:schemeClr val="lt1"/>
              </a:solidFill>
            </a:endParaRPr>
          </a:p>
          <a:p>
            <a:pPr indent="-3492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a delivery record becomes a fulfillment KPI</a:t>
            </a:r>
            <a:endParaRPr sz="1900">
              <a:solidFill>
                <a:schemeClr val="lt1"/>
              </a:solidFill>
            </a:endParaRPr>
          </a:p>
          <a:p>
            <a:pPr indent="-3492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a sales record becomes revenue analysis</a:t>
            </a:r>
            <a:endParaRPr sz="1900">
              <a:solidFill>
                <a:schemeClr val="lt1"/>
              </a:solidFill>
            </a:endParaRPr>
          </a:p>
          <a:p>
            <a:pPr indent="-3492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an invoice becomes part of margin reporting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That is why KPI design and dashboard logic matter.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SCHOOL REPORT CARD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0" name="Google Shape;300;p49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49"/>
          <p:cNvSpPr txBox="1"/>
          <p:nvPr/>
        </p:nvSpPr>
        <p:spPr>
          <a:xfrm>
            <a:off x="579750" y="1080300"/>
            <a:ext cx="79845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Think about a student report card. Teachers do not record every classroom action on the final report. Instead they summarize performance using selected indicators like: exam score, attendance, homework completion and final grade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dashboard works the same way.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does not display every transaction. It displays the indicators that help someone judge performance and decide what to do next.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WE ARE REALLY DOING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DESIGNING CONTROL SIGNALS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7" name="Google Shape;307;p50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50"/>
          <p:cNvSpPr txBox="1"/>
          <p:nvPr/>
        </p:nvSpPr>
        <p:spPr>
          <a:xfrm>
            <a:off x="579750" y="127670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A KPI is not just a number.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is a signal that tells management whether performance is acceptable or risky.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A dashboard is not just a chart.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is a structured view of performance designed to support decisions.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09" name="Google Shape;30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0950" y="1977575"/>
            <a:ext cx="1742100" cy="174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ROLE-BASED KPIS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DIFFERENT ROLES, DIFFERENT CONTROL NEEDS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5" name="Google Shape;315;p51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51"/>
          <p:cNvSpPr txBox="1"/>
          <p:nvPr/>
        </p:nvSpPr>
        <p:spPr>
          <a:xfrm>
            <a:off x="441450" y="1008275"/>
            <a:ext cx="84444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Different roles require different KPIs and supporting metrics because different roles make different decisions.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sales manager usually cares about: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lead conversion</a:t>
            </a:r>
            <a:r>
              <a:rPr lang="en" sz="1900">
                <a:solidFill>
                  <a:schemeClr val="lt1"/>
                </a:solidFill>
              </a:rPr>
              <a:t> (percentage of leads that become qualified sales opportunities or customers)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pipeline value </a:t>
            </a:r>
            <a:r>
              <a:rPr lang="en" sz="1900">
                <a:solidFill>
                  <a:schemeClr val="lt1"/>
                </a:solidFill>
              </a:rPr>
              <a:t>(total estimated value of all active deals in the sales pipeline)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closed deals </a:t>
            </a:r>
            <a:r>
              <a:rPr lang="en" sz="1900">
                <a:solidFill>
                  <a:schemeClr val="lt1"/>
                </a:solidFill>
              </a:rPr>
              <a:t>(number of deals successfully completed and won)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ROLE-BASED KPIS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DIFFERENT ROLES, DIFFERENT CONTROL NEEDS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2" name="Google Shape;322;p52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52"/>
          <p:cNvSpPr txBox="1"/>
          <p:nvPr/>
        </p:nvSpPr>
        <p:spPr>
          <a:xfrm>
            <a:off x="718050" y="908600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 operations manager usually cares about: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fulfillment time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stock shortages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delivery delays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finance manager usually cares about: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margin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expenses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cash flow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Good KPI design always starts with the role.</a:t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HOW TO CHOOSE KPIS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START WITH DECISIONS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9" name="Google Shape;329;p53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53"/>
          <p:cNvSpPr txBox="1"/>
          <p:nvPr/>
        </p:nvSpPr>
        <p:spPr>
          <a:xfrm>
            <a:off x="637175" y="100040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correct question is </a:t>
            </a:r>
            <a:r>
              <a:rPr b="1" lang="en" sz="1900">
                <a:solidFill>
                  <a:schemeClr val="lt1"/>
                </a:solidFill>
              </a:rPr>
              <a:t>NOT</a:t>
            </a:r>
            <a:r>
              <a:rPr lang="en" sz="1900">
                <a:solidFill>
                  <a:schemeClr val="lt1"/>
                </a:solidFill>
              </a:rPr>
              <a:t>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“What numbers do we already have?”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correct question is: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“What decisions does this person need to make?”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That is how KPIs should be chosen.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a number does not support a decision, it should probably not be on the dashboard.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dashboard must reduce noise, not increase it.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SALES ROLE EXAMPLE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SALES NEEDS TO SEE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6" name="Google Shape;336;p54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54"/>
          <p:cNvSpPr txBox="1"/>
          <p:nvPr/>
        </p:nvSpPr>
        <p:spPr>
          <a:xfrm>
            <a:off x="718050" y="908575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 a sales role, useful KPIs may include: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conversion rate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average deal value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pipeline velocity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number of qualified opportunities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These indicators help answer: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Is the sales funnel healthy?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Are deals moving fast enough?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Is future revenue becoming stronger or weaker?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why sales dashboards must focus on demand and movement, not only final revenue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OPERATIONS ROLE EXAMPLE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OPERATIONS NEEDS TO SEE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3" name="Google Shape;343;p55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55"/>
          <p:cNvSpPr txBox="1"/>
          <p:nvPr/>
        </p:nvSpPr>
        <p:spPr>
          <a:xfrm>
            <a:off x="660100" y="931525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 an operations role useful KPIs may include: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fulfillment time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late shipment percentage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stockout frequency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inventory turnover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These indicators help answer: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Are orders being completed on time?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Is stock being managed efficiently?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Are operational delays increasing costs or damaging service quality?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Operations dashboards must focus on flow, reliability, and speed.</a:t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6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FINANCE ROLE EXAMPLE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FINANCE NEEDS TO SEE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0" name="Google Shape;350;p56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56"/>
          <p:cNvSpPr txBox="1"/>
          <p:nvPr/>
        </p:nvSpPr>
        <p:spPr>
          <a:xfrm>
            <a:off x="579750" y="862625"/>
            <a:ext cx="7984500" cy="4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 a finance role useful KPIs may include: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gross profit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net income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expense trend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cash collected vs invoiced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These indicators help answer: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Is the business </a:t>
            </a:r>
            <a:r>
              <a:rPr lang="en" sz="1900">
                <a:solidFill>
                  <a:schemeClr val="lt1"/>
                </a:solidFill>
              </a:rPr>
              <a:t>really</a:t>
            </a:r>
            <a:r>
              <a:rPr lang="en" sz="1900">
                <a:solidFill>
                  <a:schemeClr val="lt1"/>
                </a:solidFill>
              </a:rPr>
              <a:t> profitable?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Are costs growing too quickly?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Is recorded revenue becoming real cash?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Finance dashboards must focus on truth, not optimism.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7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SAME SYSTEM BUT DIFFERENT VIEWS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7" name="Google Shape;357;p57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57"/>
          <p:cNvSpPr txBox="1"/>
          <p:nvPr/>
        </p:nvSpPr>
        <p:spPr>
          <a:xfrm>
            <a:off x="579750" y="931525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 games, different players see different information:</a:t>
            </a:r>
            <a:endParaRPr sz="1900">
              <a:solidFill>
                <a:schemeClr val="lt1"/>
              </a:solidFill>
            </a:endParaRPr>
          </a:p>
          <a:p>
            <a:pPr indent="-3492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a driver watches speed and fuel</a:t>
            </a:r>
            <a:endParaRPr sz="1900">
              <a:solidFill>
                <a:schemeClr val="lt1"/>
              </a:solidFill>
            </a:endParaRPr>
          </a:p>
          <a:p>
            <a:pPr indent="-3492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a sniper watches distance and target position</a:t>
            </a:r>
            <a:endParaRPr sz="1900">
              <a:solidFill>
                <a:schemeClr val="lt1"/>
              </a:solidFill>
            </a:endParaRPr>
          </a:p>
          <a:p>
            <a:pPr indent="-3492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a team leader watches map control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system is the same, but the indicators differ by role.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59" name="Google Shape;35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3000" y="2521002"/>
            <a:ext cx="3458000" cy="192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1600" y="2334725"/>
            <a:ext cx="857749" cy="85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SAME SYSTEM BUT DIFFERENT VIEWS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6" name="Google Shape;366;p58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58"/>
          <p:cNvSpPr txBox="1"/>
          <p:nvPr/>
        </p:nvSpPr>
        <p:spPr>
          <a:xfrm>
            <a:off x="579750" y="934050"/>
            <a:ext cx="79845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 work the same way.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One business can have multiple valid views, but each view must match a clear responsibility.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68" name="Google Shape;36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275" y="2395775"/>
            <a:ext cx="4363453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9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SELECTION RULE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FEWER BUT STRONGER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4" name="Google Shape;374;p59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59"/>
          <p:cNvSpPr txBox="1"/>
          <p:nvPr/>
        </p:nvSpPr>
        <p:spPr>
          <a:xfrm>
            <a:off x="579750" y="954950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dashboard with too many numbers usually means that nobody made a real decision about what matters.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good dashboard does not try to impress.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tries to support action.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 example: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4 to 6 strong indicators are often enough for one role cuz 20 mixed indicators usually create confusion.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Better to have a small dashboard with clear meaning than a crowded dashboard with no priority.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0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KPI TO ACTION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THRESHOLDS EXIST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1" name="Google Shape;381;p60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60"/>
          <p:cNvSpPr txBox="1"/>
          <p:nvPr/>
        </p:nvSpPr>
        <p:spPr>
          <a:xfrm>
            <a:off x="579750" y="815100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KPI becomes useful only when it has a threshold or limit.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conversion rate above 20% = healthy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10% to 20% = warning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below 10% = critical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Without thresholds, a dashboard only shows numbers.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With thresholds, it shows what the numbers mean.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That is how measurement becomes control.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1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SETTING THRESHOLDS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GOOD, WARNING, CRITICAL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8" name="Google Shape;388;p61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61"/>
          <p:cNvSpPr txBox="1"/>
          <p:nvPr/>
        </p:nvSpPr>
        <p:spPr>
          <a:xfrm>
            <a:off x="579750" y="102702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Thresholds usually separate performance into levels such as: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Good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Warning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Critical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matters because managers do not only want to know the value.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They want to know whether the situation is acceptable, unstable, or dangerous.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Thresholds should be based on business reality, historical performance, or target expectations, not on random guesses.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SETTING ACTIONS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HAPPENS AFTER THE KPI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5" name="Google Shape;395;p62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62"/>
          <p:cNvSpPr txBox="1"/>
          <p:nvPr/>
        </p:nvSpPr>
        <p:spPr>
          <a:xfrm>
            <a:off x="579750" y="1023375"/>
            <a:ext cx="7984500" cy="4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Every important KPI should be linked to a clear action.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low conversion → review sales qualification process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high stock aging → reduce purchasing or improve demand forecasting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rising expenses → investigate cost drivers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delayed deliveries → review logistics workflow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A KPI without action is just observation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A KPI with action becomes a management tool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3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TEMPERATURE WARNING MODEL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2" name="Google Shape;402;p63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63"/>
          <p:cNvSpPr txBox="1"/>
          <p:nvPr/>
        </p:nvSpPr>
        <p:spPr>
          <a:xfrm>
            <a:off x="579750" y="954475"/>
            <a:ext cx="79845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thermometer is useful because it does more than show a number.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temperature is normal → continue monitoring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temperature rises too high → take action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KPIs work in the same way: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normal range → monitor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warning range → investigate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critical range → intervene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why thresholds and actions belong together.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404" name="Google Shape;4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75" y="1878300"/>
            <a:ext cx="2021275" cy="202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4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MULTIPLE TRUTHS PROBLEM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WHEN DEPARTMENTS DISAGREE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0" name="Google Shape;410;p64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64"/>
          <p:cNvSpPr txBox="1"/>
          <p:nvPr/>
        </p:nvSpPr>
        <p:spPr>
          <a:xfrm>
            <a:off x="579750" y="111522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One of the most common enterprise reporting problems is this: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sales dashboard shows one revenue number.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finance dashboard shows another.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Why?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Because the same business word is being measured in different ways.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creates confusion, arguments, and loss of trust in the dashboard itself.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5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MULTIPLE TRUTHS HAPPEN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DIFFERENT RULES, SAME WORD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7" name="Google Shape;417;p65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65"/>
          <p:cNvSpPr txBox="1"/>
          <p:nvPr/>
        </p:nvSpPr>
        <p:spPr>
          <a:xfrm>
            <a:off x="637175" y="95495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 may define revenue as </a:t>
            </a:r>
            <a:r>
              <a:rPr b="1" lang="en" sz="1900">
                <a:solidFill>
                  <a:srgbClr val="00FF00"/>
                </a:solidFill>
              </a:rPr>
              <a:t>closed deals in CRM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Finance may define </a:t>
            </a:r>
            <a:r>
              <a:rPr b="1" lang="en" sz="1900">
                <a:solidFill>
                  <a:srgbClr val="00FF00"/>
                </a:solidFill>
              </a:rPr>
              <a:t>revenue</a:t>
            </a:r>
            <a:r>
              <a:rPr lang="en" sz="1900">
                <a:solidFill>
                  <a:schemeClr val="lt1"/>
                </a:solidFill>
              </a:rPr>
              <a:t> as </a:t>
            </a:r>
            <a:r>
              <a:rPr b="1" lang="en" sz="1900">
                <a:solidFill>
                  <a:srgbClr val="00FF00"/>
                </a:solidFill>
              </a:rPr>
              <a:t>invoices issued </a:t>
            </a:r>
            <a:r>
              <a:rPr lang="en" sz="1900">
                <a:solidFill>
                  <a:schemeClr val="lt1"/>
                </a:solidFill>
              </a:rPr>
              <a:t>or </a:t>
            </a:r>
            <a:r>
              <a:rPr b="1" lang="en" sz="1900">
                <a:solidFill>
                  <a:srgbClr val="00FF00"/>
                </a:solidFill>
              </a:rPr>
              <a:t>cash received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Both use the word </a:t>
            </a:r>
            <a:r>
              <a:rPr b="1" lang="en" sz="1900">
                <a:solidFill>
                  <a:srgbClr val="00FF00"/>
                </a:solidFill>
              </a:rPr>
              <a:t>revenue</a:t>
            </a:r>
            <a:r>
              <a:rPr lang="en" sz="1900">
                <a:solidFill>
                  <a:schemeClr val="lt1"/>
                </a:solidFill>
              </a:rPr>
              <a:t>, but they are not calculating the same thing.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This is why metric definitions matter.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Without standard definitions, dashboards become inconsistent even when the software works correctly.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6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DEFINITION TABLE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PREVENTING CONFUSION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4" name="Google Shape;424;p66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66"/>
          <p:cNvSpPr txBox="1"/>
          <p:nvPr/>
        </p:nvSpPr>
        <p:spPr>
          <a:xfrm>
            <a:off x="320700" y="840500"/>
            <a:ext cx="85026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KPI definition table is a simple but powerful control tool.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 each KPI, it defines:</a:t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b="1" lang="en" sz="1900">
                <a:solidFill>
                  <a:schemeClr val="lt1"/>
                </a:solidFill>
              </a:rPr>
              <a:t>KPI name</a:t>
            </a:r>
            <a:endParaRPr b="1"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b="1" lang="en" sz="1900">
                <a:solidFill>
                  <a:schemeClr val="lt1"/>
                </a:solidFill>
              </a:rPr>
              <a:t>business purpose</a:t>
            </a:r>
            <a:endParaRPr b="1"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b="1" lang="en" sz="1900">
                <a:solidFill>
                  <a:schemeClr val="lt1"/>
                </a:solidFill>
              </a:rPr>
              <a:t>formula</a:t>
            </a:r>
            <a:endParaRPr b="1"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b="1" lang="en" sz="1900">
                <a:solidFill>
                  <a:schemeClr val="lt1"/>
                </a:solidFill>
              </a:rPr>
              <a:t>data source</a:t>
            </a:r>
            <a:endParaRPr b="1"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b="1" lang="en" sz="1900">
                <a:solidFill>
                  <a:schemeClr val="lt1"/>
                </a:solidFill>
              </a:rPr>
              <a:t>owner</a:t>
            </a:r>
            <a:endParaRPr b="1"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b="1" lang="en" sz="1900">
                <a:solidFill>
                  <a:schemeClr val="lt1"/>
                </a:solidFill>
              </a:rPr>
              <a:t>threshold</a:t>
            </a:r>
            <a:endParaRPr b="1"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b="1" lang="en" sz="1900">
                <a:solidFill>
                  <a:schemeClr val="lt1"/>
                </a:solidFill>
              </a:rPr>
              <a:t>action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		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how organizations prevent “multiple truths” and maintain one version of reporting logic.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7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DEFINITION TABLES MATTER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ONE VERSION OF TRUTH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1" name="Google Shape;431;p67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67"/>
          <p:cNvSpPr txBox="1"/>
          <p:nvPr/>
        </p:nvSpPr>
        <p:spPr>
          <a:xfrm>
            <a:off x="391675" y="890175"/>
            <a:ext cx="84300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definition table makes dashboards more reliable because it answers the hidden questions: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exactly are we measuring?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How is it calculated?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Which system provides the data?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Who is responsible for it?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happens when it fails?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Without these answers, different teams will create different numbers and call them the same KPI.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8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 KPI TABLE ENTRY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REVENUE AS A CONTROLLED INDICATOR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8" name="Google Shape;438;p68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68"/>
          <p:cNvSpPr txBox="1"/>
          <p:nvPr/>
        </p:nvSpPr>
        <p:spPr>
          <a:xfrm>
            <a:off x="718050" y="4392025"/>
            <a:ext cx="7984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turns a vague business word into a controlled and traceable indicator</a:t>
            </a:r>
            <a:endParaRPr sz="1900">
              <a:solidFill>
                <a:schemeClr val="lt1"/>
              </a:solidFill>
            </a:endParaRPr>
          </a:p>
        </p:txBody>
      </p:sp>
      <p:graphicFrame>
        <p:nvGraphicFramePr>
          <p:cNvPr id="440" name="Google Shape;440;p68"/>
          <p:cNvGraphicFramePr/>
          <p:nvPr/>
        </p:nvGraphicFramePr>
        <p:xfrm>
          <a:off x="904425" y="91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{CECA9566-8E32-47FF-A0F8-638F1794F773}</a:tableStyleId>
              </a:tblPr>
              <a:tblGrid>
                <a:gridCol w="2017175"/>
                <a:gridCol w="559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KPI name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Revenue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Purpose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monitor financial performance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Formula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total invoiced amount for the reporting period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Data source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accounting / ERP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Owner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finance manager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Threshold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below target = investigate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Action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</a:rPr>
                        <a:t>review billing, collections, or sales mix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PAPER DASHBOARD MODEL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THE LOGIC BEFORE SOFTWARE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6" name="Google Shape;446;p69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69"/>
          <p:cNvSpPr txBox="1"/>
          <p:nvPr/>
        </p:nvSpPr>
        <p:spPr>
          <a:xfrm>
            <a:off x="579750" y="90932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Before using Power BI, Excel, or any dashboard tool, it is often better to model the dashboard on paper first.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Why?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Because software can make a bad idea look impressive.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paper model forces clarity before design.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answers: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is the role?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are the most important KPIs?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actions should be triggered?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0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PAPER FIRST WORKS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THINKING BEFORE BUILDING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53" name="Google Shape;453;p70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70"/>
          <p:cNvSpPr txBox="1"/>
          <p:nvPr/>
        </p:nvSpPr>
        <p:spPr>
          <a:xfrm>
            <a:off x="579750" y="851150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people go into software too early they often focus on: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colors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chart types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layout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decoration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But paper modeling forces focus on: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logic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priorities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definitions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decision value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That is why experienced analysts often design the dashboard concept before touching any tool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1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SMALL DASHBOARD MODEL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SALES EXAMPLE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0" name="Google Shape;460;p71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71"/>
          <p:cNvSpPr txBox="1"/>
          <p:nvPr/>
        </p:nvSpPr>
        <p:spPr>
          <a:xfrm>
            <a:off x="579750" y="88560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basic sales dashboard on paper might include: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Leads this week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Conversion rate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Pipeline value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Revenue vs target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One alert message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That is enough for a first version.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goal is not to show everything. The goal is to help the sales manager decide what needs attention now.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2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SMALL DASHBOARD MODEL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OPERATIONS EXAMPLE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7" name="Google Shape;467;p72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72"/>
          <p:cNvSpPr txBox="1"/>
          <p:nvPr/>
        </p:nvSpPr>
        <p:spPr>
          <a:xfrm>
            <a:off x="579750" y="103910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basic operations dashboard on paper might include: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Late shipment %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Average fulfillment time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Stockout count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Inventory aging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One action alert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makes the dashboard role-specific, practical, and easy to test before software.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dashboard should always feel like a work tool, not a poster.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3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1C:ENTERPRISE INTRODUCTION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THIS SYSTEM MATTERS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4" name="Google Shape;474;p73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73"/>
          <p:cNvSpPr txBox="1"/>
          <p:nvPr/>
        </p:nvSpPr>
        <p:spPr>
          <a:xfrm>
            <a:off x="579750" y="1019875"/>
            <a:ext cx="7984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476" name="Google Shape;47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375" y="1019875"/>
            <a:ext cx="4443250" cy="319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4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1C:ENTERPRISE INTRODUCTION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THIS SYSTEM MATTERS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2" name="Google Shape;482;p74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74"/>
          <p:cNvSpPr txBox="1"/>
          <p:nvPr/>
        </p:nvSpPr>
        <p:spPr>
          <a:xfrm>
            <a:off x="579750" y="101987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1C:Enterprise</a:t>
            </a:r>
            <a:r>
              <a:rPr lang="en" sz="1900">
                <a:solidFill>
                  <a:schemeClr val="lt1"/>
                </a:solidFill>
              </a:rPr>
              <a:t> is widely used for business process and accounting automation, especially in CIS business environments.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is not just an accounting screen. It is a platform used to build and run business applications.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1C is important because it connects: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accounting logic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operational records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ERP-style workflows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reporting and business control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5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1C REALLY 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PLATFORM + CONFIGURATION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9" name="Google Shape;489;p75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75"/>
          <p:cNvSpPr txBox="1"/>
          <p:nvPr/>
        </p:nvSpPr>
        <p:spPr>
          <a:xfrm>
            <a:off x="579750" y="1184100"/>
            <a:ext cx="79845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useful way to understand 1C is this: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platform is the engine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configuration is the business application built on that engine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This means 1C is not a single fixed application.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It is an environment where business logic can be configured for accounting, trade, payroll, inventory, and other business tasks.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6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PHONE OS AND APP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6" name="Google Shape;496;p76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76"/>
          <p:cNvSpPr txBox="1"/>
          <p:nvPr/>
        </p:nvSpPr>
        <p:spPr>
          <a:xfrm>
            <a:off x="579750" y="85115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Think about a smartphone: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Android / iOS = platform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banking app / game / messenger = application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 1C: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1C:Enterprise platform = operating environment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accounting / trade / payroll configuration = business application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1C is more than one screen or one menu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7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VS ENTERPRISE MODE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TWO MAIN WAYS OF WORKING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3" name="Google Shape;503;p77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77"/>
          <p:cNvSpPr txBox="1"/>
          <p:nvPr/>
        </p:nvSpPr>
        <p:spPr>
          <a:xfrm>
            <a:off x="579750" y="1230025"/>
            <a:ext cx="81228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1C distinguishes two main working modes: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Designer mode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1C:Enterprise mode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Designer mode = setup, configuration, administration, development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1C:Enterprise mode = everyday business work by users inside the application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8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WHO USES WHICH MODE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VS IT/ADMIN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0" name="Google Shape;510;p78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78"/>
          <p:cNvSpPr txBox="1"/>
          <p:nvPr/>
        </p:nvSpPr>
        <p:spPr>
          <a:xfrm>
            <a:off x="441450" y="1071950"/>
            <a:ext cx="85194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Typical everyday users work in </a:t>
            </a:r>
            <a:r>
              <a:rPr b="1" lang="en" sz="1900">
                <a:solidFill>
                  <a:srgbClr val="00FF00"/>
                </a:solidFill>
              </a:rPr>
              <a:t>1C Enterprise mode</a:t>
            </a:r>
            <a:r>
              <a:rPr lang="en" sz="1900">
                <a:solidFill>
                  <a:schemeClr val="lt1"/>
                </a:solidFill>
              </a:rPr>
              <a:t>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accountants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managers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clerks or operators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Typical IT / admin / developer work happens in </a:t>
            </a:r>
            <a:r>
              <a:rPr b="1" lang="en" sz="1900">
                <a:solidFill>
                  <a:srgbClr val="00FF00"/>
                </a:solidFill>
              </a:rPr>
              <a:t>Designer mode</a:t>
            </a:r>
            <a:r>
              <a:rPr lang="en" sz="1900">
                <a:solidFill>
                  <a:schemeClr val="lt1"/>
                </a:solidFill>
              </a:rPr>
              <a:t>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adjusting configurations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modifying forms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maintaining system structures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administrative tasks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9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CLIENT OPTIONS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HOW 1C CAN BE USED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7" name="Google Shape;517;p79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79"/>
          <p:cNvSpPr txBox="1"/>
          <p:nvPr/>
        </p:nvSpPr>
        <p:spPr>
          <a:xfrm>
            <a:off x="579750" y="1080300"/>
            <a:ext cx="79845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1C supports multiple client approaches, including: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browser-based web access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installed client applications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file mode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client/server mode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matters because companies can choose simpler or more scalable deployment depending on their size, budget, and workload.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0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FILE MODE VS CLIENT/SERVER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SMALL VS LARGER DEPLOYMENT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24" name="Google Shape;524;p80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80"/>
          <p:cNvSpPr txBox="1"/>
          <p:nvPr/>
        </p:nvSpPr>
        <p:spPr>
          <a:xfrm>
            <a:off x="377725" y="1330100"/>
            <a:ext cx="84684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File mode: smaller, simpler and often suitable for a single user or small setup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Client/server mode: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more scalable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better for heavier workloads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more suitable for larger organizations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1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USERS SEE IN 1C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INTERFACE LOGIC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31" name="Google Shape;531;p81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81"/>
          <p:cNvSpPr txBox="1"/>
          <p:nvPr/>
        </p:nvSpPr>
        <p:spPr>
          <a:xfrm>
            <a:off x="579750" y="106930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beginner should expect the 1C user environment to revolve around: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catalogs / lists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documents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forms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reports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commands / actions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not a random interface.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reflects how business data is entered, stored, processed, and reviewed inside the system.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2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CATALOGS AND DOCUMENTS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MASTER DATA VS BUSINESS EVENTS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38" name="Google Shape;538;p82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82"/>
          <p:cNvSpPr txBox="1"/>
          <p:nvPr/>
        </p:nvSpPr>
        <p:spPr>
          <a:xfrm>
            <a:off x="579750" y="874125"/>
            <a:ext cx="7984500" cy="4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Catalogs store reference information: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customers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products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suppliers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Documents record business events: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purchases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payments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</a:t>
            </a:r>
            <a:r>
              <a:rPr lang="en" sz="1900">
                <a:solidFill>
                  <a:schemeClr val="lt1"/>
                </a:solidFill>
              </a:rPr>
              <a:t>hipments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distinction is essential because most enterprise systems separate </a:t>
            </a:r>
            <a:r>
              <a:rPr b="1" lang="en" sz="1900">
                <a:solidFill>
                  <a:srgbClr val="00FF00"/>
                </a:solidFill>
              </a:rPr>
              <a:t>things that exist</a:t>
            </a:r>
            <a:r>
              <a:rPr lang="en" sz="1900">
                <a:solidFill>
                  <a:schemeClr val="lt1"/>
                </a:solidFill>
              </a:rPr>
              <a:t> from </a:t>
            </a:r>
            <a:r>
              <a:rPr b="1" lang="en" sz="1900">
                <a:solidFill>
                  <a:srgbClr val="00FF00"/>
                </a:solidFill>
              </a:rPr>
              <a:t>things that happened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3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FORMS AND FIELDS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HOW USERS INTERACT WITH DATA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45" name="Google Shape;545;p83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83"/>
          <p:cNvSpPr txBox="1"/>
          <p:nvPr/>
        </p:nvSpPr>
        <p:spPr>
          <a:xfrm>
            <a:off x="579750" y="1276700"/>
            <a:ext cx="79845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 1C forms are where users enter, review, and update business data.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Fields must be completed correctly, because incorrect input leads to incorrect reports and incorrect decisions.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Analogy: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form is like an online application.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the data entered is wrong, the final result is wrong even if the software itself works perfectly.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4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REPORTS IN 1C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RECORDS TO BUSINESS MEANING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52" name="Google Shape;552;p84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84"/>
          <p:cNvSpPr txBox="1"/>
          <p:nvPr/>
        </p:nvSpPr>
        <p:spPr>
          <a:xfrm>
            <a:off x="579750" y="908550"/>
            <a:ext cx="79845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1C supports reporting features such as: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report generation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calculated fields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spreadsheet-style output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charts and summaries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Data entry is not the final goal.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Reports are where business meaning becomes visible.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5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ROLES AND ACCESS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WHO IS ALLOWED TO DO WHAT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59" name="Google Shape;559;p85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" name="Google Shape;560;p85"/>
          <p:cNvSpPr txBox="1"/>
          <p:nvPr/>
        </p:nvSpPr>
        <p:spPr>
          <a:xfrm>
            <a:off x="718050" y="965975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1C training materials emphasize users and roles because enterprise systems must control permissions carefully.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Not every user should be able to: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create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edit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approve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delete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post documents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This is not only a technical issue.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It is also a control, accountability, and risk-management issue.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6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BASIC WORKING RULES IN 1C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HOW TO WORK SAFELY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66" name="Google Shape;566;p86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86"/>
          <p:cNvSpPr txBox="1"/>
          <p:nvPr/>
        </p:nvSpPr>
        <p:spPr>
          <a:xfrm>
            <a:off x="579750" y="988925"/>
            <a:ext cx="79845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Safest working rules are:</a:t>
            </a:r>
            <a:endParaRPr sz="1900">
              <a:solidFill>
                <a:schemeClr val="lt1"/>
              </a:solidFill>
            </a:endParaRPr>
          </a:p>
          <a:p>
            <a:pPr indent="-34925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enter data carefully</a:t>
            </a:r>
            <a:endParaRPr sz="1900">
              <a:solidFill>
                <a:schemeClr val="lt1"/>
              </a:solidFill>
            </a:endParaRPr>
          </a:p>
          <a:p>
            <a:pPr indent="-34925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use the correct document type</a:t>
            </a:r>
            <a:endParaRPr sz="1900">
              <a:solidFill>
                <a:schemeClr val="lt1"/>
              </a:solidFill>
            </a:endParaRPr>
          </a:p>
          <a:p>
            <a:pPr indent="-34925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do not guess unknown fields</a:t>
            </a:r>
            <a:endParaRPr sz="1900">
              <a:solidFill>
                <a:schemeClr val="lt1"/>
              </a:solidFill>
            </a:endParaRPr>
          </a:p>
          <a:p>
            <a:pPr indent="-34925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understand before posting or saving</a:t>
            </a:r>
            <a:endParaRPr sz="1900">
              <a:solidFill>
                <a:schemeClr val="lt1"/>
              </a:solidFill>
            </a:endParaRPr>
          </a:p>
          <a:p>
            <a:pPr indent="-34925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respect user roles and access rights</a:t>
            </a:r>
            <a:endParaRPr sz="1900">
              <a:solidFill>
                <a:schemeClr val="lt1"/>
              </a:solidFill>
            </a:endParaRPr>
          </a:p>
          <a:p>
            <a:pPr indent="-34925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verify reports after entry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These habits matter in every enterprise system, not only in 1C.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87"/>
          <p:cNvSpPr txBox="1"/>
          <p:nvPr/>
        </p:nvSpPr>
        <p:spPr>
          <a:xfrm>
            <a:off x="441450" y="13760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TAKEAWAY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KPIS TO REAL SYSTEM WORK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73" name="Google Shape;573;p87"/>
          <p:cNvCxnSpPr/>
          <p:nvPr/>
        </p:nvCxnSpPr>
        <p:spPr>
          <a:xfrm>
            <a:off x="3097050" y="7514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87"/>
          <p:cNvSpPr txBox="1"/>
          <p:nvPr/>
        </p:nvSpPr>
        <p:spPr>
          <a:xfrm>
            <a:off x="718050" y="2375425"/>
            <a:ext cx="79845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business needs well-designed KPIs and dashboards to avoid weak or misleading decisions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system like 1C:Enterprise matters because it is one of the places where business records are actually created, controlled, and later turned into reports and management indicators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575" name="Google Shape;57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2338" y="811813"/>
            <a:ext cx="1299313" cy="1299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8"/>
          <p:cNvSpPr txBox="1"/>
          <p:nvPr/>
        </p:nvSpPr>
        <p:spPr>
          <a:xfrm>
            <a:off x="441450" y="279475"/>
            <a:ext cx="82611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NEXT WEEK PREVIEW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WHAT’S COMING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1C Enterprise workflow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</a:t>
            </a:r>
            <a:r>
              <a:rPr lang="en" sz="1900">
                <a:solidFill>
                  <a:schemeClr val="lt1"/>
                </a:solidFill>
              </a:rPr>
              <a:t>ccounting entries in system form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81" name="Google Shape;581;p88"/>
          <p:cNvCxnSpPr/>
          <p:nvPr/>
        </p:nvCxnSpPr>
        <p:spPr>
          <a:xfrm>
            <a:off x="3097050" y="10728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